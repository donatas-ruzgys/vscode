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1" r:id="rId4"/>
  </p:sldMasterIdLst>
  <p:notesMasterIdLst>
    <p:notesMasterId r:id="rId52"/>
  </p:notesMasterIdLst>
  <p:sldIdLst>
    <p:sldId id="256" r:id="rId5"/>
    <p:sldId id="257" r:id="rId6"/>
    <p:sldId id="290" r:id="rId7"/>
    <p:sldId id="302" r:id="rId8"/>
    <p:sldId id="303" r:id="rId9"/>
    <p:sldId id="289" r:id="rId10"/>
    <p:sldId id="291" r:id="rId11"/>
    <p:sldId id="292" r:id="rId12"/>
    <p:sldId id="304" r:id="rId13"/>
    <p:sldId id="305" r:id="rId14"/>
    <p:sldId id="306" r:id="rId15"/>
    <p:sldId id="293" r:id="rId16"/>
    <p:sldId id="295" r:id="rId17"/>
    <p:sldId id="28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96" r:id="rId28"/>
    <p:sldId id="297" r:id="rId29"/>
    <p:sldId id="298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88" r:id="rId39"/>
    <p:sldId id="300" r:id="rId40"/>
    <p:sldId id="275" r:id="rId41"/>
    <p:sldId id="276" r:id="rId42"/>
    <p:sldId id="277" r:id="rId43"/>
    <p:sldId id="278" r:id="rId44"/>
    <p:sldId id="301" r:id="rId45"/>
    <p:sldId id="299" r:id="rId46"/>
    <p:sldId id="279" r:id="rId47"/>
    <p:sldId id="280" r:id="rId48"/>
    <p:sldId id="281" r:id="rId49"/>
    <p:sldId id="283" r:id="rId50"/>
    <p:sldId id="284" r:id="rId51"/>
  </p:sldIdLst>
  <p:sldSz cx="12192000" cy="6858000"/>
  <p:notesSz cx="7559675" cy="10691813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4C6279-498C-4F2E-AF32-EA4FE06EABF4}" v="2" dt="2026-01-20T13:00:43.914"/>
    <p1510:client id="{C1F04DC5-A749-3129-F4D1-430C8635747F}" v="2" dt="2026-01-20T16:57:39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3656" autoAdjust="0"/>
  </p:normalViewPr>
  <p:slideViewPr>
    <p:cSldViewPr snapToGrid="0">
      <p:cViewPr>
        <p:scale>
          <a:sx n="100" d="100"/>
          <a:sy n="100" d="100"/>
        </p:scale>
        <p:origin x="960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anas Minkevičius" userId="S::itanas.minkevicius@studentas.bit.lt::50f3dc71-caf7-48f0-bb7f-c420d3486036" providerId="AD" clId="Web-{C1F04DC5-A749-3129-F4D1-430C8635747F}"/>
    <pc:docChg chg="addSld delSld">
      <pc:chgData name="Itanas Minkevičius" userId="S::itanas.minkevicius@studentas.bit.lt::50f3dc71-caf7-48f0-bb7f-c420d3486036" providerId="AD" clId="Web-{C1F04DC5-A749-3129-F4D1-430C8635747F}" dt="2026-01-20T16:57:39.280" v="1"/>
      <pc:docMkLst>
        <pc:docMk/>
      </pc:docMkLst>
      <pc:sldChg chg="new del">
        <pc:chgData name="Itanas Minkevičius" userId="S::itanas.minkevicius@studentas.bit.lt::50f3dc71-caf7-48f0-bb7f-c420d3486036" providerId="AD" clId="Web-{C1F04DC5-A749-3129-F4D1-430C8635747F}" dt="2026-01-20T16:57:39.280" v="1"/>
        <pc:sldMkLst>
          <pc:docMk/>
          <pc:sldMk cId="3570165401" sldId="307"/>
        </pc:sldMkLst>
      </pc:sldChg>
    </pc:docChg>
  </pc:docChgLst>
  <pc:docChgLst>
    <pc:chgData name="Žydrūnė Kelpšaitė" userId="e943768126acec1d" providerId="LiveId" clId="{31712FD7-FA85-48BA-9D35-5382388CFC74}"/>
    <pc:docChg chg="custSel modSld">
      <pc:chgData name="Žydrūnė Kelpšaitė" userId="e943768126acec1d" providerId="LiveId" clId="{31712FD7-FA85-48BA-9D35-5382388CFC74}" dt="2026-01-20T13:35:09.295" v="73" actId="1076"/>
      <pc:docMkLst>
        <pc:docMk/>
      </pc:docMkLst>
      <pc:sldChg chg="modNotesTx">
        <pc:chgData name="Žydrūnė Kelpšaitė" userId="e943768126acec1d" providerId="LiveId" clId="{31712FD7-FA85-48BA-9D35-5382388CFC74}" dt="2026-01-20T12:03:15.412" v="48" actId="20577"/>
        <pc:sldMkLst>
          <pc:docMk/>
          <pc:sldMk cId="0" sldId="258"/>
        </pc:sldMkLst>
      </pc:sldChg>
      <pc:sldChg chg="modSp mod">
        <pc:chgData name="Žydrūnė Kelpšaitė" userId="e943768126acec1d" providerId="LiveId" clId="{31712FD7-FA85-48BA-9D35-5382388CFC74}" dt="2026-01-20T12:23:08.505" v="64" actId="20577"/>
        <pc:sldMkLst>
          <pc:docMk/>
          <pc:sldMk cId="0" sldId="261"/>
        </pc:sldMkLst>
        <pc:spChg chg="mod">
          <ac:chgData name="Žydrūnė Kelpšaitė" userId="e943768126acec1d" providerId="LiveId" clId="{31712FD7-FA85-48BA-9D35-5382388CFC74}" dt="2026-01-20T12:23:08.505" v="64" actId="20577"/>
          <ac:spMkLst>
            <pc:docMk/>
            <pc:sldMk cId="0" sldId="261"/>
            <ac:spMk id="352" creationId="{00000000-0000-0000-0000-000000000000}"/>
          </ac:spMkLst>
        </pc:spChg>
      </pc:sldChg>
      <pc:sldChg chg="addSp modSp mod">
        <pc:chgData name="Žydrūnė Kelpšaitė" userId="e943768126acec1d" providerId="LiveId" clId="{31712FD7-FA85-48BA-9D35-5382388CFC74}" dt="2026-01-20T12:23:51.646" v="67" actId="14100"/>
        <pc:sldMkLst>
          <pc:docMk/>
          <pc:sldMk cId="0" sldId="262"/>
        </pc:sldMkLst>
        <pc:spChg chg="add mod">
          <ac:chgData name="Žydrūnė Kelpšaitė" userId="e943768126acec1d" providerId="LiveId" clId="{31712FD7-FA85-48BA-9D35-5382388CFC74}" dt="2026-01-20T12:23:51.646" v="67" actId="14100"/>
          <ac:spMkLst>
            <pc:docMk/>
            <pc:sldMk cId="0" sldId="262"/>
            <ac:spMk id="3" creationId="{1ED4FF1B-CBFC-6D2C-ABD6-E35876894008}"/>
          </ac:spMkLst>
        </pc:spChg>
      </pc:sldChg>
      <pc:sldChg chg="modSp mod">
        <pc:chgData name="Žydrūnė Kelpšaitė" userId="e943768126acec1d" providerId="LiveId" clId="{31712FD7-FA85-48BA-9D35-5382388CFC74}" dt="2025-12-30T08:13:25.721" v="1" actId="1076"/>
        <pc:sldMkLst>
          <pc:docMk/>
          <pc:sldMk cId="0" sldId="275"/>
        </pc:sldMkLst>
        <pc:cxnChg chg="mod">
          <ac:chgData name="Žydrūnė Kelpšaitė" userId="e943768126acec1d" providerId="LiveId" clId="{31712FD7-FA85-48BA-9D35-5382388CFC74}" dt="2025-12-30T08:13:25.721" v="1" actId="1076"/>
          <ac:cxnSpMkLst>
            <pc:docMk/>
            <pc:sldMk cId="0" sldId="275"/>
            <ac:cxnSpMk id="3" creationId="{8016F632-C61A-AC7C-AC72-56AF132C72ED}"/>
          </ac:cxnSpMkLst>
        </pc:cxnChg>
      </pc:sldChg>
      <pc:sldChg chg="modSp mod">
        <pc:chgData name="Žydrūnė Kelpšaitė" userId="e943768126acec1d" providerId="LiveId" clId="{31712FD7-FA85-48BA-9D35-5382388CFC74}" dt="2026-01-20T13:35:09.295" v="73" actId="1076"/>
        <pc:sldMkLst>
          <pc:docMk/>
          <pc:sldMk cId="0" sldId="276"/>
        </pc:sldMkLst>
        <pc:cxnChg chg="mod">
          <ac:chgData name="Žydrūnė Kelpšaitė" userId="e943768126acec1d" providerId="LiveId" clId="{31712FD7-FA85-48BA-9D35-5382388CFC74}" dt="2026-01-20T13:35:09.295" v="73" actId="1076"/>
          <ac:cxnSpMkLst>
            <pc:docMk/>
            <pc:sldMk cId="0" sldId="276"/>
            <ac:cxnSpMk id="3" creationId="{5B0CA5F8-1659-2C18-B25A-4CAB278ECCA2}"/>
          </ac:cxnSpMkLst>
        </pc:cxnChg>
      </pc:sldChg>
      <pc:sldChg chg="modNotesTx">
        <pc:chgData name="Žydrūnė Kelpšaitė" userId="e943768126acec1d" providerId="LiveId" clId="{31712FD7-FA85-48BA-9D35-5382388CFC74}" dt="2025-12-30T08:50:03.287" v="10" actId="20577"/>
        <pc:sldMkLst>
          <pc:docMk/>
          <pc:sldMk cId="0" sldId="279"/>
        </pc:sldMkLst>
      </pc:sldChg>
      <pc:sldChg chg="modSp mod">
        <pc:chgData name="Žydrūnė Kelpšaitė" userId="e943768126acec1d" providerId="LiveId" clId="{31712FD7-FA85-48BA-9D35-5382388CFC74}" dt="2026-01-20T12:01:49.587" v="47" actId="20577"/>
        <pc:sldMkLst>
          <pc:docMk/>
          <pc:sldMk cId="0" sldId="295"/>
        </pc:sldMkLst>
        <pc:spChg chg="mod">
          <ac:chgData name="Žydrūnė Kelpšaitė" userId="e943768126acec1d" providerId="LiveId" clId="{31712FD7-FA85-48BA-9D35-5382388CFC74}" dt="2026-01-20T12:01:49.587" v="47" actId="20577"/>
          <ac:spMkLst>
            <pc:docMk/>
            <pc:sldMk cId="0" sldId="295"/>
            <ac:spMk id="3" creationId="{00000000-0000-0000-0000-000000000000}"/>
          </ac:spMkLst>
        </pc:spChg>
      </pc:sldChg>
      <pc:sldChg chg="modSp mod">
        <pc:chgData name="Žydrūnė Kelpšaitė" userId="e943768126acec1d" providerId="LiveId" clId="{31712FD7-FA85-48BA-9D35-5382388CFC74}" dt="2026-01-20T13:01:11.330" v="72" actId="207"/>
        <pc:sldMkLst>
          <pc:docMk/>
          <pc:sldMk cId="2325127948" sldId="298"/>
        </pc:sldMkLst>
        <pc:spChg chg="mod">
          <ac:chgData name="Žydrūnė Kelpšaitė" userId="e943768126acec1d" providerId="LiveId" clId="{31712FD7-FA85-48BA-9D35-5382388CFC74}" dt="2026-01-20T12:59:59.811" v="68" actId="1076"/>
          <ac:spMkLst>
            <pc:docMk/>
            <pc:sldMk cId="2325127948" sldId="298"/>
            <ac:spMk id="2" creationId="{F3DBFB8E-8042-EB34-276E-59DB183497DD}"/>
          </ac:spMkLst>
        </pc:spChg>
        <pc:spChg chg="mod">
          <ac:chgData name="Žydrūnė Kelpšaitė" userId="e943768126acec1d" providerId="LiveId" clId="{31712FD7-FA85-48BA-9D35-5382388CFC74}" dt="2026-01-20T13:01:11.330" v="72" actId="207"/>
          <ac:spMkLst>
            <pc:docMk/>
            <pc:sldMk cId="2325127948" sldId="298"/>
            <ac:spMk id="7" creationId="{D0586A3B-3877-F17D-842E-DCD2F8502968}"/>
          </ac:spMkLst>
        </pc:spChg>
        <pc:picChg chg="mod">
          <ac:chgData name="Žydrūnė Kelpšaitė" userId="e943768126acec1d" providerId="LiveId" clId="{31712FD7-FA85-48BA-9D35-5382388CFC74}" dt="2026-01-20T13:00:46.644" v="71" actId="1076"/>
          <ac:picMkLst>
            <pc:docMk/>
            <pc:sldMk cId="2325127948" sldId="298"/>
            <ac:picMk id="6" creationId="{BB9ABB52-1176-2E16-4562-5620B9302A54}"/>
          </ac:picMkLst>
        </pc:picChg>
      </pc:sldChg>
      <pc:sldChg chg="modSp mod">
        <pc:chgData name="Žydrūnė Kelpšaitė" userId="e943768126acec1d" providerId="LiveId" clId="{31712FD7-FA85-48BA-9D35-5382388CFC74}" dt="2026-01-20T11:54:14.721" v="11" actId="1076"/>
        <pc:sldMkLst>
          <pc:docMk/>
          <pc:sldMk cId="1824214034" sldId="304"/>
        </pc:sldMkLst>
        <pc:picChg chg="mod">
          <ac:chgData name="Žydrūnė Kelpšaitė" userId="e943768126acec1d" providerId="LiveId" clId="{31712FD7-FA85-48BA-9D35-5382388CFC74}" dt="2026-01-20T11:54:14.721" v="11" actId="1076"/>
          <ac:picMkLst>
            <pc:docMk/>
            <pc:sldMk cId="1824214034" sldId="304"/>
            <ac:picMk id="5" creationId="{FD5DFF1B-3674-2204-288F-4A11EBF3C65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0T15:01:24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24575,'3'2'0,"0"0"0,0 0 0,1 0 0,-1 0 0,1 0 0,-1-1 0,1 1 0,0-1 0,-1 0 0,5 0 0,2 2 0,0-1 0,-1 1 0,1 0 0,-1 1 0,0 0 0,11 8 0,-14-9 0,-1 0 0,-1 1 0,1 0 0,0 0 0,-1 0 0,0 0 0,0 1 0,0-1 0,-1 1 0,0 0 0,1 0 0,1 6 0,-5-8 0,1-1 0,-1 1 0,0 0 0,0-1 0,0 1 0,-1 0 0,1-1 0,-1 1 0,1-1 0,-1 1 0,0 0 0,0-1 0,0 0 0,0 1 0,0-1 0,-1 0 0,1 1 0,-1-1 0,0 0 0,-3 3 0,1 1 0,-1-1 0,-1 1 0,1-1 0,-1 0 0,0-1 0,-9 6 0,5-5-273,-1 0 0,0-1 0,0 0 0,-13 2 0,15-4-6553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0T15:01:29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49 289 24128,'0'-288'0,"-48"326"0,96 212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0T15:01:34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0T15:01:36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9B5A3-F894-41B4-B9B2-B5A52ECB8A50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9E47F-2D8D-402D-B67D-BBBBC50DDCAC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178145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nty_Python%27s_Flying_Circus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https://www.python.org/doc/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924386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name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said to derive from the British comedy series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onty Python's Flying Circus"/>
              </a:rPr>
              <a:t>Monty Python's Flying Circus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6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858433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Indentation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Indentation refers to the spaces at the beginning of a code line.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in other programming languages the indentation in code is for readability only, the indentation in Python is very important.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uses indentation to indicate a block of code.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number of spaces is up to you as a programmer, the most common use is four, but it has to be at least one.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7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267433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 (complex) – numbers with real and imaginary portions • Examples: 3 + 2j, 2.4 - 1j, -2j</a:t>
            </a:r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9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42720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Functions are like custom formulas in Excel. They perform tasks that can be applied to different sets of data.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12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796491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Variables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has no command for declaring a variable.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variable is created the moment you first assign a value to it.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 do not need to be declared with any particular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can even change type after they have been 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want to specify the data type of a variable, this can be done with casting.et.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lt-L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 names are case-sensitive.</a:t>
            </a:r>
            <a:endParaRPr lang="lt-LT" dirty="0"/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13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14705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 - rei</a:t>
            </a:r>
            <a:r>
              <a:rPr lang="lt-LT" dirty="0"/>
              <a:t>škia priskirta reikšmė</a:t>
            </a:r>
          </a:p>
          <a:p>
            <a:r>
              <a:rPr lang="en-US" dirty="0"/>
              <a:t>== </a:t>
            </a:r>
            <a:r>
              <a:rPr lang="en-US" dirty="0" err="1"/>
              <a:t>yra</a:t>
            </a:r>
            <a:r>
              <a:rPr lang="en-US" dirty="0"/>
              <a:t> </a:t>
            </a:r>
            <a:r>
              <a:rPr lang="en-US" dirty="0" err="1"/>
              <a:t>lygyb</a:t>
            </a:r>
            <a:r>
              <a:rPr lang="lt-LT" dirty="0"/>
              <a:t>ės ženklas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14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593337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  rei</a:t>
            </a:r>
            <a:r>
              <a:rPr lang="lt-LT" dirty="0"/>
              <a:t>škia priskirta reikšmė</a:t>
            </a:r>
          </a:p>
          <a:p>
            <a:r>
              <a:rPr lang="en-US" dirty="0"/>
              <a:t>== </a:t>
            </a:r>
            <a:r>
              <a:rPr lang="en-US" dirty="0" err="1"/>
              <a:t>yra</a:t>
            </a:r>
            <a:r>
              <a:rPr lang="en-US" dirty="0"/>
              <a:t> </a:t>
            </a:r>
            <a:r>
              <a:rPr lang="en-US" dirty="0" err="1"/>
              <a:t>lygyb</a:t>
            </a:r>
            <a:r>
              <a:rPr lang="lt-LT" dirty="0"/>
              <a:t>ės ženklas</a:t>
            </a:r>
          </a:p>
          <a:p>
            <a:endParaRPr lang="lt-LT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Int, or integer, is a whole number, positive or negative, without decimals, of unlimited length.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 Conversion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convert from one type to another with the int(), float()</a:t>
            </a:r>
            <a:r>
              <a:rPr lang="lt-L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lt-L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15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72852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Float, or "floating point number" is a number, positive or negative, containing one or more decimals.</a:t>
            </a:r>
            <a:endParaRPr lang="lt-L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 can also be scientific numbers with an "e" to indicate the power of 10.</a:t>
            </a:r>
            <a:endParaRPr lang="lt-L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lt-L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 Conversion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convert from one type to another with the int(), float()</a:t>
            </a:r>
            <a:r>
              <a:rPr lang="lt-L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lt-L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16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058261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base_salary </a:t>
            </a:r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lt-LT" dirty="0"/>
              <a:t> 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100000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err="1"/>
              <a:t>bonus_rate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</a:t>
            </a:r>
            <a:r>
              <a:rPr lang="en-US" dirty="0"/>
              <a:t> </a:t>
            </a:r>
            <a:r>
              <a:rPr lang="en-US" dirty="0" err="1"/>
              <a:t>total_salary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dirty="0"/>
              <a:t> </a:t>
            </a:r>
            <a:r>
              <a:rPr lang="en-US" dirty="0" err="1"/>
              <a:t>base_salary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en-US" dirty="0"/>
              <a:t> </a:t>
            </a:r>
            <a:r>
              <a:rPr lang="en-US" dirty="0" err="1"/>
              <a:t>bonus_rate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lt-LT" dirty="0"/>
              <a:t>total_salary</a:t>
            </a:r>
            <a:endParaRPr lang="en-US" dirty="0"/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either print the variable using the </a:t>
            </a:r>
            <a:r>
              <a:rPr lang="en-US" dirty="0"/>
              <a:t>print()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function or call it.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17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623813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https://www.w3schools.com/python/python_variables.asp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18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527553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sz="1800" b="1" dirty="0"/>
              <a:t>+</a:t>
            </a:r>
            <a:r>
              <a:rPr lang="en-US" sz="1800" b="1" dirty="0"/>
              <a:t>=</a:t>
            </a:r>
          </a:p>
          <a:p>
            <a:r>
              <a:rPr lang="en-US" sz="1800" b="1" dirty="0"/>
              <a:t>-=</a:t>
            </a:r>
          </a:p>
          <a:p>
            <a:r>
              <a:rPr lang="en-US" sz="1800" b="1" dirty="0"/>
              <a:t>*=</a:t>
            </a:r>
          </a:p>
          <a:p>
            <a:r>
              <a:rPr lang="en-US" sz="1800" b="1" dirty="0"/>
              <a:t>/=</a:t>
            </a:r>
            <a:endParaRPr lang="lt-LT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19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25604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Būtinos ““ arba ‘‘. Negali būti skirtingos.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22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665976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 are like the built-in functions in Excel that operate on your records. They define actions that the records can perform.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function defined inside a class that operates on its objects.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24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116123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25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001895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29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62156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</a:t>
            </a:r>
            <a:r>
              <a:rPr lang="en-US" dirty="0" err="1"/>
              <a:t>zodis</a:t>
            </a:r>
            <a:r>
              <a:rPr lang="en-US" dirty="0"/>
              <a:t>}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30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7125189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/* </a:t>
            </a:r>
            <a:r>
              <a:rPr lang="en-US" dirty="0" err="1"/>
              <a:t>kkk</a:t>
            </a:r>
            <a:r>
              <a:rPr lang="en-US" dirty="0"/>
              <a:t> */</a:t>
            </a:r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43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580879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8554-B1BB-AC31-99F4-09B6C0E6F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A43C5-67C1-2F51-15E8-FA41AE882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AF5C6-E179-88BA-EE9F-C4340B7E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7C2A2-C92E-6471-3EF4-F043CD15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8F9BC-F0F0-1360-A895-2441A6FA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D923C89-4DE6-4CC3-9146-7400BD602CE8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138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9976-A678-5CEC-5BDE-6F6B8DD0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A0990-3B3D-F528-B368-C2E366186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DC0C7-9AE3-1C87-4F2B-3D30B2F79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9A9FE-E1BC-F0E3-32C6-A16997E07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9BFAA-0FD6-54A8-9425-2E4841C2C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D923C89-4DE6-4CC3-9146-7400BD602CE8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3067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A355-B3E2-73BE-B768-99FA61BA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8E2F3-AD33-DC4C-67A0-9A27EB363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CAEE0-8625-29D1-A0DC-91F90555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B748C-39AB-29AB-352A-6D5342B7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D84D3-60EB-2892-A513-D6D51CE5A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D923C89-4DE6-4CC3-9146-7400BD602CE8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2497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209C-A721-976D-9088-4F4F95B7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602FC-2266-82DB-4EEB-BD204384F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E1A31-47D6-CFEE-6757-83FCC742F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1FD8B-EE99-F2E4-6100-D97D45BAB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7DCDD-CD88-3315-6830-738FDD7B4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CC92C-BA24-4D9E-9B48-97C75EF0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D923C89-4DE6-4CC3-9146-7400BD602CE8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649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94113-9B30-CA2F-7799-EAC900ED4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EEF00-5691-0147-331D-97EED0331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CA3B5-E96A-189A-EB8C-68A207B87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D7D4BF-99AC-18DD-C62D-769E2E236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D45C5-23EF-30FD-C259-4B5D6FC07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BD9113-78FB-661B-34F6-14404998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AB2E71-12EC-6118-88CB-0B2547D92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4CB98-B8FC-0BA6-7DA2-2B0CE56A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D923C89-4DE6-4CC3-9146-7400BD602CE8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813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3CA1-9AB8-A02C-462D-16C8921E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90F90-91C8-F9E4-3884-AC85150AD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33635-7BBD-656C-AEFB-868151E80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805F2-B4B3-95B7-F88F-B944BE95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199E2-70A8-4611-8D7B-1AE171CAD73B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17210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7B971-3081-E741-4B67-06E4D409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320FE-4563-84BE-91C5-8C936E62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90BE8-420A-F7A3-F334-00E71CF1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D923C89-4DE6-4CC3-9146-7400BD602CE8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4203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1B8F-0B74-EE19-9E63-210839EC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DE1C6-06E4-D700-B52F-29D57A731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775A2-8B4E-0DCD-225C-56C9AD417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62DF5-87AC-9740-1922-9A97A1B8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852CC-D1C0-C48B-C39B-4D28AADD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D6EDA-E168-3639-AFCE-ED338B608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D923C89-4DE6-4CC3-9146-7400BD602CE8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686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1493-0260-8F20-1353-D63DE81EE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1B5B84-9B31-79D5-9FA0-4D51BB573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AB388-3A4F-0418-E667-6F9CFAA4B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F563C-1E14-FB1E-FE73-6049605B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47969-9066-196A-D7F3-1340DE9F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FA4A8-D85D-474D-1D64-3CE612A39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D923C89-4DE6-4CC3-9146-7400BD602CE8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019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BCF4-0977-A6E5-5936-7D4195FF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6EFB9-F4BA-97EC-F79F-6762DF951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24647-9B08-3E25-EBD4-559EEC35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1D25A-EC45-3FDE-2A5C-424BBA98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F812B-A2FD-7D11-2105-82283010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D923C89-4DE6-4CC3-9146-7400BD602CE8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139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858630-A7E8-5716-095F-A630D537A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3F656-417B-39AB-9201-31E7C667B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252F7-A669-2843-8F55-61626C0F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BF7DE-2BF0-1B37-2336-BDB19C4F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A8FA3-CB08-DD2F-3703-363B6336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D923C89-4DE6-4CC3-9146-7400BD602CE8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89868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80240" y="5032080"/>
            <a:ext cx="2343240" cy="13647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lt-L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80240" y="459360"/>
            <a:ext cx="5615280" cy="4561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lt-LT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0785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80240" y="5032080"/>
            <a:ext cx="2343240" cy="13647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lt-L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80240" y="460800"/>
            <a:ext cx="5615280" cy="453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697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5E9E01-EF64-9B31-B125-830D2F680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CFBDA-2383-4834-E846-345276167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5C795-ADC0-F419-2F29-AEC1B25C9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6673E-50EC-4499-8B19-A243711A8F9B}" type="datetimeFigureOut">
              <a:rPr lang="lt-LT" smtClean="0"/>
              <a:t>2026-01-20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BB300-9F65-DE2F-EE4D-980E5E4E5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364B5-93A1-7A47-2D44-A8544DA0F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BD923C89-4DE6-4CC3-9146-7400BD602CE8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52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9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.xml"/><Relationship Id="rId5" Type="http://schemas.openxmlformats.org/officeDocument/2006/relationships/image" Target="../media/image7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ref_string.asp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Shape 1"/>
          <p:cNvSpPr txBox="1"/>
          <p:nvPr/>
        </p:nvSpPr>
        <p:spPr>
          <a:xfrm>
            <a:off x="1410789" y="865680"/>
            <a:ext cx="8748925" cy="23871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1" spc="-1" dirty="0">
                <a:solidFill>
                  <a:srgbClr val="000000"/>
                </a:solidFill>
                <a:latin typeface="Arial"/>
              </a:rPr>
              <a:t>Python Intro</a:t>
            </a:r>
            <a:br>
              <a:rPr dirty="0"/>
            </a:br>
            <a:r>
              <a:rPr lang="lt-LT" sz="4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Kintamieji, if sąlyga</a:t>
            </a:r>
            <a:r>
              <a:rPr lang="en-US" sz="4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, input</a:t>
            </a:r>
            <a:endParaRPr lang="lt-LT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445E91-1D51-831A-3A5E-2867C242B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50" y="5342246"/>
            <a:ext cx="2429214" cy="7716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2F0CC1-A45E-32BB-3937-93832F7AA55C}"/>
              </a:ext>
            </a:extLst>
          </p:cNvPr>
          <p:cNvSpPr txBox="1"/>
          <p:nvPr/>
        </p:nvSpPr>
        <p:spPr>
          <a:xfrm>
            <a:off x="3657600" y="3579223"/>
            <a:ext cx="5786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Žydrūnė Kelpšaitė,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1 paskaita. </a:t>
            </a:r>
            <a:r>
              <a:rPr lang="en-US" sz="1300" spc="-1" dirty="0">
                <a:solidFill>
                  <a:srgbClr val="000000"/>
                </a:solidFill>
                <a:latin typeface="Arial"/>
                <a:ea typeface="Arial"/>
              </a:rPr>
              <a:t>Python Intro</a:t>
            </a:r>
            <a:endParaRPr lang="lt-LT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Shape 2"/>
          <p:cNvSpPr txBox="1"/>
          <p:nvPr/>
        </p:nvSpPr>
        <p:spPr>
          <a:xfrm>
            <a:off x="480240" y="1371600"/>
            <a:ext cx="5153400" cy="13647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Šiandien išmoksite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Shape 3"/>
          <p:cNvSpPr txBox="1"/>
          <p:nvPr/>
        </p:nvSpPr>
        <p:spPr>
          <a:xfrm>
            <a:off x="1398600" y="3282480"/>
            <a:ext cx="4235400" cy="5529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Kokie yra kintamųjų tipai, jų sudarymo taisykles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Shape 4"/>
          <p:cNvSpPr txBox="1"/>
          <p:nvPr/>
        </p:nvSpPr>
        <p:spPr>
          <a:xfrm>
            <a:off x="1398600" y="4563720"/>
            <a:ext cx="4235400" cy="343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Veiksmus su simbolių eilutėmis (String)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Shape 5"/>
          <p:cNvSpPr txBox="1"/>
          <p:nvPr/>
        </p:nvSpPr>
        <p:spPr>
          <a:xfrm>
            <a:off x="1398600" y="5697000"/>
            <a:ext cx="4235400" cy="3308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Konvertuoti skirtingus duomenų tipus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Shape 6"/>
          <p:cNvSpPr txBox="1"/>
          <p:nvPr/>
        </p:nvSpPr>
        <p:spPr>
          <a:xfrm>
            <a:off x="7476480" y="3376440"/>
            <a:ext cx="4235400" cy="3654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Priimti duomenis iš vartotojo konsolės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Shape 7"/>
          <p:cNvSpPr txBox="1"/>
          <p:nvPr/>
        </p:nvSpPr>
        <p:spPr>
          <a:xfrm>
            <a:off x="7476480" y="4563720"/>
            <a:ext cx="4235400" cy="343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Sąlygos sakinius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Shape 8"/>
          <p:cNvSpPr txBox="1"/>
          <p:nvPr/>
        </p:nvSpPr>
        <p:spPr>
          <a:xfrm>
            <a:off x="7476480" y="5697000"/>
            <a:ext cx="4235400" cy="3308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Kodo komentavimo taisykles 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2" name="Group 9"/>
          <p:cNvGrpSpPr/>
          <p:nvPr/>
        </p:nvGrpSpPr>
        <p:grpSpPr>
          <a:xfrm>
            <a:off x="480240" y="3193560"/>
            <a:ext cx="731160" cy="731160"/>
            <a:chOff x="480240" y="3193560"/>
            <a:chExt cx="731160" cy="731160"/>
          </a:xfrm>
        </p:grpSpPr>
        <p:sp>
          <p:nvSpPr>
            <p:cNvPr id="323" name="CustomShape 10"/>
            <p:cNvSpPr/>
            <p:nvPr/>
          </p:nvSpPr>
          <p:spPr>
            <a:xfrm>
              <a:off x="480240" y="319356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24" name="CustomShape 11"/>
            <p:cNvSpPr/>
            <p:nvPr/>
          </p:nvSpPr>
          <p:spPr>
            <a:xfrm>
              <a:off x="633240" y="336096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 dirty="0">
                  <a:solidFill>
                    <a:srgbClr val="FEFFFF"/>
                  </a:solidFill>
                  <a:latin typeface="Arial"/>
                  <a:ea typeface="Arial"/>
                </a:rPr>
                <a:t>01</a:t>
              </a:r>
              <a:endParaRPr lang="lt-LT" sz="2000" b="0" strike="noStrike" spc="-1" dirty="0">
                <a:latin typeface="Arial"/>
              </a:endParaRPr>
            </a:p>
          </p:txBody>
        </p:sp>
      </p:grpSp>
      <p:grpSp>
        <p:nvGrpSpPr>
          <p:cNvPr id="325" name="Group 12"/>
          <p:cNvGrpSpPr/>
          <p:nvPr/>
        </p:nvGrpSpPr>
        <p:grpSpPr>
          <a:xfrm>
            <a:off x="480240" y="4369680"/>
            <a:ext cx="731160" cy="731160"/>
            <a:chOff x="480240" y="4369680"/>
            <a:chExt cx="731160" cy="731160"/>
          </a:xfrm>
        </p:grpSpPr>
        <p:sp>
          <p:nvSpPr>
            <p:cNvPr id="326" name="CustomShape 13"/>
            <p:cNvSpPr/>
            <p:nvPr/>
          </p:nvSpPr>
          <p:spPr>
            <a:xfrm>
              <a:off x="480240" y="436968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27" name="CustomShape 14"/>
            <p:cNvSpPr/>
            <p:nvPr/>
          </p:nvSpPr>
          <p:spPr>
            <a:xfrm>
              <a:off x="633240" y="453744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02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328" name="Group 15"/>
          <p:cNvGrpSpPr/>
          <p:nvPr/>
        </p:nvGrpSpPr>
        <p:grpSpPr>
          <a:xfrm>
            <a:off x="480240" y="5496840"/>
            <a:ext cx="731160" cy="731160"/>
            <a:chOff x="480240" y="5496840"/>
            <a:chExt cx="731160" cy="731160"/>
          </a:xfrm>
        </p:grpSpPr>
        <p:sp>
          <p:nvSpPr>
            <p:cNvPr id="329" name="CustomShape 16"/>
            <p:cNvSpPr/>
            <p:nvPr/>
          </p:nvSpPr>
          <p:spPr>
            <a:xfrm>
              <a:off x="480240" y="549684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30" name="CustomShape 17"/>
            <p:cNvSpPr/>
            <p:nvPr/>
          </p:nvSpPr>
          <p:spPr>
            <a:xfrm>
              <a:off x="633240" y="566460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03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331" name="Group 18"/>
          <p:cNvGrpSpPr/>
          <p:nvPr/>
        </p:nvGrpSpPr>
        <p:grpSpPr>
          <a:xfrm>
            <a:off x="6557760" y="3193560"/>
            <a:ext cx="731160" cy="731160"/>
            <a:chOff x="6557760" y="3193560"/>
            <a:chExt cx="731160" cy="731160"/>
          </a:xfrm>
        </p:grpSpPr>
        <p:sp>
          <p:nvSpPr>
            <p:cNvPr id="332" name="CustomShape 19"/>
            <p:cNvSpPr/>
            <p:nvPr/>
          </p:nvSpPr>
          <p:spPr>
            <a:xfrm>
              <a:off x="6557760" y="319356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33" name="CustomShape 20"/>
            <p:cNvSpPr/>
            <p:nvPr/>
          </p:nvSpPr>
          <p:spPr>
            <a:xfrm>
              <a:off x="6710400" y="336096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04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334" name="Group 21"/>
          <p:cNvGrpSpPr/>
          <p:nvPr/>
        </p:nvGrpSpPr>
        <p:grpSpPr>
          <a:xfrm>
            <a:off x="6557760" y="4369680"/>
            <a:ext cx="731160" cy="731160"/>
            <a:chOff x="6557760" y="4369680"/>
            <a:chExt cx="731160" cy="731160"/>
          </a:xfrm>
        </p:grpSpPr>
        <p:sp>
          <p:nvSpPr>
            <p:cNvPr id="335" name="CustomShape 22"/>
            <p:cNvSpPr/>
            <p:nvPr/>
          </p:nvSpPr>
          <p:spPr>
            <a:xfrm>
              <a:off x="6557760" y="436968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36" name="CustomShape 23"/>
            <p:cNvSpPr/>
            <p:nvPr/>
          </p:nvSpPr>
          <p:spPr>
            <a:xfrm>
              <a:off x="6710400" y="453744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05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337" name="Group 24"/>
          <p:cNvGrpSpPr/>
          <p:nvPr/>
        </p:nvGrpSpPr>
        <p:grpSpPr>
          <a:xfrm>
            <a:off x="6557760" y="5496840"/>
            <a:ext cx="731160" cy="731160"/>
            <a:chOff x="6557760" y="5496840"/>
            <a:chExt cx="731160" cy="731160"/>
          </a:xfrm>
        </p:grpSpPr>
        <p:sp>
          <p:nvSpPr>
            <p:cNvPr id="338" name="CustomShape 25"/>
            <p:cNvSpPr/>
            <p:nvPr/>
          </p:nvSpPr>
          <p:spPr>
            <a:xfrm>
              <a:off x="6557760" y="549684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39" name="CustomShape 26"/>
            <p:cNvSpPr/>
            <p:nvPr/>
          </p:nvSpPr>
          <p:spPr>
            <a:xfrm>
              <a:off x="6710400" y="566460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06</a:t>
              </a:r>
              <a:endParaRPr lang="lt-LT" sz="20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3DFAC-150C-E48F-7DC7-9D774E97F7DD}"/>
              </a:ext>
            </a:extLst>
          </p:cNvPr>
          <p:cNvSpPr txBox="1"/>
          <p:nvPr/>
        </p:nvSpPr>
        <p:spPr>
          <a:xfrm>
            <a:off x="903514" y="2042553"/>
            <a:ext cx="92637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t-LT" dirty="0"/>
          </a:p>
          <a:p>
            <a:r>
              <a:rPr lang="lt-LT" dirty="0"/>
              <a:t>1. </a:t>
            </a:r>
            <a:r>
              <a:rPr lang="lt-LT" b="1" dirty="0"/>
              <a:t>Lengvai išmokstama ir universali </a:t>
            </a:r>
            <a:r>
              <a:rPr lang="lt-LT" dirty="0"/>
              <a:t>– Python yra paprasta kalba, kuria gali naudotis tiek pradedantieji, tiek profesionalai. Ji tinka daugeliui užduočių, nuo duomenų apdorojimo iki mašininio mokymosi.</a:t>
            </a:r>
          </a:p>
          <a:p>
            <a:endParaRPr lang="lt-LT" dirty="0"/>
          </a:p>
          <a:p>
            <a:r>
              <a:rPr lang="lt-LT" dirty="0"/>
              <a:t>2. </a:t>
            </a:r>
            <a:r>
              <a:rPr lang="lt-LT" b="1" dirty="0"/>
              <a:t>Galingos bibliotekos </a:t>
            </a:r>
            <a:r>
              <a:rPr lang="lt-LT" dirty="0"/>
              <a:t>– Python turi daugybę bibliotekų, kaip pandas, numpy ir kt., kurios leidžia lengvai analizuoti duomenis.</a:t>
            </a:r>
          </a:p>
          <a:p>
            <a:endParaRPr lang="lt-LT" dirty="0"/>
          </a:p>
          <a:p>
            <a:r>
              <a:rPr lang="lt-LT" dirty="0"/>
              <a:t>3. </a:t>
            </a:r>
            <a:r>
              <a:rPr lang="lt-LT" b="1" dirty="0"/>
              <a:t>Populiarumas duomenų moksle </a:t>
            </a:r>
            <a:r>
              <a:rPr lang="lt-LT" dirty="0"/>
              <a:t>– Python yra viena pagrindinių kalbų duomenų analitikų ir mokslininkų pasaulyje, todėl ją mokantis atveriama daugybė karjeros galimybių.</a:t>
            </a:r>
          </a:p>
          <a:p>
            <a:endParaRPr lang="lt-LT" dirty="0"/>
          </a:p>
          <a:p>
            <a:r>
              <a:rPr lang="lt-LT" dirty="0"/>
              <a:t>4. </a:t>
            </a:r>
            <a:r>
              <a:rPr lang="lt-LT" b="1" dirty="0"/>
              <a:t>Automatizavimas ir efektyvumas </a:t>
            </a:r>
            <a:r>
              <a:rPr lang="lt-LT" dirty="0"/>
              <a:t>– Python padeda automatizuoti pasikartojančias užduotis, leidžia dirbti su dideliais duomenų rinkiniais ir kurti efektyvius darbo procesus.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120A0-B1B3-06B4-222E-F67953BB65A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951650" y="568159"/>
            <a:ext cx="6671674" cy="13285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 err="1"/>
              <a:t>Kod</a:t>
            </a:r>
            <a:r>
              <a:rPr lang="lt-LT" sz="3600" b="1" dirty="0"/>
              <a:t>ėl verta mokytis Python?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02EA16-B0D6-0797-BF6B-A586573DC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136" y="460800"/>
            <a:ext cx="2429214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323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veikslėlis 2" descr="Paveikslėlis, kuriame yra tekstas, ekrano kopija, Šriftas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18AC36A1-7538-236D-04CC-E2300D490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41" y="263415"/>
            <a:ext cx="5925377" cy="6125430"/>
          </a:xfrm>
          <a:prstGeom prst="rect">
            <a:avLst/>
          </a:prstGeom>
        </p:spPr>
      </p:pic>
      <p:pic>
        <p:nvPicPr>
          <p:cNvPr id="5" name="Paveikslėlis 4" descr="Paveikslėlis, kuriame yra Šriftas, logotipas, Grafik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96749AA4-C3DB-8634-6495-0EA9130CE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752" y="717119"/>
            <a:ext cx="4810796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8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CB5F73-64C3-E984-6D36-8E7CD89C5DCA}"/>
              </a:ext>
            </a:extLst>
          </p:cNvPr>
          <p:cNvSpPr txBox="1"/>
          <p:nvPr/>
        </p:nvSpPr>
        <p:spPr>
          <a:xfrm>
            <a:off x="2276951" y="306824"/>
            <a:ext cx="76380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lt-LT" sz="3600" b="1" dirty="0"/>
              <a:t>PYTHON ANALYTICS ECOSYSTEM</a:t>
            </a:r>
          </a:p>
        </p:txBody>
      </p:sp>
      <p:pic>
        <p:nvPicPr>
          <p:cNvPr id="5" name="Paveikslėlis 4" descr="Paveikslėlis, kuriame yra tekstas, ekrano kopija, Šriftas, Interneto svetainė&#10;&#10;Dirbtinio intelekto sugeneruotas turinys gali būti neteisingas.">
            <a:extLst>
              <a:ext uri="{FF2B5EF4-FFF2-40B4-BE49-F238E27FC236}">
                <a16:creationId xmlns:a16="http://schemas.microsoft.com/office/drawing/2014/main" id="{5DB2F0BC-4A09-FA04-5582-EA741E347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00243"/>
            <a:ext cx="12192000" cy="535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1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5076A8-C695-EE7B-4434-EEAD3FF67F2B}"/>
              </a:ext>
            </a:extLst>
          </p:cNvPr>
          <p:cNvSpPr txBox="1"/>
          <p:nvPr/>
        </p:nvSpPr>
        <p:spPr>
          <a:xfrm>
            <a:off x="965200" y="1383528"/>
            <a:ext cx="5925989" cy="31675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  <a:hlinkClick r:id="rId3"/>
              </a:rPr>
              <a:t>Python is a programming language that lets you work quickly and integrate systems more effectively.</a:t>
            </a:r>
            <a:endParaRPr lang="en-US" sz="3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E45D3-D387-9CE2-DC9C-0DE638B15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891" y="2967283"/>
            <a:ext cx="2621772" cy="83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07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ACF47-B922-6E95-F4A7-B4F120A7BB2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40229" y="428797"/>
            <a:ext cx="5615280" cy="453240"/>
          </a:xfrm>
        </p:spPr>
        <p:txBody>
          <a:bodyPr/>
          <a:lstStyle/>
          <a:p>
            <a:pPr marL="0" indent="0">
              <a:buNone/>
            </a:pPr>
            <a:r>
              <a:rPr lang="lt-LT" b="1" dirty="0"/>
              <a:t>Sintaksė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98C54-55BF-957C-C21E-D20E1AE4A61C}"/>
              </a:ext>
            </a:extLst>
          </p:cNvPr>
          <p:cNvSpPr txBox="1"/>
          <p:nvPr/>
        </p:nvSpPr>
        <p:spPr>
          <a:xfrm>
            <a:off x="664029" y="1173199"/>
            <a:ext cx="8632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Python yra Case Sensitive</a:t>
            </a:r>
          </a:p>
          <a:p>
            <a:endParaRPr lang="lt-LT" dirty="0"/>
          </a:p>
          <a:p>
            <a:endParaRPr lang="lt-L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0F641-F4E7-07D8-122A-9BBFB45B2C38}"/>
              </a:ext>
            </a:extLst>
          </p:cNvPr>
          <p:cNvSpPr txBox="1"/>
          <p:nvPr/>
        </p:nvSpPr>
        <p:spPr>
          <a:xfrm>
            <a:off x="740229" y="1755523"/>
            <a:ext cx="8049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Naudojama </a:t>
            </a:r>
            <a:r>
              <a:rPr lang="lt-LT" b="1" dirty="0"/>
              <a:t>indentacija (atsitraukimas)</a:t>
            </a:r>
            <a:r>
              <a:rPr lang="lt-LT" dirty="0"/>
              <a:t> vietoj skliaustų struktūroje</a:t>
            </a:r>
          </a:p>
          <a:p>
            <a:endParaRPr lang="lt-LT" dirty="0"/>
          </a:p>
          <a:p>
            <a:r>
              <a:rPr lang="lt-LT" b="1" dirty="0"/>
              <a:t>Viena instrukcija per eilutę</a:t>
            </a:r>
          </a:p>
          <a:p>
            <a:endParaRPr lang="lt-L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1123C7-D07A-C5BD-0AC6-AB942EA19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29" y="2828835"/>
            <a:ext cx="4685159" cy="12003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CB75A1-4F4E-E8D5-F846-8A41F4370D59}"/>
              </a:ext>
            </a:extLst>
          </p:cNvPr>
          <p:cNvSpPr txBox="1"/>
          <p:nvPr/>
        </p:nvSpPr>
        <p:spPr>
          <a:xfrm>
            <a:off x="7358743" y="2255911"/>
            <a:ext cx="4245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b="1" dirty="0">
                <a:solidFill>
                  <a:srgbClr val="FF0000"/>
                </a:solidFill>
              </a:rPr>
              <a:t>Indentacija svarbi!</a:t>
            </a:r>
          </a:p>
          <a:p>
            <a:endParaRPr lang="lt-LT" b="1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479406-D7A4-2A6D-498F-5D747877F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222" y="2828835"/>
            <a:ext cx="3222171" cy="21245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B6FBE7-62CC-03AD-D822-3180EAF96C97}"/>
              </a:ext>
            </a:extLst>
          </p:cNvPr>
          <p:cNvSpPr txBox="1"/>
          <p:nvPr/>
        </p:nvSpPr>
        <p:spPr>
          <a:xfrm>
            <a:off x="844062" y="4511710"/>
            <a:ext cx="3516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Select * from ...</a:t>
            </a:r>
          </a:p>
        </p:txBody>
      </p:sp>
    </p:spTree>
    <p:extLst>
      <p:ext uri="{BB962C8B-B14F-4D97-AF65-F5344CB8AC3E}">
        <p14:creationId xmlns:p14="http://schemas.microsoft.com/office/powerpoint/2010/main" val="411882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33F18-EFEC-2E25-6858-DACE1642481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79698" y="711171"/>
            <a:ext cx="5615280" cy="453240"/>
          </a:xfrm>
        </p:spPr>
        <p:txBody>
          <a:bodyPr/>
          <a:lstStyle/>
          <a:p>
            <a:pPr marL="0" indent="0">
              <a:buNone/>
            </a:pPr>
            <a:r>
              <a:rPr lang="lt-LT" dirty="0"/>
              <a:t>Python Data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BD74C3-6F0F-38D9-31E8-9FB438644A25}"/>
              </a:ext>
            </a:extLst>
          </p:cNvPr>
          <p:cNvSpPr txBox="1"/>
          <p:nvPr/>
        </p:nvSpPr>
        <p:spPr>
          <a:xfrm>
            <a:off x="849086" y="1556657"/>
            <a:ext cx="41039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b="1" dirty="0"/>
              <a:t>int</a:t>
            </a:r>
            <a:r>
              <a:rPr lang="lt-LT" dirty="0"/>
              <a:t> - sveikieji skaičiai (25)</a:t>
            </a:r>
          </a:p>
          <a:p>
            <a:endParaRPr lang="lt-LT" dirty="0"/>
          </a:p>
          <a:p>
            <a:r>
              <a:rPr lang="lt-LT" b="1" dirty="0"/>
              <a:t>float</a:t>
            </a:r>
            <a:r>
              <a:rPr lang="lt-LT" dirty="0"/>
              <a:t> - skaičiai su kableliu (3.14)</a:t>
            </a:r>
          </a:p>
          <a:p>
            <a:endParaRPr lang="lt-LT" dirty="0"/>
          </a:p>
          <a:p>
            <a:r>
              <a:rPr lang="lt-LT" b="1" dirty="0"/>
              <a:t>str</a:t>
            </a:r>
            <a:r>
              <a:rPr lang="lt-LT" dirty="0"/>
              <a:t> - tekstas ("Labas")</a:t>
            </a:r>
          </a:p>
          <a:p>
            <a:endParaRPr lang="lt-LT" dirty="0"/>
          </a:p>
          <a:p>
            <a:r>
              <a:rPr lang="lt-LT" b="1" dirty="0"/>
              <a:t>bool</a:t>
            </a:r>
            <a:r>
              <a:rPr lang="lt-LT" dirty="0"/>
              <a:t> - loginis tipas (True, False)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FA1A09-6EE6-832A-EF54-42AD9A0DC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754" y="1671615"/>
            <a:ext cx="5251312" cy="7667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165FE7-1532-BC2C-5590-194EE7417684}"/>
              </a:ext>
            </a:extLst>
          </p:cNvPr>
          <p:cNvSpPr txBox="1"/>
          <p:nvPr/>
        </p:nvSpPr>
        <p:spPr>
          <a:xfrm>
            <a:off x="2335381" y="4234935"/>
            <a:ext cx="410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Type Casting</a:t>
            </a:r>
            <a:endParaRPr lang="lt-LT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BD67BA-99EE-A570-9776-4A106C650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753" y="4234935"/>
            <a:ext cx="3578953" cy="168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49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22676-5C1A-52B1-F52A-DD7F4F88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F1BC3-FF97-4808-BEE8-6AC8683AF00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351098" y="191081"/>
            <a:ext cx="5615280" cy="453240"/>
          </a:xfrm>
        </p:spPr>
        <p:txBody>
          <a:bodyPr/>
          <a:lstStyle/>
          <a:p>
            <a:pPr marL="0" indent="0">
              <a:buNone/>
            </a:pPr>
            <a:r>
              <a:rPr lang="lt-LT" dirty="0"/>
              <a:t>Python Data Types</a:t>
            </a:r>
          </a:p>
        </p:txBody>
      </p:sp>
      <p:pic>
        <p:nvPicPr>
          <p:cNvPr id="5" name="Paveikslėlis 4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FD5DFF1B-3674-2204-288F-4A11EBF3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59" y="785366"/>
            <a:ext cx="11092729" cy="600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14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52E6CE3-AA81-22D5-01A5-A63E7773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MUTABILITY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F05829E-F7B1-6E53-34DD-606483CF5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1467468"/>
            <a:ext cx="10050278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57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7795B15-4F8F-97B8-98DC-F2B98892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t-LT" dirty="0"/>
              <a:t>ITERABLES</a:t>
            </a:r>
          </a:p>
        </p:txBody>
      </p:sp>
      <p:pic>
        <p:nvPicPr>
          <p:cNvPr id="4" name="Paveikslėlis 3" descr="Paveikslėlis, kuriame yra tekstas, ekrano kopija, Šriftas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58BFA9AF-2B2E-9EA9-08FC-098C5DFAA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1628523"/>
            <a:ext cx="11041016" cy="3600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13964-0FD5-F4E5-B8D7-1124CFD61091}"/>
              </a:ext>
            </a:extLst>
          </p:cNvPr>
          <p:cNvSpPr txBox="1"/>
          <p:nvPr/>
        </p:nvSpPr>
        <p:spPr>
          <a:xfrm>
            <a:off x="3047048" y="5060365"/>
            <a:ext cx="6097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Iterables</a:t>
            </a:r>
            <a:r>
              <a:rPr lang="en-US" dirty="0"/>
              <a:t> are data types that can be iterated, or looped through, allowing you to move from one value to the next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762474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0A37B-FC91-8265-EFC3-50DAF52A54E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83103" y="1118411"/>
            <a:ext cx="5615280" cy="45324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lt-LT" b="1" dirty="0"/>
              <a:t>Dažniausiai naudojamos funkcijos</a:t>
            </a:r>
          </a:p>
          <a:p>
            <a:endParaRPr lang="lt-LT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1071D0-BB6C-AA1D-8FA2-9CBFBB788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83103" y="1571651"/>
            <a:ext cx="577895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lt-LT" altLang="lt-L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t-LT" altLang="lt-L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print()</a:t>
            </a:r>
            <a:r>
              <a:rPr kumimoji="0" lang="lt-LT" altLang="lt-L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lt-LT" altLang="lt-LT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išveda į ekraną</a:t>
            </a:r>
            <a:endParaRPr kumimoji="0" lang="lt-LT" altLang="lt-LT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t-LT" altLang="lt-L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input()</a:t>
            </a:r>
            <a:r>
              <a:rPr kumimoji="0" lang="lt-LT" altLang="lt-LT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įveda reikšmę iš vartotojo</a:t>
            </a:r>
            <a:endParaRPr kumimoji="0" lang="lt-LT" altLang="lt-LT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t-LT" altLang="lt-L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type()</a:t>
            </a:r>
            <a:r>
              <a:rPr kumimoji="0" lang="lt-LT" altLang="lt-LT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grąžina tipą</a:t>
            </a:r>
            <a:endParaRPr kumimoji="0" lang="lt-LT" altLang="lt-LT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t-LT" altLang="lt-L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len()</a:t>
            </a:r>
            <a:r>
              <a:rPr kumimoji="0" lang="lt-LT" altLang="lt-L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grąžina simbolių kiekį</a:t>
            </a:r>
            <a:endParaRPr kumimoji="0" lang="lt-LT" altLang="lt-L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t-LT" altLang="lt-L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FEC0D-BDD6-3128-1890-79F704601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994" y="4079392"/>
            <a:ext cx="8054002" cy="13525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2C89AD-D47E-7CFA-C11C-8D9BB7177BEE}"/>
              </a:ext>
            </a:extLst>
          </p:cNvPr>
          <p:cNvSpPr txBox="1"/>
          <p:nvPr/>
        </p:nvSpPr>
        <p:spPr>
          <a:xfrm>
            <a:off x="1188720" y="6100354"/>
            <a:ext cx="8151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A reusable piece of code that performs a specific task.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290533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Kintamieji</a:t>
            </a:r>
            <a:r>
              <a:rPr lang="en-US" dirty="0"/>
              <a:t> (Variables)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lt-LT" dirty="0"/>
              <a:t>Laikini duomenų saugyklos vardai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t-LT" dirty="0">
                <a:solidFill>
                  <a:schemeClr val="accent6">
                    <a:lumMod val="50000"/>
                  </a:schemeClr>
                </a:solidFill>
              </a:rPr>
              <a:t>variable_name </a:t>
            </a:r>
            <a:r>
              <a:rPr lang="lt-LT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</a:rPr>
              <a:t>=</a:t>
            </a:r>
            <a:r>
              <a:rPr lang="lt-LT" dirty="0">
                <a:solidFill>
                  <a:schemeClr val="accent6">
                    <a:lumMod val="50000"/>
                  </a:schemeClr>
                </a:solidFill>
              </a:rPr>
              <a:t> value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t-LT" b="1" dirty="0"/>
              <a:t>Pavadinimo taisyklės:</a:t>
            </a:r>
          </a:p>
          <a:p>
            <a:pPr marL="0" indent="0">
              <a:buNone/>
            </a:pPr>
            <a:endParaRPr lang="lt-LT" dirty="0"/>
          </a:p>
          <a:p>
            <a:pPr marL="0" indent="0">
              <a:buNone/>
            </a:pPr>
            <a:r>
              <a:rPr lang="lt-LT" dirty="0"/>
              <a:t>Negali prasidėti skaičiumi</a:t>
            </a:r>
          </a:p>
          <a:p>
            <a:pPr marL="0" indent="0">
              <a:buNone/>
            </a:pPr>
            <a:endParaRPr lang="lt-LT" dirty="0"/>
          </a:p>
          <a:p>
            <a:pPr marL="0" indent="0">
              <a:buNone/>
            </a:pPr>
            <a:r>
              <a:rPr lang="lt-LT" dirty="0"/>
              <a:t>Gali būti raidės, skaičiai, pabraukimai ( data_analytics_2025_11_12</a:t>
            </a:r>
          </a:p>
          <a:p>
            <a:pPr marL="0" indent="0">
              <a:buNone/>
            </a:pPr>
            <a:r>
              <a:rPr lang="lt-LT" dirty="0"/>
              <a:t>)</a:t>
            </a:r>
          </a:p>
          <a:p>
            <a:pPr marL="0" indent="0">
              <a:buNone/>
            </a:pPr>
            <a:endParaRPr lang="lt-LT" dirty="0"/>
          </a:p>
          <a:p>
            <a:pPr marL="0" indent="0">
              <a:buNone/>
            </a:pPr>
            <a:r>
              <a:rPr lang="lt-LT" dirty="0"/>
              <a:t>Geriau naudoti aiškius vardus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A9140-DB67-0951-BFB5-54FB14866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731" y="1690688"/>
            <a:ext cx="3568986" cy="18096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Shape 1">
            <a:extLst>
              <a:ext uri="{FF2B5EF4-FFF2-40B4-BE49-F238E27FC236}">
                <a16:creationId xmlns:a16="http://schemas.microsoft.com/office/drawing/2014/main" id="{6C6FD7E5-E297-98FD-BD6C-CCFCA9331A59}"/>
              </a:ext>
            </a:extLst>
          </p:cNvPr>
          <p:cNvSpPr txBox="1"/>
          <p:nvPr/>
        </p:nvSpPr>
        <p:spPr>
          <a:xfrm>
            <a:off x="632640" y="6132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 dirty="0">
                <a:latin typeface="Arial"/>
                <a:ea typeface="Arial"/>
              </a:rPr>
              <a:t>1 paskaita. Kintamieji, if sąlyga</a:t>
            </a:r>
            <a:endParaRPr lang="lt-LT" sz="1300" b="0" strike="noStrike" spc="-1" dirty="0">
              <a:latin typeface="Arial"/>
            </a:endParaRPr>
          </a:p>
        </p:txBody>
      </p:sp>
      <p:sp>
        <p:nvSpPr>
          <p:cNvPr id="7" name="TextShape 2">
            <a:extLst>
              <a:ext uri="{FF2B5EF4-FFF2-40B4-BE49-F238E27FC236}">
                <a16:creationId xmlns:a16="http://schemas.microsoft.com/office/drawing/2014/main" id="{70EB83DA-9C12-C134-A8F9-DAF50645EF2E}"/>
              </a:ext>
            </a:extLst>
          </p:cNvPr>
          <p:cNvSpPr txBox="1"/>
          <p:nvPr/>
        </p:nvSpPr>
        <p:spPr>
          <a:xfrm>
            <a:off x="6096000" y="368166"/>
            <a:ext cx="5153400" cy="943308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pc="-1" dirty="0">
                <a:solidFill>
                  <a:srgbClr val="000000"/>
                </a:solidFill>
                <a:latin typeface="Arial"/>
              </a:rPr>
              <a:t>Matematinių veiksmų operatoriai </a:t>
            </a:r>
            <a:endParaRPr lang="lt-LT" sz="3000" b="1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56C845F-0D71-02B8-6DF9-D12788B15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74" y="1719430"/>
            <a:ext cx="4626633" cy="28875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7A55C7-37E9-5914-AD03-C71BC313E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235" y="1719430"/>
            <a:ext cx="3459736" cy="351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88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 dirty="0">
                <a:latin typeface="Arial"/>
                <a:ea typeface="Arial"/>
              </a:rPr>
              <a:t>1 paskaita. Kintamieji, if sąlyga</a:t>
            </a:r>
            <a:endParaRPr lang="lt-LT" sz="1300" b="0" strike="noStrike" spc="-1" dirty="0">
              <a:latin typeface="Arial"/>
            </a:endParaRPr>
          </a:p>
        </p:txBody>
      </p:sp>
      <p:sp>
        <p:nvSpPr>
          <p:cNvPr id="341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Sveikieji skaičiai – </a:t>
            </a:r>
            <a:r>
              <a:rPr lang="lt-LT" sz="3000" b="1" strike="noStrike" spc="-1" err="1">
                <a:solidFill>
                  <a:srgbClr val="000000"/>
                </a:solidFill>
                <a:latin typeface="Arial"/>
                <a:ea typeface="Arial"/>
              </a:rPr>
              <a:t>Integer</a:t>
            </a: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 (</a:t>
            </a:r>
            <a:r>
              <a:rPr lang="lt-LT" sz="3000" b="1" strike="noStrike" spc="-1" err="1">
                <a:solidFill>
                  <a:srgbClr val="000000"/>
                </a:solidFill>
                <a:latin typeface="Arial"/>
                <a:ea typeface="Arial"/>
              </a:rPr>
              <a:t>int</a:t>
            </a: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Picture 2"/>
          <p:cNvPicPr/>
          <p:nvPr/>
        </p:nvPicPr>
        <p:blipFill>
          <a:blip r:embed="rId3"/>
          <a:stretch/>
        </p:blipFill>
        <p:spPr>
          <a:xfrm>
            <a:off x="1993811" y="914040"/>
            <a:ext cx="1206589" cy="566664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Shape 2"/>
          <p:cNvSpPr txBox="1"/>
          <p:nvPr/>
        </p:nvSpPr>
        <p:spPr>
          <a:xfrm>
            <a:off x="6250680" y="3348000"/>
            <a:ext cx="5616000" cy="646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Skaičiai su kableliu – </a:t>
            </a:r>
            <a:r>
              <a:rPr lang="lt-LT" sz="3000" b="1" strike="noStrike" spc="-1" err="1">
                <a:solidFill>
                  <a:srgbClr val="000000"/>
                </a:solidFill>
                <a:latin typeface="Arial"/>
                <a:ea typeface="Arial"/>
              </a:rPr>
              <a:t>float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5" name="Picture 3"/>
          <p:cNvPicPr/>
          <p:nvPr/>
        </p:nvPicPr>
        <p:blipFill>
          <a:blip r:embed="rId3"/>
          <a:stretch/>
        </p:blipFill>
        <p:spPr>
          <a:xfrm>
            <a:off x="1784520" y="1528560"/>
            <a:ext cx="1476000" cy="1999800"/>
          </a:xfrm>
          <a:prstGeom prst="rect">
            <a:avLst/>
          </a:prstGeom>
          <a:ln>
            <a:noFill/>
          </a:ln>
        </p:spPr>
      </p:pic>
      <p:pic>
        <p:nvPicPr>
          <p:cNvPr id="346" name="Picture 4"/>
          <p:cNvPicPr/>
          <p:nvPr/>
        </p:nvPicPr>
        <p:blipFill>
          <a:blip r:embed="rId4"/>
          <a:stretch/>
        </p:blipFill>
        <p:spPr>
          <a:xfrm>
            <a:off x="1660680" y="4363920"/>
            <a:ext cx="1723680" cy="1590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Shape 2"/>
          <p:cNvSpPr txBox="1"/>
          <p:nvPr/>
        </p:nvSpPr>
        <p:spPr>
          <a:xfrm>
            <a:off x="6557760" y="3474720"/>
            <a:ext cx="5153400" cy="5551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Veiksmai su kintamaisiais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9" name="Picture 2"/>
          <p:cNvPicPr/>
          <p:nvPr/>
        </p:nvPicPr>
        <p:blipFill>
          <a:blip r:embed="rId3"/>
          <a:stretch/>
        </p:blipFill>
        <p:spPr>
          <a:xfrm>
            <a:off x="3398316" y="831310"/>
            <a:ext cx="1476000" cy="529596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251D8F-821B-0C10-7F33-DEB5FFF21C1E}"/>
                  </a:ext>
                </a:extLst>
              </p14:cNvPr>
              <p14:cNvContentPartPr/>
              <p14:nvPr/>
            </p14:nvContentPartPr>
            <p14:xfrm>
              <a:off x="4267080" y="5352930"/>
              <a:ext cx="63720" cy="83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251D8F-821B-0C10-7F33-DEB5FFF21C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60960" y="5346810"/>
                <a:ext cx="759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49049D-B1A6-D0F2-C5FA-0DE54FAEC1FB}"/>
                  </a:ext>
                </a:extLst>
              </p14:cNvPr>
              <p14:cNvContentPartPr/>
              <p14:nvPr/>
            </p14:nvContentPartPr>
            <p14:xfrm>
              <a:off x="4213440" y="5285610"/>
              <a:ext cx="17640" cy="104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49049D-B1A6-D0F2-C5FA-0DE54FAEC1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07320" y="5279490"/>
                <a:ext cx="29880" cy="11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EABF7CE8-B644-90D6-8BBF-BCE5AE7571E4}"/>
              </a:ext>
            </a:extLst>
          </p:cNvPr>
          <p:cNvGrpSpPr/>
          <p:nvPr/>
        </p:nvGrpSpPr>
        <p:grpSpPr>
          <a:xfrm>
            <a:off x="4228920" y="5432850"/>
            <a:ext cx="7920" cy="360"/>
            <a:chOff x="4228920" y="5432850"/>
            <a:chExt cx="792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B78D7C8-41FA-53A6-E472-4C81BA589F66}"/>
                    </a:ext>
                  </a:extLst>
                </p14:cNvPr>
                <p14:cNvContentPartPr/>
                <p14:nvPr/>
              </p14:nvContentPartPr>
              <p14:xfrm>
                <a:off x="4236480" y="543285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B78D7C8-41FA-53A6-E472-4C81BA589F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30360" y="54267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E09E42B-0998-1386-70CD-7C17E1AD17A8}"/>
                    </a:ext>
                  </a:extLst>
                </p14:cNvPr>
                <p14:cNvContentPartPr/>
                <p14:nvPr/>
              </p14:nvContentPartPr>
              <p14:xfrm>
                <a:off x="4228920" y="5432850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E09E42B-0998-1386-70CD-7C17E1AD17A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22800" y="54267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Shape 1"/>
          <p:cNvSpPr txBox="1"/>
          <p:nvPr/>
        </p:nvSpPr>
        <p:spPr>
          <a:xfrm>
            <a:off x="480240" y="1378620"/>
            <a:ext cx="4822920" cy="41007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Kintamųjų pavadinimų sudarymo taisyklės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Shape 2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000000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Shape 3"/>
          <p:cNvSpPr txBox="1"/>
          <p:nvPr/>
        </p:nvSpPr>
        <p:spPr>
          <a:xfrm>
            <a:off x="5080354" y="1485138"/>
            <a:ext cx="6217560" cy="50569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rmAutofit fontScale="895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Kintamųjų pavadinimai turi prasidėti raide arba pabraukimu, pvz: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_vardas 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vardas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Likusioji kintamojo dalis gali būti sudaryta iš raidžių, skaičių ir pabraukimų: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pirmas1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antras</a:t>
            </a:r>
            <a:r>
              <a:rPr lang="lt-LT" sz="16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</a:rPr>
              <a:t>_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skaicius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_e5786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Pavadinimuose svarbios didžiosios ir mažosios raidės: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Vardas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 ir </a:t>
            </a:r>
            <a:r>
              <a:rPr lang="lt-LT" sz="16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vardas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 būtų skirtingi kintamieji.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</a:rPr>
              <a:t>Kintamaisiais negali būti python raktiniai žodžiai:</a:t>
            </a:r>
            <a:endParaRPr lang="lt-LT" sz="1600" b="0" strike="noStrike" spc="-1" dirty="0">
              <a:solidFill>
                <a:srgbClr val="000000"/>
              </a:solidFill>
              <a:highlight>
                <a:srgbClr val="FFFF00"/>
              </a:highlight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</a:rPr>
              <a:t>'False', 'None', 'True', 'and', 'as', 'assert', 'async', 'await', 'break', 'class', 'continue', 'def', 'del', 'elif', 'else', 'except', 'finally', 'for', 'from', 'global', 'if', 'import', 'in', 'is', 'lambda', 'nonlocal', 'not', 'or', 'pass', 'raise', 'return', 'try', 'while', 'with', 'yield'</a:t>
            </a:r>
            <a:endParaRPr lang="lt-LT" sz="1600" b="0" strike="noStrike" spc="-1" dirty="0">
              <a:solidFill>
                <a:srgbClr val="000000"/>
              </a:solidFill>
              <a:highlight>
                <a:srgbClr val="FFFF00"/>
              </a:highlight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Python kalboje sudurtinius kintamųjų pavadinimus priimta sudarinėti taip: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first_block, vandens</a:t>
            </a:r>
            <a:r>
              <a:rPr lang="en-US" sz="1600" spc="-1" dirty="0">
                <a:solidFill>
                  <a:srgbClr val="000000"/>
                </a:solidFill>
                <a:latin typeface="Arial"/>
                <a:ea typeface="Arial"/>
              </a:rPr>
              <a:t>_</a:t>
            </a:r>
            <a:r>
              <a:rPr lang="lt-LT" sz="16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temperatur</a:t>
            </a:r>
            <a:r>
              <a:rPr lang="en-US" sz="1600" spc="-1" dirty="0" err="1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_bendrabutyje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 dirty="0">
                <a:latin typeface="Arial"/>
                <a:ea typeface="Arial"/>
              </a:rPr>
              <a:t>1 paskaita. Kintamieji, if sąlyga</a:t>
            </a:r>
            <a:r>
              <a:rPr lang="en-US" sz="1300" b="0" strike="noStrike" spc="-1" dirty="0">
                <a:latin typeface="Arial"/>
                <a:ea typeface="Arial"/>
              </a:rPr>
              <a:t>a</a:t>
            </a:r>
            <a:endParaRPr lang="lt-LT" sz="1300" b="0" strike="noStrike" spc="-1" dirty="0">
              <a:latin typeface="Arial"/>
            </a:endParaRPr>
          </a:p>
        </p:txBody>
      </p:sp>
      <p:sp>
        <p:nvSpPr>
          <p:cNvPr id="354" name="TextShape 2"/>
          <p:cNvSpPr txBox="1"/>
          <p:nvPr/>
        </p:nvSpPr>
        <p:spPr>
          <a:xfrm>
            <a:off x="6557760" y="3029760"/>
            <a:ext cx="51742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Paprastesnis veiksmų atlikimas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5" name="Picture 2"/>
          <p:cNvPicPr/>
          <p:nvPr/>
        </p:nvPicPr>
        <p:blipFill>
          <a:blip r:embed="rId3"/>
          <a:stretch/>
        </p:blipFill>
        <p:spPr>
          <a:xfrm>
            <a:off x="1982519" y="1746359"/>
            <a:ext cx="2014293" cy="4049757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D4FF1B-CBFC-6D2C-ABD6-E35876894008}"/>
              </a:ext>
            </a:extLst>
          </p:cNvPr>
          <p:cNvSpPr txBox="1"/>
          <p:nvPr/>
        </p:nvSpPr>
        <p:spPr>
          <a:xfrm>
            <a:off x="4800600" y="990511"/>
            <a:ext cx="18383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1800" b="1" dirty="0"/>
              <a:t>+</a:t>
            </a:r>
            <a:r>
              <a:rPr lang="en-US" sz="1800" b="1" dirty="0"/>
              <a:t>=</a:t>
            </a:r>
          </a:p>
          <a:p>
            <a:r>
              <a:rPr lang="en-US" sz="1800" b="1" dirty="0"/>
              <a:t>-=</a:t>
            </a:r>
          </a:p>
          <a:p>
            <a:r>
              <a:rPr lang="en-US" sz="1800" b="1" dirty="0"/>
              <a:t>*=</a:t>
            </a:r>
          </a:p>
          <a:p>
            <a:r>
              <a:rPr lang="en-US" sz="1800" b="1" dirty="0"/>
              <a:t>/=</a:t>
            </a:r>
            <a:endParaRPr lang="lt-LT" sz="18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Shape 2"/>
          <p:cNvSpPr txBox="1"/>
          <p:nvPr/>
        </p:nvSpPr>
        <p:spPr>
          <a:xfrm>
            <a:off x="7035840" y="3015000"/>
            <a:ext cx="3387960" cy="5425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Kėlimas laipsniu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8" name="Picture 2"/>
          <p:cNvPicPr/>
          <p:nvPr/>
        </p:nvPicPr>
        <p:blipFill>
          <a:blip r:embed="rId2"/>
          <a:stretch/>
        </p:blipFill>
        <p:spPr>
          <a:xfrm>
            <a:off x="1958760" y="1769760"/>
            <a:ext cx="1380600" cy="3028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Shape 2"/>
          <p:cNvSpPr txBox="1"/>
          <p:nvPr/>
        </p:nvSpPr>
        <p:spPr>
          <a:xfrm>
            <a:off x="4869721" y="19170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Sveikojo skaičiaus ir liekanos paieška (div/mod)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Picture 2"/>
          <p:cNvPicPr/>
          <p:nvPr/>
        </p:nvPicPr>
        <p:blipFill>
          <a:blip r:embed="rId2"/>
          <a:stretch/>
        </p:blipFill>
        <p:spPr>
          <a:xfrm>
            <a:off x="1428480" y="1414440"/>
            <a:ext cx="2666520" cy="4647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Shape 2"/>
          <p:cNvSpPr txBox="1"/>
          <p:nvPr/>
        </p:nvSpPr>
        <p:spPr>
          <a:xfrm>
            <a:off x="6698520" y="303156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Simbolių eilutės (String) tipas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4" name="Picture 2"/>
          <p:cNvPicPr/>
          <p:nvPr/>
        </p:nvPicPr>
        <p:blipFill>
          <a:blip r:embed="rId3"/>
          <a:stretch/>
        </p:blipFill>
        <p:spPr>
          <a:xfrm>
            <a:off x="1025280" y="1308240"/>
            <a:ext cx="3247560" cy="4438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Shape 2"/>
          <p:cNvSpPr txBox="1"/>
          <p:nvPr/>
        </p:nvSpPr>
        <p:spPr>
          <a:xfrm>
            <a:off x="6698520" y="303156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Nauja eilutė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" name="Picture 2"/>
          <p:cNvPicPr/>
          <p:nvPr/>
        </p:nvPicPr>
        <p:blipFill>
          <a:blip r:embed="rId2"/>
          <a:stretch/>
        </p:blipFill>
        <p:spPr>
          <a:xfrm>
            <a:off x="1072080" y="2600280"/>
            <a:ext cx="3266640" cy="1657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5602-9315-0A45-9F90-CCE2A47C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String methods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765B0B-6563-0839-CE8A-DCA4E386C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0505" y="2004535"/>
            <a:ext cx="5941157" cy="1999707"/>
          </a:xfrm>
        </p:spPr>
      </p:pic>
    </p:spTree>
    <p:extLst>
      <p:ext uri="{BB962C8B-B14F-4D97-AF65-F5344CB8AC3E}">
        <p14:creationId xmlns:p14="http://schemas.microsoft.com/office/powerpoint/2010/main" val="4133088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AD58-63C8-8899-EE6F-00BF1136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b="1" dirty="0"/>
              <a:t>Indeksai ir simbolių pasiekimas</a:t>
            </a:r>
            <a:br>
              <a:rPr lang="lt-LT" b="1" dirty="0"/>
            </a:br>
            <a:endParaRPr lang="lt-L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31BD3-CD78-0A05-ADAF-7A12E8570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Indeksai leidžia pasiekti konkrečius simbolius tekstuose ar elementus sąrašuose</a:t>
            </a:r>
          </a:p>
          <a:p>
            <a:r>
              <a:rPr lang="lt-LT" b="1" dirty="0">
                <a:solidFill>
                  <a:srgbClr val="FF0000"/>
                </a:solidFill>
              </a:rPr>
              <a:t>Indeksavimas prasideda nuo 0</a:t>
            </a:r>
          </a:p>
          <a:p>
            <a:pPr marL="0" indent="0">
              <a:buNone/>
            </a:pPr>
            <a:endParaRPr lang="lt-L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FE547-9C5A-59FF-A843-3BC5992D4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32" y="3644056"/>
            <a:ext cx="8623433" cy="209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405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FB8E-8042-EB34-276E-59DB18349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0"/>
            <a:ext cx="10515600" cy="1325563"/>
          </a:xfrm>
        </p:spPr>
        <p:txBody>
          <a:bodyPr/>
          <a:lstStyle/>
          <a:p>
            <a:r>
              <a:rPr lang="lt-LT" dirty="0"/>
              <a:t>Slicing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9ABB52-1176-2E16-4562-5620B9302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74" y="3896404"/>
            <a:ext cx="6139365" cy="228593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0586A3B-3877-F17D-842E-DCD2F85029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52774" y="781253"/>
            <a:ext cx="6838951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t-LT" altLang="lt-L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Bendroji forma:</a:t>
            </a: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tekstas</a:t>
            </a: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[start:stop:step]</a:t>
            </a:r>
            <a:endParaRPr kumimoji="0" lang="lt-LT" altLang="lt-L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</a:t>
            </a: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nuo kur pradėti (indeksas, įskaitant)</a:t>
            </a:r>
            <a:endParaRPr kumimoji="0" lang="lt-LT" altLang="lt-L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</a:t>
            </a: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iki kur (neįskaitant)</a:t>
            </a:r>
            <a:endParaRPr kumimoji="0" lang="lt-LT" altLang="lt-L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step</a:t>
            </a: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žingsnis (kiek pozicijų peršokti)</a:t>
            </a:r>
            <a:endParaRPr kumimoji="0" lang="en-US" altLang="lt-L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lt-LT" dirty="0">
                <a:solidFill>
                  <a:srgbClr val="FF0000"/>
                </a:solidFill>
                <a:latin typeface="Arial" panose="020B0604020202020204" pitchFamily="34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012345</a:t>
            </a:r>
            <a:endParaRPr kumimoji="0" lang="lt-LT" altLang="lt-L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t-LT" altLang="lt-L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1279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2400" b="0" strike="noStrike" spc="-1" dirty="0">
                <a:latin typeface="Arial"/>
                <a:ea typeface="Arial"/>
              </a:rPr>
              <a:t>Indeksai</a:t>
            </a:r>
            <a:endParaRPr lang="lt-LT" sz="2400" b="0" strike="noStrike" spc="-1" dirty="0">
              <a:latin typeface="Arial"/>
            </a:endParaRPr>
          </a:p>
        </p:txBody>
      </p:sp>
      <p:sp>
        <p:nvSpPr>
          <p:cNvPr id="369" name="TextShape 2"/>
          <p:cNvSpPr txBox="1"/>
          <p:nvPr/>
        </p:nvSpPr>
        <p:spPr>
          <a:xfrm>
            <a:off x="6698520" y="303156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Veiksmai su simbolių eilėmis (String) 1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0" name="Picture 2"/>
          <p:cNvPicPr/>
          <p:nvPr/>
        </p:nvPicPr>
        <p:blipFill>
          <a:blip r:embed="rId2"/>
          <a:stretch/>
        </p:blipFill>
        <p:spPr>
          <a:xfrm>
            <a:off x="239040" y="1583640"/>
            <a:ext cx="5359680" cy="585000"/>
          </a:xfrm>
          <a:prstGeom prst="rect">
            <a:avLst/>
          </a:prstGeom>
          <a:ln>
            <a:noFill/>
          </a:ln>
        </p:spPr>
      </p:pic>
      <p:pic>
        <p:nvPicPr>
          <p:cNvPr id="371" name="Picture 4"/>
          <p:cNvPicPr/>
          <p:nvPr/>
        </p:nvPicPr>
        <p:blipFill>
          <a:blip r:embed="rId3"/>
          <a:stretch/>
        </p:blipFill>
        <p:spPr>
          <a:xfrm>
            <a:off x="1399307" y="2418342"/>
            <a:ext cx="2648711" cy="4290682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4CE5D1-D77F-CBC8-1A61-A441671975E6}"/>
              </a:ext>
            </a:extLst>
          </p:cNvPr>
          <p:cNvSpPr txBox="1"/>
          <p:nvPr/>
        </p:nvSpPr>
        <p:spPr>
          <a:xfrm>
            <a:off x="5423774" y="4905028"/>
            <a:ext cx="2549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[start:stop:step]</a:t>
            </a:r>
            <a:endParaRPr kumimoji="0" lang="lt-LT" altLang="lt-L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Shape 2"/>
          <p:cNvSpPr txBox="1"/>
          <p:nvPr/>
        </p:nvSpPr>
        <p:spPr>
          <a:xfrm>
            <a:off x="6698520" y="303156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Veiksmai su simbolių eilėmis (String) 2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4" name="Picture 2"/>
          <p:cNvPicPr/>
          <p:nvPr/>
        </p:nvPicPr>
        <p:blipFill>
          <a:blip r:embed="rId2"/>
          <a:stretch/>
        </p:blipFill>
        <p:spPr>
          <a:xfrm>
            <a:off x="239040" y="1583640"/>
            <a:ext cx="5359680" cy="585000"/>
          </a:xfrm>
          <a:prstGeom prst="rect">
            <a:avLst/>
          </a:prstGeom>
          <a:ln>
            <a:noFill/>
          </a:ln>
        </p:spPr>
      </p:pic>
      <p:pic>
        <p:nvPicPr>
          <p:cNvPr id="375" name="Picture 3"/>
          <p:cNvPicPr/>
          <p:nvPr/>
        </p:nvPicPr>
        <p:blipFill>
          <a:blip r:embed="rId3"/>
          <a:stretch/>
        </p:blipFill>
        <p:spPr>
          <a:xfrm>
            <a:off x="1871280" y="2656440"/>
            <a:ext cx="2330850" cy="3740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Shape 2"/>
          <p:cNvSpPr txBox="1"/>
          <p:nvPr/>
        </p:nvSpPr>
        <p:spPr>
          <a:xfrm>
            <a:off x="6698520" y="303156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Veiksmai su simbolių eilėmis (String) 3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8" name="Picture 2"/>
          <p:cNvPicPr/>
          <p:nvPr/>
        </p:nvPicPr>
        <p:blipFill>
          <a:blip r:embed="rId3"/>
          <a:stretch/>
        </p:blipFill>
        <p:spPr>
          <a:xfrm>
            <a:off x="239040" y="1583640"/>
            <a:ext cx="5359680" cy="585000"/>
          </a:xfrm>
          <a:prstGeom prst="rect">
            <a:avLst/>
          </a:prstGeom>
          <a:ln>
            <a:noFill/>
          </a:ln>
        </p:spPr>
      </p:pic>
      <p:pic>
        <p:nvPicPr>
          <p:cNvPr id="379" name="Picture 2"/>
          <p:cNvPicPr/>
          <p:nvPr/>
        </p:nvPicPr>
        <p:blipFill>
          <a:blip r:embed="rId4"/>
          <a:stretch/>
        </p:blipFill>
        <p:spPr>
          <a:xfrm>
            <a:off x="1185480" y="2665440"/>
            <a:ext cx="3466800" cy="3552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Shape 2"/>
          <p:cNvSpPr txBox="1"/>
          <p:nvPr/>
        </p:nvSpPr>
        <p:spPr>
          <a:xfrm>
            <a:off x="7509681" y="2933280"/>
            <a:ext cx="4318525" cy="1034036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Geras būdas formuoti stringus iš kintamųjų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2" name="Picture 2"/>
          <p:cNvPicPr/>
          <p:nvPr/>
        </p:nvPicPr>
        <p:blipFill>
          <a:blip r:embed="rId3"/>
          <a:stretch/>
        </p:blipFill>
        <p:spPr>
          <a:xfrm>
            <a:off x="707923" y="1397072"/>
            <a:ext cx="6518972" cy="352060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Shape 2"/>
          <p:cNvSpPr txBox="1"/>
          <p:nvPr/>
        </p:nvSpPr>
        <p:spPr>
          <a:xfrm>
            <a:off x="6698520" y="303156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Veiksmai su skirtingais tipais (konvertavimas)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Picture 2"/>
          <p:cNvPicPr/>
          <p:nvPr/>
        </p:nvPicPr>
        <p:blipFill>
          <a:blip r:embed="rId2"/>
          <a:stretch/>
        </p:blipFill>
        <p:spPr>
          <a:xfrm>
            <a:off x="480240" y="1149300"/>
            <a:ext cx="6108144" cy="4559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Shape 2"/>
          <p:cNvSpPr txBox="1"/>
          <p:nvPr/>
        </p:nvSpPr>
        <p:spPr>
          <a:xfrm>
            <a:off x="6698520" y="303156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String kintamųjų įvedimas ir išvedimas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8" name="Picture 2"/>
          <p:cNvPicPr/>
          <p:nvPr/>
        </p:nvPicPr>
        <p:blipFill>
          <a:blip r:embed="rId2"/>
          <a:stretch/>
        </p:blipFill>
        <p:spPr>
          <a:xfrm>
            <a:off x="358920" y="2251800"/>
            <a:ext cx="5006160" cy="2502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Shape 2"/>
          <p:cNvSpPr txBox="1"/>
          <p:nvPr/>
        </p:nvSpPr>
        <p:spPr>
          <a:xfrm>
            <a:off x="6698520" y="303156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Integer, float kintamųjų įvedimas ir išvedimas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1" name="Picture 2"/>
          <p:cNvPicPr/>
          <p:nvPr/>
        </p:nvPicPr>
        <p:blipFill>
          <a:blip r:embed="rId2"/>
          <a:stretch/>
        </p:blipFill>
        <p:spPr>
          <a:xfrm>
            <a:off x="339840" y="2059920"/>
            <a:ext cx="4995000" cy="3144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chemeClr val="accent6">
                  <a:lumMod val="50000"/>
                </a:schemeClr>
              </a:solidFill>
              <a:latin typeface="Arial"/>
            </a:endParaRPr>
          </a:p>
        </p:txBody>
      </p:sp>
      <p:pic>
        <p:nvPicPr>
          <p:cNvPr id="393" name="Picture Placeholder 2"/>
          <p:cNvPicPr/>
          <p:nvPr/>
        </p:nvPicPr>
        <p:blipFill>
          <a:blip r:embed="rId2"/>
          <a:stretch/>
        </p:blipFill>
        <p:spPr>
          <a:xfrm>
            <a:off x="604800" y="1356150"/>
            <a:ext cx="11231640" cy="5003280"/>
          </a:xfrm>
          <a:prstGeom prst="rect">
            <a:avLst/>
          </a:prstGeom>
          <a:ln w="12600">
            <a:noFill/>
          </a:ln>
        </p:spPr>
      </p:pic>
      <p:pic>
        <p:nvPicPr>
          <p:cNvPr id="394" name="Picture 2"/>
          <p:cNvPicPr/>
          <p:nvPr/>
        </p:nvPicPr>
        <p:blipFill>
          <a:blip r:embed="rId3"/>
          <a:stretch/>
        </p:blipFill>
        <p:spPr>
          <a:xfrm>
            <a:off x="2414340" y="2390760"/>
            <a:ext cx="7362360" cy="3666600"/>
          </a:xfrm>
          <a:prstGeom prst="rect">
            <a:avLst/>
          </a:prstGeom>
          <a:ln>
            <a:noFill/>
          </a:ln>
        </p:spPr>
      </p:pic>
      <p:sp>
        <p:nvSpPr>
          <p:cNvPr id="395" name="CustomShape 2"/>
          <p:cNvSpPr/>
          <p:nvPr/>
        </p:nvSpPr>
        <p:spPr>
          <a:xfrm>
            <a:off x="3287880" y="430935"/>
            <a:ext cx="5621040" cy="704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4400" b="1" strike="noStrike" spc="-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</a:rPr>
              <a:t>Loginiai operatoriai</a:t>
            </a:r>
            <a:endParaRPr lang="lt-LT" sz="4400" b="0" strike="noStrike" spc="-1" dirty="0">
              <a:solidFill>
                <a:schemeClr val="accent6">
                  <a:lumMod val="5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Shape 2">
            <a:extLst>
              <a:ext uri="{FF2B5EF4-FFF2-40B4-BE49-F238E27FC236}">
                <a16:creationId xmlns:a16="http://schemas.microsoft.com/office/drawing/2014/main" id="{F39A949D-906C-469E-75CD-D9701CCBFE5B}"/>
              </a:ext>
            </a:extLst>
          </p:cNvPr>
          <p:cNvSpPr txBox="1"/>
          <p:nvPr/>
        </p:nvSpPr>
        <p:spPr>
          <a:xfrm>
            <a:off x="6698520" y="303156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lt-LT" sz="3000" b="1" spc="-1">
                <a:solidFill>
                  <a:srgbClr val="000000"/>
                </a:solidFill>
                <a:latin typeface="Arial"/>
              </a:rPr>
              <a:t>IF sąlygos taikymas</a:t>
            </a:r>
            <a:endParaRPr lang="en-US"/>
          </a:p>
        </p:txBody>
      </p:sp>
      <p:sp>
        <p:nvSpPr>
          <p:cNvPr id="7" name="TextShape 1">
            <a:extLst>
              <a:ext uri="{FF2B5EF4-FFF2-40B4-BE49-F238E27FC236}">
                <a16:creationId xmlns:a16="http://schemas.microsoft.com/office/drawing/2014/main" id="{8D3AC4D6-FA1A-75C7-AA24-F6AFA8BDFD27}"/>
              </a:ext>
            </a:extLst>
          </p:cNvPr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2790DBC8-18FF-5307-1AAB-F462C3EE3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74095"/>
            <a:ext cx="4065916" cy="515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01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veikslėlis 2" descr="Paveikslėlis, kuriame yra tekstas, ekrano kopija, diagram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6FFC5B3C-D256-456D-394E-9A614F7DE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86" y="1875212"/>
            <a:ext cx="4286848" cy="3724795"/>
          </a:xfrm>
          <a:prstGeom prst="rect">
            <a:avLst/>
          </a:prstGeom>
        </p:spPr>
      </p:pic>
      <p:pic>
        <p:nvPicPr>
          <p:cNvPr id="5" name="Paveikslėlis 4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EC416FF8-E188-ECB2-1A97-EAE9BE791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096" y="2190577"/>
            <a:ext cx="6296904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508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Shape 2"/>
          <p:cNvSpPr txBox="1"/>
          <p:nvPr/>
        </p:nvSpPr>
        <p:spPr>
          <a:xfrm>
            <a:off x="6698520" y="303156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Jeigu (IF) [sąlyga], tuomet [veiksmas]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8" name="Picture 2"/>
          <p:cNvPicPr/>
          <p:nvPr/>
        </p:nvPicPr>
        <p:blipFill>
          <a:blip r:embed="rId2"/>
          <a:stretch/>
        </p:blipFill>
        <p:spPr>
          <a:xfrm>
            <a:off x="480240" y="2158996"/>
            <a:ext cx="4749306" cy="3358225"/>
          </a:xfrm>
          <a:prstGeom prst="rect">
            <a:avLst/>
          </a:prstGeom>
          <a:ln>
            <a:noFill/>
          </a:ln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016F632-C61A-AC7C-AC72-56AF132C72ED}"/>
              </a:ext>
            </a:extLst>
          </p:cNvPr>
          <p:cNvCxnSpPr>
            <a:cxnSpLocks/>
          </p:cNvCxnSpPr>
          <p:nvPr/>
        </p:nvCxnSpPr>
        <p:spPr>
          <a:xfrm flipH="1">
            <a:off x="6389131" y="1248039"/>
            <a:ext cx="1288019" cy="320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Shape 2"/>
          <p:cNvSpPr txBox="1"/>
          <p:nvPr/>
        </p:nvSpPr>
        <p:spPr>
          <a:xfrm>
            <a:off x="6698520" y="3031560"/>
            <a:ext cx="517428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Jeigu (IF) [sąlyga], tuomet [veiksmas]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1" name="Picture 2"/>
          <p:cNvPicPr/>
          <p:nvPr/>
        </p:nvPicPr>
        <p:blipFill>
          <a:blip r:embed="rId2"/>
          <a:stretch/>
        </p:blipFill>
        <p:spPr>
          <a:xfrm>
            <a:off x="660960" y="1052280"/>
            <a:ext cx="4285800" cy="5400360"/>
          </a:xfrm>
          <a:prstGeom prst="rect">
            <a:avLst/>
          </a:prstGeom>
          <a:ln>
            <a:noFill/>
          </a:ln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B0CA5F8-1659-2C18-B25A-4CAB278ECCA2}"/>
              </a:ext>
            </a:extLst>
          </p:cNvPr>
          <p:cNvCxnSpPr>
            <a:cxnSpLocks/>
          </p:cNvCxnSpPr>
          <p:nvPr/>
        </p:nvCxnSpPr>
        <p:spPr>
          <a:xfrm flipH="1">
            <a:off x="7245242" y="891660"/>
            <a:ext cx="3432083" cy="321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Shape 2"/>
          <p:cNvSpPr txBox="1"/>
          <p:nvPr/>
        </p:nvSpPr>
        <p:spPr>
          <a:xfrm>
            <a:off x="6400800" y="3031560"/>
            <a:ext cx="547200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Sąlyga ELSE (jei ne, tuomet)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4" name="Picture 2"/>
          <p:cNvPicPr/>
          <p:nvPr/>
        </p:nvPicPr>
        <p:blipFill>
          <a:blip r:embed="rId2"/>
          <a:stretch/>
        </p:blipFill>
        <p:spPr>
          <a:xfrm>
            <a:off x="480240" y="2713397"/>
            <a:ext cx="4445280" cy="2108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Shape 2"/>
          <p:cNvSpPr txBox="1"/>
          <p:nvPr/>
        </p:nvSpPr>
        <p:spPr>
          <a:xfrm>
            <a:off x="6400800" y="3031560"/>
            <a:ext cx="547200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Sąlyga ELIF (jei sąlyga netenkinama ir jei)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7" name="Picture 2"/>
          <p:cNvPicPr/>
          <p:nvPr/>
        </p:nvPicPr>
        <p:blipFill>
          <a:blip r:embed="rId2"/>
          <a:stretch/>
        </p:blipFill>
        <p:spPr>
          <a:xfrm>
            <a:off x="326880" y="1829880"/>
            <a:ext cx="4959000" cy="381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veikslėlis 2" descr="Paveikslėlis, kuriame yra tekstas, ekrano kopija, diagram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D08A82AC-EC41-CEA2-1868-DA4559C4C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1" y="1670420"/>
            <a:ext cx="5763429" cy="3791479"/>
          </a:xfrm>
          <a:prstGeom prst="rect">
            <a:avLst/>
          </a:prstGeom>
        </p:spPr>
      </p:pic>
      <p:pic>
        <p:nvPicPr>
          <p:cNvPr id="5" name="Paveikslėlis 4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BACCDA56-C2C4-CEEE-4EF5-D4A632C9F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991" y="1670420"/>
            <a:ext cx="5973009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343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3D775371-65C6-2827-95EC-B6DFDCAC06A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510684" y="312210"/>
            <a:ext cx="5615280" cy="453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Nested if statements</a:t>
            </a:r>
            <a:endParaRPr lang="lt-LT" dirty="0"/>
          </a:p>
        </p:txBody>
      </p:sp>
      <p:pic>
        <p:nvPicPr>
          <p:cNvPr id="5" name="Paveikslėlis 4" descr="Paveikslėlis, kuriame yra tekstas, ekrano kopija, diagram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7D908546-DD1B-CC1F-809E-DD8D3F11E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16" y="1659906"/>
            <a:ext cx="5611008" cy="4315427"/>
          </a:xfrm>
          <a:prstGeom prst="rect">
            <a:avLst/>
          </a:prstGeom>
        </p:spPr>
      </p:pic>
      <p:pic>
        <p:nvPicPr>
          <p:cNvPr id="7" name="Paveikslėlis 6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D24741E3-B2A9-0CF1-F941-F217B5D8C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307" y="1343793"/>
            <a:ext cx="5858693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427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Shape 1"/>
          <p:cNvSpPr txBox="1"/>
          <p:nvPr/>
        </p:nvSpPr>
        <p:spPr>
          <a:xfrm>
            <a:off x="420307" y="400868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</a:t>
            </a:r>
            <a:r>
              <a:rPr lang="lt-LT" sz="1300" b="0" strike="noStrike" spc="-1" err="1">
                <a:solidFill>
                  <a:srgbClr val="FEFFFF"/>
                </a:solidFill>
                <a:latin typeface="Arial"/>
                <a:ea typeface="Arial"/>
              </a:rPr>
              <a:t>if</a:t>
            </a: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Shape 2"/>
          <p:cNvSpPr txBox="1"/>
          <p:nvPr/>
        </p:nvSpPr>
        <p:spPr>
          <a:xfrm>
            <a:off x="6400800" y="1540440"/>
            <a:ext cx="5472000" cy="99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Kodo komentavimas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Shape 3"/>
          <p:cNvSpPr txBox="1"/>
          <p:nvPr/>
        </p:nvSpPr>
        <p:spPr>
          <a:xfrm>
            <a:off x="6479280" y="3638520"/>
            <a:ext cx="5315040" cy="901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Komentuota eilutė (PyCharm programoje – CTRL+/)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Komentuota pastraipa (Doctrings)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1" name="Picture 2"/>
          <p:cNvPicPr/>
          <p:nvPr/>
        </p:nvPicPr>
        <p:blipFill>
          <a:blip r:embed="rId3"/>
          <a:stretch/>
        </p:blipFill>
        <p:spPr>
          <a:xfrm>
            <a:off x="1265040" y="2514600"/>
            <a:ext cx="2752200" cy="762856"/>
          </a:xfrm>
          <a:prstGeom prst="rect">
            <a:avLst/>
          </a:prstGeom>
          <a:ln>
            <a:noFill/>
          </a:ln>
        </p:spPr>
      </p:pic>
      <p:pic>
        <p:nvPicPr>
          <p:cNvPr id="412" name="Picture 3"/>
          <p:cNvPicPr/>
          <p:nvPr/>
        </p:nvPicPr>
        <p:blipFill>
          <a:blip r:embed="rId4"/>
          <a:stretch/>
        </p:blipFill>
        <p:spPr>
          <a:xfrm>
            <a:off x="1174680" y="3946320"/>
            <a:ext cx="2752200" cy="1018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4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415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416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1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417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418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000" rIns="9144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Parašyti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kod</a:t>
            </a: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ą, kuris:</a:t>
            </a:r>
            <a:endParaRPr lang="lt-LT" sz="1400" b="0" strike="noStrike" spc="-1" dirty="0">
              <a:latin typeface="Arial"/>
            </a:endParaRPr>
          </a:p>
          <a:p>
            <a:pPr marL="285750" indent="-285115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Leistų įvesti skaičius a ir b (int arba float)</a:t>
            </a:r>
            <a:endParaRPr lang="lt-LT" sz="1400" b="0" strike="noStrike" spc="-1" dirty="0">
              <a:latin typeface="Arial"/>
            </a:endParaRPr>
          </a:p>
          <a:p>
            <a:pPr marL="285750" indent="-285115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Išvestų į ekraną „a mažesnis už b“, jei taip yra</a:t>
            </a:r>
            <a:endParaRPr lang="lt-LT" sz="1400" b="0" strike="noStrike" spc="-1" dirty="0">
              <a:latin typeface="Arial"/>
            </a:endParaRPr>
          </a:p>
          <a:p>
            <a:pPr marL="285750" indent="-285115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Išvestų į ekraną „a lygu b“, jei taip yra</a:t>
            </a:r>
            <a:endParaRPr lang="lt-LT" sz="1400" b="0" strike="noStrike" spc="-1" dirty="0">
              <a:latin typeface="Arial"/>
            </a:endParaRPr>
          </a:p>
          <a:p>
            <a:pPr marL="285750" indent="-285115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Išvestų į ekraną „a didesnis už b“, jei taip yra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Patarimas: naudoti input,  if, elif, </a:t>
            </a:r>
            <a:r>
              <a:rPr lang="lt-LT" sz="1400" spc="-1" dirty="0">
                <a:solidFill>
                  <a:srgbClr val="000000"/>
                </a:solidFill>
                <a:latin typeface="Arial"/>
                <a:ea typeface="Arial"/>
              </a:rPr>
              <a:t>else</a:t>
            </a: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sąlygas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0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421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422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2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423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424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Parašyti kodą, kuris su eilute "Zen of Python" darytų šiuos veiksmus: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 paskutinį antro žodžio simbolį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 pirmą trečio žodžio simbolį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 tik pirmą žodį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 tik paskutinį žodį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 visą frazę atbulai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Atskirtų žodžius ir juos atspausdintų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Žodį "Python" pakeistų į "Programming" ir atspausdintų naują sakinį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Patarimas: naudoti string karpymo įrankius, funkcijas split(), replace()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 Zen of Python: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3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434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435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3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436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437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Programoje išbandyti daugiau </a:t>
            </a:r>
            <a:r>
              <a:rPr lang="lt-LT" sz="14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string</a:t>
            </a: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 funkcijų: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upper</a:t>
            </a: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()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casefold</a:t>
            </a: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()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capitalize</a:t>
            </a: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()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count</a:t>
            </a: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()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find</a:t>
            </a: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()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ir t.t.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Visas jas galite rasti čia: </a:t>
            </a:r>
            <a:r>
              <a:rPr lang="lt-LT" sz="1400" b="0" u="sng" strike="noStrike" spc="-1" dirty="0">
                <a:solidFill>
                  <a:srgbClr val="0000FF"/>
                </a:solidFill>
                <a:uFillTx/>
                <a:latin typeface="Arial"/>
                <a:ea typeface="Arial"/>
                <a:hlinkClick r:id="rId3"/>
              </a:rPr>
              <a:t>https://www.w3schools.com/python/python_ref_string.asp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1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9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440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441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4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442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443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Parašyti programą, kuri: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Leistų įvesti pirmą skaičių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Leistų įvesti antrą skaičių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Paklaustų, kokį matematinį veiksmą reiktų atliktų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 rezultatą: pasirinktų skaičių suma, daugybą ar pan.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Patarimas: naudoti input(), if, print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2e3587-765d-4918-9d92-5b93275042d2">
      <Terms xmlns="http://schemas.microsoft.com/office/infopath/2007/PartnerControls"/>
    </lcf76f155ced4ddcb4097134ff3c332f>
    <TaxCatchAll xmlns="eb74e56a-683e-4ac4-9917-2810b22b5cab" xsi:nil="true"/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AppVersion xmlns="662e3587-765d-4918-9d92-5b93275042d2">14.0000</AppVersion>
    <Self_Registration_Enabled xmlns="662e3587-765d-4918-9d92-5b93275042d2" xsi:nil="true"/>
    <Has_Teacher_Only_SectionGroup xmlns="662e3587-765d-4918-9d92-5b93275042d2" xsi:nil="true"/>
    <Students xmlns="662e3587-765d-4918-9d92-5b93275042d2">
      <UserInfo>
        <DisplayName/>
        <AccountId xsi:nil="true"/>
        <AccountType/>
      </UserInfo>
    </Student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3BF785-2442-494E-927E-DCC7CFA28F12}">
  <ds:schemaRefs>
    <ds:schemaRef ds:uri="104a4518-6d7d-4713-9441-78c717dc30bb"/>
    <ds:schemaRef ds:uri="2c031f6a-1ceb-40a9-a6f7-98255c09e471"/>
    <ds:schemaRef ds:uri="c7f19ac9-9829-4b61-9f34-52c1422b396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62e3587-765d-4918-9d92-5b93275042d2"/>
    <ds:schemaRef ds:uri="eb74e56a-683e-4ac4-9917-2810b22b5cab"/>
  </ds:schemaRefs>
</ds:datastoreItem>
</file>

<file path=customXml/itemProps2.xml><?xml version="1.0" encoding="utf-8"?>
<ds:datastoreItem xmlns:ds="http://schemas.openxmlformats.org/officeDocument/2006/customXml" ds:itemID="{DD7463BF-AA13-45A0-A90C-F30479B804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2e3587-765d-4918-9d92-5b93275042d2"/>
    <ds:schemaRef ds:uri="eb74e56a-683e-4ac4-9917-2810b22b5c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09200B-3DA9-4FA2-8815-9C8874C45B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2644</TotalTime>
  <Words>1614</Words>
  <Application>Microsoft Office PowerPoint</Application>
  <PresentationFormat>Widescreen</PresentationFormat>
  <Paragraphs>252</Paragraphs>
  <Slides>47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MUTABILITY</vt:lpstr>
      <vt:lpstr>ITERABLES</vt:lpstr>
      <vt:lpstr> print() - išveda į ekraną input() - įveda reikšmę iš vartotojo type() - grąžina tipą len() - grąžina simbolių kiekį </vt:lpstr>
      <vt:lpstr>Kintamieji (Variables)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String methods</vt:lpstr>
      <vt:lpstr>Indeksai ir simbolių pasiekimas </vt:lpstr>
      <vt:lpstr>Slicing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Gediminas Anza</dc:creator>
  <dc:description/>
  <cp:lastModifiedBy>Žydrūnė Kelpšaitė</cp:lastModifiedBy>
  <cp:revision>6</cp:revision>
  <dcterms:modified xsi:type="dcterms:W3CDTF">2026-01-20T16:57:43Z</dcterms:modified>
  <dc:language>lt-LT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31</vt:i4>
  </property>
  <property fmtid="{D5CDD505-2E9C-101B-9397-08002B2CF9AE}" pid="12" name="ContentTypeId">
    <vt:lpwstr>0x010100753C69E30CD2E346B0231A1827D4E953</vt:lpwstr>
  </property>
  <property fmtid="{D5CDD505-2E9C-101B-9397-08002B2CF9AE}" pid="13" name="MediaServiceImageTags">
    <vt:lpwstr/>
  </property>
</Properties>
</file>