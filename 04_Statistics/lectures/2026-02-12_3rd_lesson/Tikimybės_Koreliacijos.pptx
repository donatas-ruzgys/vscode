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8"/>
  </p:notesMasterIdLst>
  <p:sldIdLst>
    <p:sldId id="256" r:id="rId5"/>
    <p:sldId id="257" r:id="rId6"/>
    <p:sldId id="268" r:id="rId7"/>
    <p:sldId id="261" r:id="rId8"/>
    <p:sldId id="274" r:id="rId9"/>
    <p:sldId id="275" r:id="rId10"/>
    <p:sldId id="276" r:id="rId11"/>
    <p:sldId id="287" r:id="rId12"/>
    <p:sldId id="260" r:id="rId13"/>
    <p:sldId id="277" r:id="rId14"/>
    <p:sldId id="262" r:id="rId15"/>
    <p:sldId id="264" r:id="rId16"/>
    <p:sldId id="265" r:id="rId17"/>
    <p:sldId id="278" r:id="rId18"/>
    <p:sldId id="266" r:id="rId19"/>
    <p:sldId id="267" r:id="rId20"/>
    <p:sldId id="299" r:id="rId21"/>
    <p:sldId id="300" r:id="rId22"/>
    <p:sldId id="301" r:id="rId23"/>
    <p:sldId id="302" r:id="rId24"/>
    <p:sldId id="269" r:id="rId25"/>
    <p:sldId id="270" r:id="rId26"/>
    <p:sldId id="279" r:id="rId27"/>
    <p:sldId id="272" r:id="rId28"/>
    <p:sldId id="286" r:id="rId29"/>
    <p:sldId id="280" r:id="rId30"/>
    <p:sldId id="281" r:id="rId31"/>
    <p:sldId id="282" r:id="rId32"/>
    <p:sldId id="271" r:id="rId33"/>
    <p:sldId id="283" r:id="rId34"/>
    <p:sldId id="284" r:id="rId35"/>
    <p:sldId id="285" r:id="rId36"/>
    <p:sldId id="273" r:id="rId37"/>
    <p:sldId id="289" r:id="rId38"/>
    <p:sldId id="290" r:id="rId39"/>
    <p:sldId id="291" r:id="rId40"/>
    <p:sldId id="292" r:id="rId41"/>
    <p:sldId id="293" r:id="rId42"/>
    <p:sldId id="294" r:id="rId43"/>
    <p:sldId id="295" r:id="rId44"/>
    <p:sldId id="297" r:id="rId45"/>
    <p:sldId id="298" r:id="rId46"/>
    <p:sldId id="29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Vidutinis stilius 2 – paryškinima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Be stiliaus, lentelės tinklelis">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102" d="100"/>
          <a:sy n="102" d="100"/>
        </p:scale>
        <p:origin x="91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Žydrūnė Kelpšaitė" userId="e943768126acec1d" providerId="LiveId" clId="{31712FD7-FA85-48BA-9D35-5382388CFC74}"/>
    <pc:docChg chg="undo custSel addSld delSld modSld">
      <pc:chgData name="Žydrūnė Kelpšaitė" userId="e943768126acec1d" providerId="LiveId" clId="{31712FD7-FA85-48BA-9D35-5382388CFC74}" dt="2026-02-11T12:32:55.985" v="517" actId="13926"/>
      <pc:docMkLst>
        <pc:docMk/>
      </pc:docMkLst>
      <pc:sldChg chg="addSp modSp mod modAnim">
        <pc:chgData name="Žydrūnė Kelpšaitė" userId="e943768126acec1d" providerId="LiveId" clId="{31712FD7-FA85-48BA-9D35-5382388CFC74}" dt="2026-01-21T06:34:15.504" v="249" actId="113"/>
        <pc:sldMkLst>
          <pc:docMk/>
          <pc:sldMk cId="823180301" sldId="256"/>
        </pc:sldMkLst>
        <pc:spChg chg="mod">
          <ac:chgData name="Žydrūnė Kelpšaitė" userId="e943768126acec1d" providerId="LiveId" clId="{31712FD7-FA85-48BA-9D35-5382388CFC74}" dt="2026-01-21T06:34:15.504" v="249" actId="113"/>
          <ac:spMkLst>
            <pc:docMk/>
            <pc:sldMk cId="823180301" sldId="256"/>
            <ac:spMk id="2" creationId="{C56E4BE9-D444-9F29-0C60-6023ED3FA0E3}"/>
          </ac:spMkLst>
        </pc:spChg>
        <pc:spChg chg="add mod">
          <ac:chgData name="Žydrūnė Kelpšaitė" userId="e943768126acec1d" providerId="LiveId" clId="{31712FD7-FA85-48BA-9D35-5382388CFC74}" dt="2026-01-21T06:34:09.211" v="248" actId="255"/>
          <ac:spMkLst>
            <pc:docMk/>
            <pc:sldMk cId="823180301" sldId="256"/>
            <ac:spMk id="3" creationId="{553BA43F-15B4-7623-1577-00920D2F92CC}"/>
          </ac:spMkLst>
        </pc:spChg>
      </pc:sldChg>
      <pc:sldChg chg="modSp mod">
        <pc:chgData name="Žydrūnė Kelpšaitė" userId="e943768126acec1d" providerId="LiveId" clId="{31712FD7-FA85-48BA-9D35-5382388CFC74}" dt="2026-02-11T11:44:01.073" v="508" actId="13926"/>
        <pc:sldMkLst>
          <pc:docMk/>
          <pc:sldMk cId="505367610" sldId="257"/>
        </pc:sldMkLst>
        <pc:spChg chg="mod">
          <ac:chgData name="Žydrūnė Kelpšaitė" userId="e943768126acec1d" providerId="LiveId" clId="{31712FD7-FA85-48BA-9D35-5382388CFC74}" dt="2026-01-20T17:45:57.548" v="2" actId="20577"/>
          <ac:spMkLst>
            <pc:docMk/>
            <pc:sldMk cId="505367610" sldId="257"/>
            <ac:spMk id="2" creationId="{662AE32D-4B70-012D-0F22-CD86135AA7E3}"/>
          </ac:spMkLst>
        </pc:spChg>
        <pc:spChg chg="mod">
          <ac:chgData name="Žydrūnė Kelpšaitė" userId="e943768126acec1d" providerId="LiveId" clId="{31712FD7-FA85-48BA-9D35-5382388CFC74}" dt="2026-02-11T11:44:01.073" v="508" actId="13926"/>
          <ac:spMkLst>
            <pc:docMk/>
            <pc:sldMk cId="505367610" sldId="257"/>
            <ac:spMk id="3" creationId="{8DF61948-D2F6-FF6C-3DF6-7EBD028DFA21}"/>
          </ac:spMkLst>
        </pc:spChg>
      </pc:sldChg>
      <pc:sldChg chg="modSp mod">
        <pc:chgData name="Žydrūnė Kelpšaitė" userId="e943768126acec1d" providerId="LiveId" clId="{31712FD7-FA85-48BA-9D35-5382388CFC74}" dt="2026-02-11T11:53:17.971" v="510" actId="1076"/>
        <pc:sldMkLst>
          <pc:docMk/>
          <pc:sldMk cId="3377360691" sldId="260"/>
        </pc:sldMkLst>
        <pc:spChg chg="mod">
          <ac:chgData name="Žydrūnė Kelpšaitė" userId="e943768126acec1d" providerId="LiveId" clId="{31712FD7-FA85-48BA-9D35-5382388CFC74}" dt="2026-01-21T08:05:18.512" v="471" actId="113"/>
          <ac:spMkLst>
            <pc:docMk/>
            <pc:sldMk cId="3377360691" sldId="260"/>
            <ac:spMk id="3" creationId="{E5490FEA-BFB3-94AE-379E-32E9C29D44D5}"/>
          </ac:spMkLst>
        </pc:spChg>
        <pc:picChg chg="mod">
          <ac:chgData name="Žydrūnė Kelpšaitė" userId="e943768126acec1d" providerId="LiveId" clId="{31712FD7-FA85-48BA-9D35-5382388CFC74}" dt="2026-02-11T11:53:17.971" v="510" actId="1076"/>
          <ac:picMkLst>
            <pc:docMk/>
            <pc:sldMk cId="3377360691" sldId="260"/>
            <ac:picMk id="5" creationId="{0C05CB34-D4B3-F8A8-C532-AFEA2EB85BE3}"/>
          </ac:picMkLst>
        </pc:picChg>
      </pc:sldChg>
      <pc:sldChg chg="modSp mod">
        <pc:chgData name="Žydrūnė Kelpšaitė" userId="e943768126acec1d" providerId="LiveId" clId="{31712FD7-FA85-48BA-9D35-5382388CFC74}" dt="2026-01-21T06:36:32.535" v="271" actId="113"/>
        <pc:sldMkLst>
          <pc:docMk/>
          <pc:sldMk cId="3700420246" sldId="261"/>
        </pc:sldMkLst>
        <pc:spChg chg="mod">
          <ac:chgData name="Žydrūnė Kelpšaitė" userId="e943768126acec1d" providerId="LiveId" clId="{31712FD7-FA85-48BA-9D35-5382388CFC74}" dt="2026-01-21T06:36:32.535" v="271" actId="113"/>
          <ac:spMkLst>
            <pc:docMk/>
            <pc:sldMk cId="3700420246" sldId="261"/>
            <ac:spMk id="3" creationId="{E0816E7C-080E-69A6-05CC-518F4D659DAD}"/>
          </ac:spMkLst>
        </pc:spChg>
      </pc:sldChg>
      <pc:sldChg chg="addSp modSp mod">
        <pc:chgData name="Žydrūnė Kelpšaitė" userId="e943768126acec1d" providerId="LiveId" clId="{31712FD7-FA85-48BA-9D35-5382388CFC74}" dt="2026-02-11T12:01:50.042" v="511" actId="113"/>
        <pc:sldMkLst>
          <pc:docMk/>
          <pc:sldMk cId="1481519608" sldId="262"/>
        </pc:sldMkLst>
        <pc:spChg chg="mod">
          <ac:chgData name="Žydrūnė Kelpšaitė" userId="e943768126acec1d" providerId="LiveId" clId="{31712FD7-FA85-48BA-9D35-5382388CFC74}" dt="2026-01-21T06:49:51.168" v="338" actId="14100"/>
          <ac:spMkLst>
            <pc:docMk/>
            <pc:sldMk cId="1481519608" sldId="262"/>
            <ac:spMk id="2" creationId="{10F1CBED-1639-AC1D-E4F5-C0D006F47B11}"/>
          </ac:spMkLst>
        </pc:spChg>
        <pc:spChg chg="add mod">
          <ac:chgData name="Žydrūnė Kelpšaitė" userId="e943768126acec1d" providerId="LiveId" clId="{31712FD7-FA85-48BA-9D35-5382388CFC74}" dt="2026-02-11T12:01:50.042" v="511" actId="113"/>
          <ac:spMkLst>
            <pc:docMk/>
            <pc:sldMk cId="1481519608" sldId="262"/>
            <ac:spMk id="4" creationId="{61555FB8-F80C-1CE5-A8CF-8E404F9C42DB}"/>
          </ac:spMkLst>
        </pc:spChg>
        <pc:picChg chg="mod">
          <ac:chgData name="Žydrūnė Kelpšaitė" userId="e943768126acec1d" providerId="LiveId" clId="{31712FD7-FA85-48BA-9D35-5382388CFC74}" dt="2026-01-20T18:27:42.522" v="61" actId="1076"/>
          <ac:picMkLst>
            <pc:docMk/>
            <pc:sldMk cId="1481519608" sldId="262"/>
            <ac:picMk id="5" creationId="{092F3BD8-A906-7269-1446-1F8D55C58432}"/>
          </ac:picMkLst>
        </pc:picChg>
      </pc:sldChg>
      <pc:sldChg chg="modSp mod">
        <pc:chgData name="Žydrūnė Kelpšaitė" userId="e943768126acec1d" providerId="LiveId" clId="{31712FD7-FA85-48BA-9D35-5382388CFC74}" dt="2026-01-20T18:33:32.477" v="82" actId="1076"/>
        <pc:sldMkLst>
          <pc:docMk/>
          <pc:sldMk cId="2122811949" sldId="264"/>
        </pc:sldMkLst>
        <pc:spChg chg="mod">
          <ac:chgData name="Žydrūnė Kelpšaitė" userId="e943768126acec1d" providerId="LiveId" clId="{31712FD7-FA85-48BA-9D35-5382388CFC74}" dt="2026-01-20T18:33:30.407" v="81" actId="27636"/>
          <ac:spMkLst>
            <pc:docMk/>
            <pc:sldMk cId="2122811949" sldId="264"/>
            <ac:spMk id="3" creationId="{79A23766-11AB-23B9-0459-B0187E8A8D8A}"/>
          </ac:spMkLst>
        </pc:spChg>
        <pc:picChg chg="mod">
          <ac:chgData name="Žydrūnė Kelpšaitė" userId="e943768126acec1d" providerId="LiveId" clId="{31712FD7-FA85-48BA-9D35-5382388CFC74}" dt="2026-01-20T18:33:32.477" v="82" actId="1076"/>
          <ac:picMkLst>
            <pc:docMk/>
            <pc:sldMk cId="2122811949" sldId="264"/>
            <ac:picMk id="5" creationId="{76C8EBAA-C463-C53E-771E-7A1EF74D7426}"/>
          </ac:picMkLst>
        </pc:picChg>
      </pc:sldChg>
      <pc:sldChg chg="addSp delSp modSp mod">
        <pc:chgData name="Žydrūnė Kelpšaitė" userId="e943768126acec1d" providerId="LiveId" clId="{31712FD7-FA85-48BA-9D35-5382388CFC74}" dt="2026-01-21T06:50:18.019" v="341" actId="113"/>
        <pc:sldMkLst>
          <pc:docMk/>
          <pc:sldMk cId="2932901355" sldId="265"/>
        </pc:sldMkLst>
        <pc:spChg chg="add mod">
          <ac:chgData name="Žydrūnė Kelpšaitė" userId="e943768126acec1d" providerId="LiveId" clId="{31712FD7-FA85-48BA-9D35-5382388CFC74}" dt="2026-01-21T06:50:18.019" v="341" actId="113"/>
          <ac:spMkLst>
            <pc:docMk/>
            <pc:sldMk cId="2932901355" sldId="265"/>
            <ac:spMk id="5" creationId="{4926DD6F-FA43-8B78-B3E2-73EB9DA5E0D9}"/>
          </ac:spMkLst>
        </pc:spChg>
      </pc:sldChg>
      <pc:sldChg chg="addSp delSp modSp mod">
        <pc:chgData name="Žydrūnė Kelpšaitė" userId="e943768126acec1d" providerId="LiveId" clId="{31712FD7-FA85-48BA-9D35-5382388CFC74}" dt="2026-01-20T18:40:00.264" v="109" actId="113"/>
        <pc:sldMkLst>
          <pc:docMk/>
          <pc:sldMk cId="3375750935" sldId="266"/>
        </pc:sldMkLst>
        <pc:spChg chg="mod">
          <ac:chgData name="Žydrūnė Kelpšaitė" userId="e943768126acec1d" providerId="LiveId" clId="{31712FD7-FA85-48BA-9D35-5382388CFC74}" dt="2026-01-20T18:37:54.252" v="101"/>
          <ac:spMkLst>
            <pc:docMk/>
            <pc:sldMk cId="3375750935" sldId="266"/>
            <ac:spMk id="2" creationId="{8070806E-4522-52AA-6BA9-24001B53CAF0}"/>
          </ac:spMkLst>
        </pc:spChg>
        <pc:spChg chg="add mod">
          <ac:chgData name="Žydrūnė Kelpšaitė" userId="e943768126acec1d" providerId="LiveId" clId="{31712FD7-FA85-48BA-9D35-5382388CFC74}" dt="2026-01-20T18:40:00.264" v="109" actId="113"/>
          <ac:spMkLst>
            <pc:docMk/>
            <pc:sldMk cId="3375750935" sldId="266"/>
            <ac:spMk id="5" creationId="{27CB72FD-2CE2-C0C6-E4AF-217C3E68D9FB}"/>
          </ac:spMkLst>
        </pc:spChg>
      </pc:sldChg>
      <pc:sldChg chg="modSp mod">
        <pc:chgData name="Žydrūnė Kelpšaitė" userId="e943768126acec1d" providerId="LiveId" clId="{31712FD7-FA85-48BA-9D35-5382388CFC74}" dt="2026-02-11T12:09:45.856" v="512" actId="13926"/>
        <pc:sldMkLst>
          <pc:docMk/>
          <pc:sldMk cId="775397662" sldId="267"/>
        </pc:sldMkLst>
        <pc:spChg chg="mod">
          <ac:chgData name="Žydrūnė Kelpšaitė" userId="e943768126acec1d" providerId="LiveId" clId="{31712FD7-FA85-48BA-9D35-5382388CFC74}" dt="2026-02-11T12:09:45.856" v="512" actId="13926"/>
          <ac:spMkLst>
            <pc:docMk/>
            <pc:sldMk cId="775397662" sldId="267"/>
            <ac:spMk id="3" creationId="{135F3F80-ABED-5B22-E06B-3A2BEB77EAC6}"/>
          </ac:spMkLst>
        </pc:spChg>
      </pc:sldChg>
      <pc:sldChg chg="addSp modSp mod">
        <pc:chgData name="Žydrūnė Kelpšaitė" userId="e943768126acec1d" providerId="LiveId" clId="{31712FD7-FA85-48BA-9D35-5382388CFC74}" dt="2026-01-21T06:35:38.348" v="260" actId="113"/>
        <pc:sldMkLst>
          <pc:docMk/>
          <pc:sldMk cId="329107509" sldId="268"/>
        </pc:sldMkLst>
        <pc:spChg chg="mod">
          <ac:chgData name="Žydrūnė Kelpšaitė" userId="e943768126acec1d" providerId="LiveId" clId="{31712FD7-FA85-48BA-9D35-5382388CFC74}" dt="2026-01-21T06:35:38.348" v="260" actId="113"/>
          <ac:spMkLst>
            <pc:docMk/>
            <pc:sldMk cId="329107509" sldId="268"/>
            <ac:spMk id="3" creationId="{F2EFB736-5E6E-35E3-EA4D-0F5D522F6509}"/>
          </ac:spMkLst>
        </pc:spChg>
        <pc:spChg chg="add mod">
          <ac:chgData name="Žydrūnė Kelpšaitė" userId="e943768126acec1d" providerId="LiveId" clId="{31712FD7-FA85-48BA-9D35-5382388CFC74}" dt="2026-01-21T06:35:05.081" v="252" actId="1076"/>
          <ac:spMkLst>
            <pc:docMk/>
            <pc:sldMk cId="329107509" sldId="268"/>
            <ac:spMk id="5" creationId="{8671219B-77AC-8D9F-3836-CDDDC78B14B6}"/>
          </ac:spMkLst>
        </pc:spChg>
      </pc:sldChg>
      <pc:sldChg chg="delSp mod">
        <pc:chgData name="Žydrūnė Kelpšaitė" userId="e943768126acec1d" providerId="LiveId" clId="{31712FD7-FA85-48BA-9D35-5382388CFC74}" dt="2026-01-21T07:04:54.135" v="466" actId="478"/>
        <pc:sldMkLst>
          <pc:docMk/>
          <pc:sldMk cId="4099902723" sldId="269"/>
        </pc:sldMkLst>
      </pc:sldChg>
      <pc:sldChg chg="addSp delSp modSp mod modNotesTx">
        <pc:chgData name="Žydrūnė Kelpšaitė" userId="e943768126acec1d" providerId="LiveId" clId="{31712FD7-FA85-48BA-9D35-5382388CFC74}" dt="2026-02-11T10:56:11.840" v="507" actId="20577"/>
        <pc:sldMkLst>
          <pc:docMk/>
          <pc:sldMk cId="2544096357" sldId="270"/>
        </pc:sldMkLst>
        <pc:spChg chg="add mod">
          <ac:chgData name="Žydrūnė Kelpšaitė" userId="e943768126acec1d" providerId="LiveId" clId="{31712FD7-FA85-48BA-9D35-5382388CFC74}" dt="2026-01-21T08:53:14.593" v="475" actId="113"/>
          <ac:spMkLst>
            <pc:docMk/>
            <pc:sldMk cId="2544096357" sldId="270"/>
            <ac:spMk id="6" creationId="{8C6350D8-E448-C65C-0E9A-B5772962F96F}"/>
          </ac:spMkLst>
        </pc:spChg>
      </pc:sldChg>
      <pc:sldChg chg="addSp modSp mod">
        <pc:chgData name="Žydrūnė Kelpšaitė" userId="e943768126acec1d" providerId="LiveId" clId="{31712FD7-FA85-48BA-9D35-5382388CFC74}" dt="2026-01-20T18:57:37.831" v="161" actId="20577"/>
        <pc:sldMkLst>
          <pc:docMk/>
          <pc:sldMk cId="3891629545" sldId="272"/>
        </pc:sldMkLst>
        <pc:spChg chg="add mod">
          <ac:chgData name="Žydrūnė Kelpšaitė" userId="e943768126acec1d" providerId="LiveId" clId="{31712FD7-FA85-48BA-9D35-5382388CFC74}" dt="2026-01-20T18:57:37.831" v="161" actId="20577"/>
          <ac:spMkLst>
            <pc:docMk/>
            <pc:sldMk cId="3891629545" sldId="272"/>
            <ac:spMk id="5" creationId="{33442CA6-40D5-1671-8A12-BA7B80FB81DC}"/>
          </ac:spMkLst>
        </pc:spChg>
        <pc:graphicFrameChg chg="mod modGraphic">
          <ac:chgData name="Žydrūnė Kelpšaitė" userId="e943768126acec1d" providerId="LiveId" clId="{31712FD7-FA85-48BA-9D35-5382388CFC74}" dt="2026-01-20T18:57:11.997" v="156" actId="1076"/>
          <ac:graphicFrameMkLst>
            <pc:docMk/>
            <pc:sldMk cId="3891629545" sldId="272"/>
            <ac:graphicFrameMk id="4" creationId="{0CA1C01D-9548-D35A-8935-4E43DA6A2A8A}"/>
          </ac:graphicFrameMkLst>
        </pc:graphicFrameChg>
      </pc:sldChg>
      <pc:sldChg chg="modSp mod">
        <pc:chgData name="Žydrūnė Kelpšaitė" userId="e943768126acec1d" providerId="LiveId" clId="{31712FD7-FA85-48BA-9D35-5382388CFC74}" dt="2026-01-21T09:06:44.480" v="481" actId="13926"/>
        <pc:sldMkLst>
          <pc:docMk/>
          <pc:sldMk cId="2892980202" sldId="273"/>
        </pc:sldMkLst>
        <pc:graphicFrameChg chg="modGraphic">
          <ac:chgData name="Žydrūnė Kelpšaitė" userId="e943768126acec1d" providerId="LiveId" clId="{31712FD7-FA85-48BA-9D35-5382388CFC74}" dt="2026-01-21T09:06:44.480" v="481" actId="13926"/>
          <ac:graphicFrameMkLst>
            <pc:docMk/>
            <pc:sldMk cId="2892980202" sldId="273"/>
            <ac:graphicFrameMk id="4" creationId="{F0176766-BC8D-D2A4-B1CD-8E372B3CAD7A}"/>
          </ac:graphicFrameMkLst>
        </pc:graphicFrameChg>
      </pc:sldChg>
      <pc:sldChg chg="modSp new mod">
        <pc:chgData name="Žydrūnė Kelpšaitė" userId="e943768126acec1d" providerId="LiveId" clId="{31712FD7-FA85-48BA-9D35-5382388CFC74}" dt="2026-02-11T10:51:42.685" v="492" actId="13926"/>
        <pc:sldMkLst>
          <pc:docMk/>
          <pc:sldMk cId="1976551081" sldId="274"/>
        </pc:sldMkLst>
        <pc:spChg chg="mod">
          <ac:chgData name="Žydrūnė Kelpšaitė" userId="e943768126acec1d" providerId="LiveId" clId="{31712FD7-FA85-48BA-9D35-5382388CFC74}" dt="2026-01-20T18:08:47.607" v="39"/>
          <ac:spMkLst>
            <pc:docMk/>
            <pc:sldMk cId="1976551081" sldId="274"/>
            <ac:spMk id="2" creationId="{E8E9BDA0-0A36-EA61-6308-3222343E4B00}"/>
          </ac:spMkLst>
        </pc:spChg>
        <pc:spChg chg="mod">
          <ac:chgData name="Žydrūnė Kelpšaitė" userId="e943768126acec1d" providerId="LiveId" clId="{31712FD7-FA85-48BA-9D35-5382388CFC74}" dt="2026-02-11T10:51:42.685" v="492" actId="13926"/>
          <ac:spMkLst>
            <pc:docMk/>
            <pc:sldMk cId="1976551081" sldId="274"/>
            <ac:spMk id="3" creationId="{5421AE21-80A3-37A4-FD5D-E487E7A4A459}"/>
          </ac:spMkLst>
        </pc:spChg>
      </pc:sldChg>
      <pc:sldChg chg="modSp new mod">
        <pc:chgData name="Žydrūnė Kelpšaitė" userId="e943768126acec1d" providerId="LiveId" clId="{31712FD7-FA85-48BA-9D35-5382388CFC74}" dt="2026-01-21T08:00:38.346" v="468" actId="13926"/>
        <pc:sldMkLst>
          <pc:docMk/>
          <pc:sldMk cId="2481966056" sldId="275"/>
        </pc:sldMkLst>
        <pc:spChg chg="mod">
          <ac:chgData name="Žydrūnė Kelpšaitė" userId="e943768126acec1d" providerId="LiveId" clId="{31712FD7-FA85-48BA-9D35-5382388CFC74}" dt="2026-01-20T18:09:20.855" v="45" actId="20577"/>
          <ac:spMkLst>
            <pc:docMk/>
            <pc:sldMk cId="2481966056" sldId="275"/>
            <ac:spMk id="2" creationId="{2C9F8A9E-28DE-5D6A-EEEE-9302B8A9B8B9}"/>
          </ac:spMkLst>
        </pc:spChg>
        <pc:spChg chg="mod">
          <ac:chgData name="Žydrūnė Kelpšaitė" userId="e943768126acec1d" providerId="LiveId" clId="{31712FD7-FA85-48BA-9D35-5382388CFC74}" dt="2026-01-21T08:00:38.346" v="468" actId="13926"/>
          <ac:spMkLst>
            <pc:docMk/>
            <pc:sldMk cId="2481966056" sldId="275"/>
            <ac:spMk id="3" creationId="{E681E812-209E-3866-5265-A566013D8E2B}"/>
          </ac:spMkLst>
        </pc:spChg>
      </pc:sldChg>
      <pc:sldChg chg="modSp new mod">
        <pc:chgData name="Žydrūnė Kelpšaitė" userId="e943768126acec1d" providerId="LiveId" clId="{31712FD7-FA85-48BA-9D35-5382388CFC74}" dt="2026-01-21T08:02:14.766" v="469" actId="13926"/>
        <pc:sldMkLst>
          <pc:docMk/>
          <pc:sldMk cId="2285313798" sldId="276"/>
        </pc:sldMkLst>
        <pc:spChg chg="mod">
          <ac:chgData name="Žydrūnė Kelpšaitė" userId="e943768126acec1d" providerId="LiveId" clId="{31712FD7-FA85-48BA-9D35-5382388CFC74}" dt="2026-01-20T18:22:06.788" v="50"/>
          <ac:spMkLst>
            <pc:docMk/>
            <pc:sldMk cId="2285313798" sldId="276"/>
            <ac:spMk id="2" creationId="{AA6F1B13-F757-3B81-4AF1-AC107408C6E4}"/>
          </ac:spMkLst>
        </pc:spChg>
        <pc:spChg chg="mod">
          <ac:chgData name="Žydrūnė Kelpšaitė" userId="e943768126acec1d" providerId="LiveId" clId="{31712FD7-FA85-48BA-9D35-5382388CFC74}" dt="2026-01-21T08:02:14.766" v="469" actId="13926"/>
          <ac:spMkLst>
            <pc:docMk/>
            <pc:sldMk cId="2285313798" sldId="276"/>
            <ac:spMk id="3" creationId="{3D1DD157-6E2A-E479-A372-572ED7A80E7F}"/>
          </ac:spMkLst>
        </pc:spChg>
      </pc:sldChg>
      <pc:sldChg chg="modSp new mod">
        <pc:chgData name="Žydrūnė Kelpšaitė" userId="e943768126acec1d" providerId="LiveId" clId="{31712FD7-FA85-48BA-9D35-5382388CFC74}" dt="2026-01-21T08:05:56.900" v="472" actId="13926"/>
        <pc:sldMkLst>
          <pc:docMk/>
          <pc:sldMk cId="877132179" sldId="277"/>
        </pc:sldMkLst>
        <pc:spChg chg="mod">
          <ac:chgData name="Žydrūnė Kelpšaitė" userId="e943768126acec1d" providerId="LiveId" clId="{31712FD7-FA85-48BA-9D35-5382388CFC74}" dt="2026-01-20T18:26:29.827" v="60"/>
          <ac:spMkLst>
            <pc:docMk/>
            <pc:sldMk cId="877132179" sldId="277"/>
            <ac:spMk id="2" creationId="{CE83E037-E190-5118-FD45-93CEBFDA2030}"/>
          </ac:spMkLst>
        </pc:spChg>
        <pc:spChg chg="mod">
          <ac:chgData name="Žydrūnė Kelpšaitė" userId="e943768126acec1d" providerId="LiveId" clId="{31712FD7-FA85-48BA-9D35-5382388CFC74}" dt="2026-01-21T08:05:56.900" v="472" actId="13926"/>
          <ac:spMkLst>
            <pc:docMk/>
            <pc:sldMk cId="877132179" sldId="277"/>
            <ac:spMk id="3" creationId="{78FA91EB-9EF1-8579-C2E5-FB392DF35841}"/>
          </ac:spMkLst>
        </pc:spChg>
      </pc:sldChg>
      <pc:sldChg chg="modSp add mod">
        <pc:chgData name="Žydrūnė Kelpšaitė" userId="e943768126acec1d" providerId="LiveId" clId="{31712FD7-FA85-48BA-9D35-5382388CFC74}" dt="2026-01-21T06:50:31.684" v="344" actId="113"/>
        <pc:sldMkLst>
          <pc:docMk/>
          <pc:sldMk cId="304457309" sldId="278"/>
        </pc:sldMkLst>
        <pc:spChg chg="mod">
          <ac:chgData name="Žydrūnė Kelpšaitė" userId="e943768126acec1d" providerId="LiveId" clId="{31712FD7-FA85-48BA-9D35-5382388CFC74}" dt="2026-01-21T06:50:31.684" v="344" actId="113"/>
          <ac:spMkLst>
            <pc:docMk/>
            <pc:sldMk cId="304457309" sldId="278"/>
            <ac:spMk id="5" creationId="{6CED2049-62D6-317A-544A-3A70DAFB597C}"/>
          </ac:spMkLst>
        </pc:spChg>
      </pc:sldChg>
      <pc:sldChg chg="modSp new mod">
        <pc:chgData name="Žydrūnė Kelpšaitė" userId="e943768126acec1d" providerId="LiveId" clId="{31712FD7-FA85-48BA-9D35-5382388CFC74}" dt="2026-02-11T12:22:26.957" v="514" actId="13926"/>
        <pc:sldMkLst>
          <pc:docMk/>
          <pc:sldMk cId="2366354413" sldId="279"/>
        </pc:sldMkLst>
        <pc:spChg chg="mod">
          <ac:chgData name="Žydrūnė Kelpšaitė" userId="e943768126acec1d" providerId="LiveId" clId="{31712FD7-FA85-48BA-9D35-5382388CFC74}" dt="2026-01-20T18:54:19.915" v="152" actId="20577"/>
          <ac:spMkLst>
            <pc:docMk/>
            <pc:sldMk cId="2366354413" sldId="279"/>
            <ac:spMk id="2" creationId="{64D84A69-D3B5-77E7-0823-5E48BBBC2657}"/>
          </ac:spMkLst>
        </pc:spChg>
        <pc:spChg chg="mod">
          <ac:chgData name="Žydrūnė Kelpšaitė" userId="e943768126acec1d" providerId="LiveId" clId="{31712FD7-FA85-48BA-9D35-5382388CFC74}" dt="2026-02-11T12:22:26.957" v="514" actId="13926"/>
          <ac:spMkLst>
            <pc:docMk/>
            <pc:sldMk cId="2366354413" sldId="279"/>
            <ac:spMk id="3" creationId="{CE8ECA3F-57FE-3F2A-60DA-364AC9A411C5}"/>
          </ac:spMkLst>
        </pc:spChg>
      </pc:sldChg>
      <pc:sldChg chg="addSp delSp modSp new mod">
        <pc:chgData name="Žydrūnė Kelpšaitė" userId="e943768126acec1d" providerId="LiveId" clId="{31712FD7-FA85-48BA-9D35-5382388CFC74}" dt="2026-01-20T18:59:02.984" v="176" actId="1076"/>
        <pc:sldMkLst>
          <pc:docMk/>
          <pc:sldMk cId="4077744217" sldId="280"/>
        </pc:sldMkLst>
        <pc:spChg chg="mod">
          <ac:chgData name="Žydrūnė Kelpšaitė" userId="e943768126acec1d" providerId="LiveId" clId="{31712FD7-FA85-48BA-9D35-5382388CFC74}" dt="2026-01-20T18:58:36.574" v="170" actId="20577"/>
          <ac:spMkLst>
            <pc:docMk/>
            <pc:sldMk cId="4077744217" sldId="280"/>
            <ac:spMk id="2" creationId="{8B7FB3F0-C5A5-C166-1ED7-188288C115CB}"/>
          </ac:spMkLst>
        </pc:spChg>
        <pc:spChg chg="add mod">
          <ac:chgData name="Žydrūnė Kelpšaitė" userId="e943768126acec1d" providerId="LiveId" clId="{31712FD7-FA85-48BA-9D35-5382388CFC74}" dt="2026-01-20T18:58:50.088" v="174" actId="14100"/>
          <ac:spMkLst>
            <pc:docMk/>
            <pc:sldMk cId="4077744217" sldId="280"/>
            <ac:spMk id="5" creationId="{51394EED-A03D-3AC6-F9E3-958B670D3BEE}"/>
          </ac:spMkLst>
        </pc:spChg>
        <pc:graphicFrameChg chg="add mod">
          <ac:chgData name="Žydrūnė Kelpšaitė" userId="e943768126acec1d" providerId="LiveId" clId="{31712FD7-FA85-48BA-9D35-5382388CFC74}" dt="2026-01-20T18:59:02.984" v="176" actId="1076"/>
          <ac:graphicFrameMkLst>
            <pc:docMk/>
            <pc:sldMk cId="4077744217" sldId="280"/>
            <ac:graphicFrameMk id="6" creationId="{74888051-20B0-F9F4-A696-7B1475E878DE}"/>
          </ac:graphicFrameMkLst>
        </pc:graphicFrameChg>
      </pc:sldChg>
      <pc:sldChg chg="addSp delSp modSp add mod">
        <pc:chgData name="Žydrūnė Kelpšaitė" userId="e943768126acec1d" providerId="LiveId" clId="{31712FD7-FA85-48BA-9D35-5382388CFC74}" dt="2026-01-20T19:00:46.028" v="186" actId="1076"/>
        <pc:sldMkLst>
          <pc:docMk/>
          <pc:sldMk cId="3120419810" sldId="281"/>
        </pc:sldMkLst>
        <pc:spChg chg="mod">
          <ac:chgData name="Žydrūnė Kelpšaitė" userId="e943768126acec1d" providerId="LiveId" clId="{31712FD7-FA85-48BA-9D35-5382388CFC74}" dt="2026-01-20T18:59:56.805" v="180" actId="6549"/>
          <ac:spMkLst>
            <pc:docMk/>
            <pc:sldMk cId="3120419810" sldId="281"/>
            <ac:spMk id="2" creationId="{82321358-4546-8E8D-ED15-F921473B1C0A}"/>
          </ac:spMkLst>
        </pc:spChg>
        <pc:spChg chg="mod">
          <ac:chgData name="Žydrūnė Kelpšaitė" userId="e943768126acec1d" providerId="LiveId" clId="{31712FD7-FA85-48BA-9D35-5382388CFC74}" dt="2026-01-20T19:00:46.028" v="186" actId="1076"/>
          <ac:spMkLst>
            <pc:docMk/>
            <pc:sldMk cId="3120419810" sldId="281"/>
            <ac:spMk id="5" creationId="{4C3D163D-4762-A97D-CBEE-F3C8281FD9BF}"/>
          </ac:spMkLst>
        </pc:spChg>
        <pc:graphicFrameChg chg="add mod modGraphic">
          <ac:chgData name="Žydrūnė Kelpšaitė" userId="e943768126acec1d" providerId="LiveId" clId="{31712FD7-FA85-48BA-9D35-5382388CFC74}" dt="2026-01-20T19:00:23.339" v="184" actId="2164"/>
          <ac:graphicFrameMkLst>
            <pc:docMk/>
            <pc:sldMk cId="3120419810" sldId="281"/>
            <ac:graphicFrameMk id="3" creationId="{BBB38540-235E-5D9B-CA36-B14EDACDFF8D}"/>
          </ac:graphicFrameMkLst>
        </pc:graphicFrameChg>
      </pc:sldChg>
      <pc:sldChg chg="addSp delSp modSp add mod">
        <pc:chgData name="Žydrūnė Kelpšaitė" userId="e943768126acec1d" providerId="LiveId" clId="{31712FD7-FA85-48BA-9D35-5382388CFC74}" dt="2026-01-20T19:02:36.720" v="204"/>
        <pc:sldMkLst>
          <pc:docMk/>
          <pc:sldMk cId="2700750644" sldId="282"/>
        </pc:sldMkLst>
        <pc:spChg chg="mod">
          <ac:chgData name="Žydrūnė Kelpšaitė" userId="e943768126acec1d" providerId="LiveId" clId="{31712FD7-FA85-48BA-9D35-5382388CFC74}" dt="2026-01-20T19:01:39.165" v="196" actId="120"/>
          <ac:spMkLst>
            <pc:docMk/>
            <pc:sldMk cId="2700750644" sldId="282"/>
            <ac:spMk id="2" creationId="{7DF57457-7675-0CA4-8B63-BCC29538D4A2}"/>
          </ac:spMkLst>
        </pc:spChg>
        <pc:spChg chg="mod">
          <ac:chgData name="Žydrūnė Kelpšaitė" userId="e943768126acec1d" providerId="LiveId" clId="{31712FD7-FA85-48BA-9D35-5382388CFC74}" dt="2026-01-20T19:02:36.720" v="204"/>
          <ac:spMkLst>
            <pc:docMk/>
            <pc:sldMk cId="2700750644" sldId="282"/>
            <ac:spMk id="5" creationId="{B8079FA5-30E1-698D-26BC-7F403B06513B}"/>
          </ac:spMkLst>
        </pc:spChg>
        <pc:graphicFrameChg chg="add mod modGraphic">
          <ac:chgData name="Žydrūnė Kelpšaitė" userId="e943768126acec1d" providerId="LiveId" clId="{31712FD7-FA85-48BA-9D35-5382388CFC74}" dt="2026-01-20T19:02:15.777" v="203" actId="1076"/>
          <ac:graphicFrameMkLst>
            <pc:docMk/>
            <pc:sldMk cId="2700750644" sldId="282"/>
            <ac:graphicFrameMk id="7" creationId="{CC8521E3-F1E6-43BB-93DE-E06A778CD780}"/>
          </ac:graphicFrameMkLst>
        </pc:graphicFrameChg>
      </pc:sldChg>
      <pc:sldChg chg="modSp add mod">
        <pc:chgData name="Žydrūnė Kelpšaitė" userId="e943768126acec1d" providerId="LiveId" clId="{31712FD7-FA85-48BA-9D35-5382388CFC74}" dt="2026-01-21T09:04:44.621" v="477" actId="113"/>
        <pc:sldMkLst>
          <pc:docMk/>
          <pc:sldMk cId="16331814" sldId="283"/>
        </pc:sldMkLst>
        <pc:spChg chg="mod">
          <ac:chgData name="Žydrūnė Kelpšaitė" userId="e943768126acec1d" providerId="LiveId" clId="{31712FD7-FA85-48BA-9D35-5382388CFC74}" dt="2026-01-21T09:04:44.621" v="477" actId="113"/>
          <ac:spMkLst>
            <pc:docMk/>
            <pc:sldMk cId="16331814" sldId="283"/>
            <ac:spMk id="3" creationId="{80F0CF39-5808-A6FD-F165-5D687618A8E1}"/>
          </ac:spMkLst>
        </pc:spChg>
      </pc:sldChg>
      <pc:sldChg chg="modSp add mod">
        <pc:chgData name="Žydrūnė Kelpšaitė" userId="e943768126acec1d" providerId="LiveId" clId="{31712FD7-FA85-48BA-9D35-5382388CFC74}" dt="2026-01-21T09:05:01.184" v="479" actId="113"/>
        <pc:sldMkLst>
          <pc:docMk/>
          <pc:sldMk cId="836332640" sldId="284"/>
        </pc:sldMkLst>
        <pc:spChg chg="mod">
          <ac:chgData name="Žydrūnė Kelpšaitė" userId="e943768126acec1d" providerId="LiveId" clId="{31712FD7-FA85-48BA-9D35-5382388CFC74}" dt="2026-01-21T09:05:01.184" v="479" actId="113"/>
          <ac:spMkLst>
            <pc:docMk/>
            <pc:sldMk cId="836332640" sldId="284"/>
            <ac:spMk id="3" creationId="{72F65B28-BCC5-3EF3-E26F-F37B6B46D197}"/>
          </ac:spMkLst>
        </pc:spChg>
      </pc:sldChg>
      <pc:sldChg chg="modSp add mod">
        <pc:chgData name="Žydrūnė Kelpšaitė" userId="e943768126acec1d" providerId="LiveId" clId="{31712FD7-FA85-48BA-9D35-5382388CFC74}" dt="2026-01-21T09:06:01.080" v="480" actId="113"/>
        <pc:sldMkLst>
          <pc:docMk/>
          <pc:sldMk cId="2522944442" sldId="285"/>
        </pc:sldMkLst>
        <pc:spChg chg="mod">
          <ac:chgData name="Žydrūnė Kelpšaitė" userId="e943768126acec1d" providerId="LiveId" clId="{31712FD7-FA85-48BA-9D35-5382388CFC74}" dt="2026-01-21T09:06:01.080" v="480" actId="113"/>
          <ac:spMkLst>
            <pc:docMk/>
            <pc:sldMk cId="2522944442" sldId="285"/>
            <ac:spMk id="3" creationId="{C117A001-BE7D-4304-F816-CC57CB0CA402}"/>
          </ac:spMkLst>
        </pc:spChg>
      </pc:sldChg>
      <pc:sldChg chg="addSp delSp modSp new mod">
        <pc:chgData name="Žydrūnė Kelpšaitė" userId="e943768126acec1d" providerId="LiveId" clId="{31712FD7-FA85-48BA-9D35-5382388CFC74}" dt="2026-01-20T19:58:16.776" v="245" actId="2164"/>
        <pc:sldMkLst>
          <pc:docMk/>
          <pc:sldMk cId="2422624808" sldId="286"/>
        </pc:sldMkLst>
        <pc:spChg chg="mod">
          <ac:chgData name="Žydrūnė Kelpšaitė" userId="e943768126acec1d" providerId="LiveId" clId="{31712FD7-FA85-48BA-9D35-5382388CFC74}" dt="2026-01-20T19:57:20.667" v="237" actId="20577"/>
          <ac:spMkLst>
            <pc:docMk/>
            <pc:sldMk cId="2422624808" sldId="286"/>
            <ac:spMk id="2" creationId="{8ED19267-3A19-FB04-D0D0-E94C6EFFCEDF}"/>
          </ac:spMkLst>
        </pc:spChg>
        <pc:spChg chg="add mod">
          <ac:chgData name="Žydrūnė Kelpšaitė" userId="e943768126acec1d" providerId="LiveId" clId="{31712FD7-FA85-48BA-9D35-5382388CFC74}" dt="2026-01-20T19:58:05.556" v="241" actId="14100"/>
          <ac:spMkLst>
            <pc:docMk/>
            <pc:sldMk cId="2422624808" sldId="286"/>
            <ac:spMk id="5" creationId="{FD1BBA2B-987C-CEDA-861D-342F2893D5DC}"/>
          </ac:spMkLst>
        </pc:spChg>
        <pc:graphicFrameChg chg="add mod modGraphic">
          <ac:chgData name="Žydrūnė Kelpšaitė" userId="e943768126acec1d" providerId="LiveId" clId="{31712FD7-FA85-48BA-9D35-5382388CFC74}" dt="2026-01-20T19:58:16.776" v="245" actId="2164"/>
          <ac:graphicFrameMkLst>
            <pc:docMk/>
            <pc:sldMk cId="2422624808" sldId="286"/>
            <ac:graphicFrameMk id="6" creationId="{BA79FE09-A83A-EE36-A295-63207A4ABA43}"/>
          </ac:graphicFrameMkLst>
        </pc:graphicFrameChg>
      </pc:sldChg>
      <pc:sldChg chg="addSp delSp modSp new mod">
        <pc:chgData name="Žydrūnė Kelpšaitė" userId="e943768126acec1d" providerId="LiveId" clId="{31712FD7-FA85-48BA-9D35-5382388CFC74}" dt="2026-02-11T11:51:33.677" v="509" actId="13926"/>
        <pc:sldMkLst>
          <pc:docMk/>
          <pc:sldMk cId="3853418278" sldId="287"/>
        </pc:sldMkLst>
        <pc:spChg chg="mod">
          <ac:chgData name="Žydrūnė Kelpšaitė" userId="e943768126acec1d" providerId="LiveId" clId="{31712FD7-FA85-48BA-9D35-5382388CFC74}" dt="2026-01-21T06:48:08.678" v="337" actId="20577"/>
          <ac:spMkLst>
            <pc:docMk/>
            <pc:sldMk cId="3853418278" sldId="287"/>
            <ac:spMk id="2" creationId="{34717382-EF81-467B-E281-4CBE330AE322}"/>
          </ac:spMkLst>
        </pc:spChg>
        <pc:spChg chg="add mod">
          <ac:chgData name="Žydrūnė Kelpšaitė" userId="e943768126acec1d" providerId="LiveId" clId="{31712FD7-FA85-48BA-9D35-5382388CFC74}" dt="2026-02-11T11:51:33.677" v="509" actId="13926"/>
          <ac:spMkLst>
            <pc:docMk/>
            <pc:sldMk cId="3853418278" sldId="287"/>
            <ac:spMk id="5" creationId="{66748E62-E894-BBA3-7A37-E678379E29E7}"/>
          </ac:spMkLst>
        </pc:spChg>
      </pc:sldChg>
      <pc:sldChg chg="modSp new mod">
        <pc:chgData name="Žydrūnė Kelpšaitė" userId="e943768126acec1d" providerId="LiveId" clId="{31712FD7-FA85-48BA-9D35-5382388CFC74}" dt="2026-01-21T06:54:31.783" v="359" actId="6549"/>
        <pc:sldMkLst>
          <pc:docMk/>
          <pc:sldMk cId="3730225224" sldId="289"/>
        </pc:sldMkLst>
        <pc:spChg chg="mod">
          <ac:chgData name="Žydrūnė Kelpšaitė" userId="e943768126acec1d" providerId="LiveId" clId="{31712FD7-FA85-48BA-9D35-5382388CFC74}" dt="2026-01-21T06:54:06.586" v="353"/>
          <ac:spMkLst>
            <pc:docMk/>
            <pc:sldMk cId="3730225224" sldId="289"/>
            <ac:spMk id="2" creationId="{92DEB499-8E94-C72A-EDDF-E7261ED67658}"/>
          </ac:spMkLst>
        </pc:spChg>
        <pc:spChg chg="mod">
          <ac:chgData name="Žydrūnė Kelpšaitė" userId="e943768126acec1d" providerId="LiveId" clId="{31712FD7-FA85-48BA-9D35-5382388CFC74}" dt="2026-01-21T06:54:31.783" v="359" actId="6549"/>
          <ac:spMkLst>
            <pc:docMk/>
            <pc:sldMk cId="3730225224" sldId="289"/>
            <ac:spMk id="3" creationId="{BC263A44-8152-003F-5CCB-E2F6247D1310}"/>
          </ac:spMkLst>
        </pc:spChg>
      </pc:sldChg>
      <pc:sldChg chg="modSp new mod">
        <pc:chgData name="Žydrūnė Kelpšaitė" userId="e943768126acec1d" providerId="LiveId" clId="{31712FD7-FA85-48BA-9D35-5382388CFC74}" dt="2026-01-21T06:55:28.817" v="368" actId="113"/>
        <pc:sldMkLst>
          <pc:docMk/>
          <pc:sldMk cId="2296636572" sldId="290"/>
        </pc:sldMkLst>
        <pc:spChg chg="mod">
          <ac:chgData name="Žydrūnė Kelpšaitė" userId="e943768126acec1d" providerId="LiveId" clId="{31712FD7-FA85-48BA-9D35-5382388CFC74}" dt="2026-01-21T06:54:59.288" v="361"/>
          <ac:spMkLst>
            <pc:docMk/>
            <pc:sldMk cId="2296636572" sldId="290"/>
            <ac:spMk id="2" creationId="{43FC618A-32C1-0E47-3A43-6968E3CBD30D}"/>
          </ac:spMkLst>
        </pc:spChg>
        <pc:spChg chg="mod">
          <ac:chgData name="Žydrūnė Kelpšaitė" userId="e943768126acec1d" providerId="LiveId" clId="{31712FD7-FA85-48BA-9D35-5382388CFC74}" dt="2026-01-21T06:55:28.817" v="368" actId="113"/>
          <ac:spMkLst>
            <pc:docMk/>
            <pc:sldMk cId="2296636572" sldId="290"/>
            <ac:spMk id="3" creationId="{1F6DE998-67CD-4052-B200-D627E6067566}"/>
          </ac:spMkLst>
        </pc:spChg>
      </pc:sldChg>
      <pc:sldChg chg="modSp new mod">
        <pc:chgData name="Žydrūnė Kelpšaitė" userId="e943768126acec1d" providerId="LiveId" clId="{31712FD7-FA85-48BA-9D35-5382388CFC74}" dt="2026-02-11T12:31:05.489" v="515" actId="13926"/>
        <pc:sldMkLst>
          <pc:docMk/>
          <pc:sldMk cId="1599786937" sldId="291"/>
        </pc:sldMkLst>
        <pc:spChg chg="mod">
          <ac:chgData name="Žydrūnė Kelpšaitė" userId="e943768126acec1d" providerId="LiveId" clId="{31712FD7-FA85-48BA-9D35-5382388CFC74}" dt="2026-01-21T06:55:43.871" v="370"/>
          <ac:spMkLst>
            <pc:docMk/>
            <pc:sldMk cId="1599786937" sldId="291"/>
            <ac:spMk id="2" creationId="{E38DE6CA-7474-D6BC-9D45-8DF0C338C4F2}"/>
          </ac:spMkLst>
        </pc:spChg>
        <pc:spChg chg="mod">
          <ac:chgData name="Žydrūnė Kelpšaitė" userId="e943768126acec1d" providerId="LiveId" clId="{31712FD7-FA85-48BA-9D35-5382388CFC74}" dt="2026-02-11T12:31:05.489" v="515" actId="13926"/>
          <ac:spMkLst>
            <pc:docMk/>
            <pc:sldMk cId="1599786937" sldId="291"/>
            <ac:spMk id="3" creationId="{59F35EE2-EB57-2830-4FF2-03821BA94F50}"/>
          </ac:spMkLst>
        </pc:spChg>
      </pc:sldChg>
      <pc:sldChg chg="modSp new mod">
        <pc:chgData name="Žydrūnė Kelpšaitė" userId="e943768126acec1d" providerId="LiveId" clId="{31712FD7-FA85-48BA-9D35-5382388CFC74}" dt="2026-01-21T06:58:24.843" v="383" actId="20577"/>
        <pc:sldMkLst>
          <pc:docMk/>
          <pc:sldMk cId="3239540492" sldId="292"/>
        </pc:sldMkLst>
        <pc:spChg chg="mod">
          <ac:chgData name="Žydrūnė Kelpšaitė" userId="e943768126acec1d" providerId="LiveId" clId="{31712FD7-FA85-48BA-9D35-5382388CFC74}" dt="2026-01-21T06:58:24.843" v="383" actId="20577"/>
          <ac:spMkLst>
            <pc:docMk/>
            <pc:sldMk cId="3239540492" sldId="292"/>
            <ac:spMk id="2" creationId="{629009D9-CBF1-316A-A76F-795CD53EC86E}"/>
          </ac:spMkLst>
        </pc:spChg>
        <pc:spChg chg="mod">
          <ac:chgData name="Žydrūnė Kelpšaitė" userId="e943768126acec1d" providerId="LiveId" clId="{31712FD7-FA85-48BA-9D35-5382388CFC74}" dt="2026-01-21T06:58:08.788" v="380" actId="5793"/>
          <ac:spMkLst>
            <pc:docMk/>
            <pc:sldMk cId="3239540492" sldId="292"/>
            <ac:spMk id="3" creationId="{BB352FC8-1ED4-D582-1300-46ACFC457F10}"/>
          </ac:spMkLst>
        </pc:spChg>
      </pc:sldChg>
      <pc:sldChg chg="addSp modSp new mod">
        <pc:chgData name="Žydrūnė Kelpšaitė" userId="e943768126acec1d" providerId="LiveId" clId="{31712FD7-FA85-48BA-9D35-5382388CFC74}" dt="2026-02-11T12:31:49.800" v="516" actId="13926"/>
        <pc:sldMkLst>
          <pc:docMk/>
          <pc:sldMk cId="3786160475" sldId="293"/>
        </pc:sldMkLst>
        <pc:spChg chg="mod">
          <ac:chgData name="Žydrūnė Kelpšaitė" userId="e943768126acec1d" providerId="LiveId" clId="{31712FD7-FA85-48BA-9D35-5382388CFC74}" dt="2026-01-21T09:12:05.915" v="482" actId="20577"/>
          <ac:spMkLst>
            <pc:docMk/>
            <pc:sldMk cId="3786160475" sldId="293"/>
            <ac:spMk id="2" creationId="{DC67AD24-42EF-D4AD-173A-2D6A656A6D88}"/>
          </ac:spMkLst>
        </pc:spChg>
        <pc:spChg chg="add mod">
          <ac:chgData name="Žydrūnė Kelpšaitė" userId="e943768126acec1d" providerId="LiveId" clId="{31712FD7-FA85-48BA-9D35-5382388CFC74}" dt="2026-02-11T12:31:49.800" v="516" actId="13926"/>
          <ac:spMkLst>
            <pc:docMk/>
            <pc:sldMk cId="3786160475" sldId="293"/>
            <ac:spMk id="4" creationId="{7886D9C3-EF3D-BE9F-2D0E-36D86038D3E1}"/>
          </ac:spMkLst>
        </pc:spChg>
      </pc:sldChg>
      <pc:sldChg chg="modSp add mod">
        <pc:chgData name="Žydrūnė Kelpšaitė" userId="e943768126acec1d" providerId="LiveId" clId="{31712FD7-FA85-48BA-9D35-5382388CFC74}" dt="2026-01-21T09:14:05.165" v="491" actId="13926"/>
        <pc:sldMkLst>
          <pc:docMk/>
          <pc:sldMk cId="196422254" sldId="294"/>
        </pc:sldMkLst>
        <pc:spChg chg="mod">
          <ac:chgData name="Žydrūnė Kelpšaitė" userId="e943768126acec1d" providerId="LiveId" clId="{31712FD7-FA85-48BA-9D35-5382388CFC74}" dt="2026-01-21T09:12:45.064" v="487" actId="20577"/>
          <ac:spMkLst>
            <pc:docMk/>
            <pc:sldMk cId="196422254" sldId="294"/>
            <ac:spMk id="2" creationId="{C9B462B5-2AD3-7A52-8F12-8F747628008A}"/>
          </ac:spMkLst>
        </pc:spChg>
        <pc:spChg chg="mod">
          <ac:chgData name="Žydrūnė Kelpšaitė" userId="e943768126acec1d" providerId="LiveId" clId="{31712FD7-FA85-48BA-9D35-5382388CFC74}" dt="2026-01-21T09:14:05.165" v="491" actId="13926"/>
          <ac:spMkLst>
            <pc:docMk/>
            <pc:sldMk cId="196422254" sldId="294"/>
            <ac:spMk id="4" creationId="{32DCCB82-ADEE-571B-8A27-77580396D586}"/>
          </ac:spMkLst>
        </pc:spChg>
      </pc:sldChg>
      <pc:sldChg chg="modSp add mod">
        <pc:chgData name="Žydrūnė Kelpšaitė" userId="e943768126acec1d" providerId="LiveId" clId="{31712FD7-FA85-48BA-9D35-5382388CFC74}" dt="2026-01-21T09:12:48.755" v="488" actId="20577"/>
        <pc:sldMkLst>
          <pc:docMk/>
          <pc:sldMk cId="322326600" sldId="295"/>
        </pc:sldMkLst>
        <pc:spChg chg="mod">
          <ac:chgData name="Žydrūnė Kelpšaitė" userId="e943768126acec1d" providerId="LiveId" clId="{31712FD7-FA85-48BA-9D35-5382388CFC74}" dt="2026-01-21T09:12:48.755" v="488" actId="20577"/>
          <ac:spMkLst>
            <pc:docMk/>
            <pc:sldMk cId="322326600" sldId="295"/>
            <ac:spMk id="2" creationId="{61811916-67C8-C763-4632-89C4EBDA275E}"/>
          </ac:spMkLst>
        </pc:spChg>
        <pc:spChg chg="mod">
          <ac:chgData name="Žydrūnė Kelpšaitė" userId="e943768126acec1d" providerId="LiveId" clId="{31712FD7-FA85-48BA-9D35-5382388CFC74}" dt="2026-01-21T06:59:46.946" v="433"/>
          <ac:spMkLst>
            <pc:docMk/>
            <pc:sldMk cId="322326600" sldId="295"/>
            <ac:spMk id="4" creationId="{282E6201-F111-FE94-4606-BE02067D7A4D}"/>
          </ac:spMkLst>
        </pc:spChg>
      </pc:sldChg>
      <pc:sldChg chg="addSp modSp new mod">
        <pc:chgData name="Žydrūnė Kelpšaitė" userId="e943768126acec1d" providerId="LiveId" clId="{31712FD7-FA85-48BA-9D35-5382388CFC74}" dt="2026-01-21T07:01:48.609" v="451" actId="1076"/>
        <pc:sldMkLst>
          <pc:docMk/>
          <pc:sldMk cId="394431688" sldId="296"/>
        </pc:sldMkLst>
        <pc:spChg chg="mod">
          <ac:chgData name="Žydrūnė Kelpšaitė" userId="e943768126acec1d" providerId="LiveId" clId="{31712FD7-FA85-48BA-9D35-5382388CFC74}" dt="2026-01-21T07:01:30.197" v="446"/>
          <ac:spMkLst>
            <pc:docMk/>
            <pc:sldMk cId="394431688" sldId="296"/>
            <ac:spMk id="2" creationId="{DF5890F0-FA82-21FA-A75B-4CC4240AC32F}"/>
          </ac:spMkLst>
        </pc:spChg>
        <pc:spChg chg="add mod">
          <ac:chgData name="Žydrūnė Kelpšaitė" userId="e943768126acec1d" providerId="LiveId" clId="{31712FD7-FA85-48BA-9D35-5382388CFC74}" dt="2026-01-21T07:01:41.718" v="449"/>
          <ac:spMkLst>
            <pc:docMk/>
            <pc:sldMk cId="394431688" sldId="296"/>
            <ac:spMk id="4" creationId="{530EEB6C-F6AB-5E42-B850-DFEB7B09C8F3}"/>
          </ac:spMkLst>
        </pc:spChg>
        <pc:spChg chg="add mod">
          <ac:chgData name="Žydrūnė Kelpšaitė" userId="e943768126acec1d" providerId="LiveId" clId="{31712FD7-FA85-48BA-9D35-5382388CFC74}" dt="2026-01-21T07:01:48.609" v="451" actId="1076"/>
          <ac:spMkLst>
            <pc:docMk/>
            <pc:sldMk cId="394431688" sldId="296"/>
            <ac:spMk id="6" creationId="{B246FEE2-57A8-65AD-D485-32929B952877}"/>
          </ac:spMkLst>
        </pc:spChg>
      </pc:sldChg>
      <pc:sldChg chg="modSp add mod">
        <pc:chgData name="Žydrūnė Kelpšaitė" userId="e943768126acec1d" providerId="LiveId" clId="{31712FD7-FA85-48BA-9D35-5382388CFC74}" dt="2026-01-21T09:12:52.384" v="489" actId="20577"/>
        <pc:sldMkLst>
          <pc:docMk/>
          <pc:sldMk cId="1599969400" sldId="297"/>
        </pc:sldMkLst>
        <pc:spChg chg="mod">
          <ac:chgData name="Žydrūnė Kelpšaitė" userId="e943768126acec1d" providerId="LiveId" clId="{31712FD7-FA85-48BA-9D35-5382388CFC74}" dt="2026-01-21T09:12:52.384" v="489" actId="20577"/>
          <ac:spMkLst>
            <pc:docMk/>
            <pc:sldMk cId="1599969400" sldId="297"/>
            <ac:spMk id="2" creationId="{4CA94154-E652-B46E-3BE0-860DBAF575A3}"/>
          </ac:spMkLst>
        </pc:spChg>
        <pc:spChg chg="mod">
          <ac:chgData name="Žydrūnė Kelpšaitė" userId="e943768126acec1d" providerId="LiveId" clId="{31712FD7-FA85-48BA-9D35-5382388CFC74}" dt="2026-01-21T07:00:03.554" v="436"/>
          <ac:spMkLst>
            <pc:docMk/>
            <pc:sldMk cId="1599969400" sldId="297"/>
            <ac:spMk id="4" creationId="{EE96A586-40CC-0A85-6D7F-935A58813DB4}"/>
          </ac:spMkLst>
        </pc:spChg>
      </pc:sldChg>
      <pc:sldChg chg="modSp add mod">
        <pc:chgData name="Žydrūnė Kelpšaitė" userId="e943768126acec1d" providerId="LiveId" clId="{31712FD7-FA85-48BA-9D35-5382388CFC74}" dt="2026-02-11T12:32:55.985" v="517" actId="13926"/>
        <pc:sldMkLst>
          <pc:docMk/>
          <pc:sldMk cId="2569645420" sldId="298"/>
        </pc:sldMkLst>
        <pc:spChg chg="mod">
          <ac:chgData name="Žydrūnė Kelpšaitė" userId="e943768126acec1d" providerId="LiveId" clId="{31712FD7-FA85-48BA-9D35-5382388CFC74}" dt="2026-01-21T09:12:57.446" v="490" actId="20577"/>
          <ac:spMkLst>
            <pc:docMk/>
            <pc:sldMk cId="2569645420" sldId="298"/>
            <ac:spMk id="2" creationId="{8FBD16CF-B50A-6CAC-86DF-75674F8F0E88}"/>
          </ac:spMkLst>
        </pc:spChg>
        <pc:spChg chg="mod">
          <ac:chgData name="Žydrūnė Kelpšaitė" userId="e943768126acec1d" providerId="LiveId" clId="{31712FD7-FA85-48BA-9D35-5382388CFC74}" dt="2026-02-11T12:32:55.985" v="517" actId="13926"/>
          <ac:spMkLst>
            <pc:docMk/>
            <pc:sldMk cId="2569645420" sldId="298"/>
            <ac:spMk id="4" creationId="{5E587AE9-0CBA-A483-6B30-C57126200BC2}"/>
          </ac:spMkLst>
        </pc:spChg>
      </pc:sldChg>
      <pc:sldChg chg="modSp add mod">
        <pc:chgData name="Žydrūnė Kelpšaitė" userId="e943768126acec1d" providerId="LiveId" clId="{31712FD7-FA85-48BA-9D35-5382388CFC74}" dt="2026-01-21T09:12:17.174" v="483" actId="20577"/>
        <pc:sldMkLst>
          <pc:docMk/>
          <pc:sldMk cId="2799662651" sldId="299"/>
        </pc:sldMkLst>
        <pc:spChg chg="mod">
          <ac:chgData name="Žydrūnė Kelpšaitė" userId="e943768126acec1d" providerId="LiveId" clId="{31712FD7-FA85-48BA-9D35-5382388CFC74}" dt="2026-01-21T09:12:17.174" v="483" actId="20577"/>
          <ac:spMkLst>
            <pc:docMk/>
            <pc:sldMk cId="2799662651" sldId="299"/>
            <ac:spMk id="2" creationId="{8D2732FC-CB24-8C1E-08BE-76FBC64256F5}"/>
          </ac:spMkLst>
        </pc:spChg>
        <pc:spChg chg="mod">
          <ac:chgData name="Žydrūnė Kelpšaitė" userId="e943768126acec1d" providerId="LiveId" clId="{31712FD7-FA85-48BA-9D35-5382388CFC74}" dt="2026-01-21T07:02:44.504" v="456"/>
          <ac:spMkLst>
            <pc:docMk/>
            <pc:sldMk cId="2799662651" sldId="299"/>
            <ac:spMk id="4" creationId="{2A732E03-A4EE-77CA-3608-D648EA4CADD3}"/>
          </ac:spMkLst>
        </pc:spChg>
      </pc:sldChg>
      <pc:sldChg chg="modSp add mod">
        <pc:chgData name="Žydrūnė Kelpšaitė" userId="e943768126acec1d" providerId="LiveId" clId="{31712FD7-FA85-48BA-9D35-5382388CFC74}" dt="2026-02-11T12:16:21.520" v="513" actId="13926"/>
        <pc:sldMkLst>
          <pc:docMk/>
          <pc:sldMk cId="1234470677" sldId="300"/>
        </pc:sldMkLst>
        <pc:spChg chg="mod">
          <ac:chgData name="Žydrūnė Kelpšaitė" userId="e943768126acec1d" providerId="LiveId" clId="{31712FD7-FA85-48BA-9D35-5382388CFC74}" dt="2026-01-21T09:12:22.787" v="484" actId="20577"/>
          <ac:spMkLst>
            <pc:docMk/>
            <pc:sldMk cId="1234470677" sldId="300"/>
            <ac:spMk id="2" creationId="{2C0C0B58-8C54-801E-D625-01B4C0DAEB08}"/>
          </ac:spMkLst>
        </pc:spChg>
        <pc:spChg chg="mod">
          <ac:chgData name="Žydrūnė Kelpšaitė" userId="e943768126acec1d" providerId="LiveId" clId="{31712FD7-FA85-48BA-9D35-5382388CFC74}" dt="2026-02-11T12:16:21.520" v="513" actId="13926"/>
          <ac:spMkLst>
            <pc:docMk/>
            <pc:sldMk cId="1234470677" sldId="300"/>
            <ac:spMk id="4" creationId="{0480F5C2-D9DD-BDD0-FFA4-38E169C92605}"/>
          </ac:spMkLst>
        </pc:spChg>
      </pc:sldChg>
      <pc:sldChg chg="modSp add mod">
        <pc:chgData name="Žydrūnė Kelpšaitė" userId="e943768126acec1d" providerId="LiveId" clId="{31712FD7-FA85-48BA-9D35-5382388CFC74}" dt="2026-01-21T09:12:27.759" v="485" actId="20577"/>
        <pc:sldMkLst>
          <pc:docMk/>
          <pc:sldMk cId="287952086" sldId="301"/>
        </pc:sldMkLst>
        <pc:spChg chg="mod">
          <ac:chgData name="Žydrūnė Kelpšaitė" userId="e943768126acec1d" providerId="LiveId" clId="{31712FD7-FA85-48BA-9D35-5382388CFC74}" dt="2026-01-21T09:12:27.759" v="485" actId="20577"/>
          <ac:spMkLst>
            <pc:docMk/>
            <pc:sldMk cId="287952086" sldId="301"/>
            <ac:spMk id="2" creationId="{6AED4094-5D6C-9D6E-75F2-7255F2DA72DD}"/>
          </ac:spMkLst>
        </pc:spChg>
        <pc:spChg chg="mod">
          <ac:chgData name="Žydrūnė Kelpšaitė" userId="e943768126acec1d" providerId="LiveId" clId="{31712FD7-FA85-48BA-9D35-5382388CFC74}" dt="2026-01-21T07:03:24.123" v="462"/>
          <ac:spMkLst>
            <pc:docMk/>
            <pc:sldMk cId="287952086" sldId="301"/>
            <ac:spMk id="4" creationId="{DE0CE888-E1B4-EAF0-BBD8-D707CF3BC047}"/>
          </ac:spMkLst>
        </pc:spChg>
      </pc:sldChg>
      <pc:sldChg chg="modSp add mod">
        <pc:chgData name="Žydrūnė Kelpšaitė" userId="e943768126acec1d" providerId="LiveId" clId="{31712FD7-FA85-48BA-9D35-5382388CFC74}" dt="2026-01-21T09:12:33.529" v="486" actId="20577"/>
        <pc:sldMkLst>
          <pc:docMk/>
          <pc:sldMk cId="2593175952" sldId="302"/>
        </pc:sldMkLst>
        <pc:spChg chg="mod">
          <ac:chgData name="Žydrūnė Kelpšaitė" userId="e943768126acec1d" providerId="LiveId" clId="{31712FD7-FA85-48BA-9D35-5382388CFC74}" dt="2026-01-21T09:12:33.529" v="486" actId="20577"/>
          <ac:spMkLst>
            <pc:docMk/>
            <pc:sldMk cId="2593175952" sldId="302"/>
            <ac:spMk id="2" creationId="{5F7A9D0D-3409-F9AA-2D9B-A9A889A9B1FD}"/>
          </ac:spMkLst>
        </pc:spChg>
        <pc:spChg chg="mod">
          <ac:chgData name="Žydrūnė Kelpšaitė" userId="e943768126acec1d" providerId="LiveId" clId="{31712FD7-FA85-48BA-9D35-5382388CFC74}" dt="2026-01-21T07:03:44.038" v="464"/>
          <ac:spMkLst>
            <pc:docMk/>
            <pc:sldMk cId="2593175952" sldId="302"/>
            <ac:spMk id="4" creationId="{B39E2172-87BC-E65F-B93C-3E66A14F49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Antraštės vietos rezervavimo ženklas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t-LT"/>
          </a:p>
        </p:txBody>
      </p:sp>
      <p:sp>
        <p:nvSpPr>
          <p:cNvPr id="3" name="Datos vietos rezervavimo ženklas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C32407-57C3-4B14-921F-ECDA7AE64200}" type="datetimeFigureOut">
              <a:rPr lang="lt-LT" smtClean="0"/>
              <a:t>2026-02-11</a:t>
            </a:fld>
            <a:endParaRPr lang="lt-LT"/>
          </a:p>
        </p:txBody>
      </p:sp>
      <p:sp>
        <p:nvSpPr>
          <p:cNvPr id="4" name="Skaidrės vaizdo vietos rezervavimo ženkla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t-LT"/>
          </a:p>
        </p:txBody>
      </p:sp>
      <p:sp>
        <p:nvSpPr>
          <p:cNvPr id="5" name="Pastabų vietos rezervavimo ženkl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lt-LT"/>
              <a:t>Spustelėkite, kad galėtumėte redaguoti šablono teksto stilius</a:t>
            </a:r>
          </a:p>
          <a:p>
            <a:pPr lvl="1"/>
            <a:r>
              <a:rPr lang="lt-LT"/>
              <a:t>Antras lygis</a:t>
            </a:r>
          </a:p>
          <a:p>
            <a:pPr lvl="2"/>
            <a:r>
              <a:rPr lang="lt-LT"/>
              <a:t>Trečias lygis</a:t>
            </a:r>
          </a:p>
          <a:p>
            <a:pPr lvl="3"/>
            <a:r>
              <a:rPr lang="lt-LT"/>
              <a:t>Ketvirtas lygis</a:t>
            </a:r>
          </a:p>
          <a:p>
            <a:pPr lvl="4"/>
            <a:r>
              <a:rPr lang="lt-LT"/>
              <a:t>Penktas lygis</a:t>
            </a:r>
          </a:p>
        </p:txBody>
      </p:sp>
      <p:sp>
        <p:nvSpPr>
          <p:cNvPr id="6" name="Poraštės vietos rezervavimo ženklas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t-LT"/>
          </a:p>
        </p:txBody>
      </p:sp>
      <p:sp>
        <p:nvSpPr>
          <p:cNvPr id="7" name="Skaidrės numerio vietos rezervavimo ženklas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EDADC0-D6F0-4502-8351-F1BBAD1CF42C}" type="slidenum">
              <a:rPr lang="lt-LT" smtClean="0"/>
              <a:t>‹#›</a:t>
            </a:fld>
            <a:endParaRPr lang="lt-LT"/>
          </a:p>
        </p:txBody>
      </p:sp>
    </p:spTree>
    <p:extLst>
      <p:ext uri="{BB962C8B-B14F-4D97-AF65-F5344CB8AC3E}">
        <p14:creationId xmlns:p14="http://schemas.microsoft.com/office/powerpoint/2010/main" val="913934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Tikimybinis skirstinys formulė aprašo normaliojo (Gauso) skirstinio tikimybių tankio funkciją.</a:t>
            </a:r>
          </a:p>
          <a:p>
            <a:r>
              <a:rPr lang="lt-LT" dirty="0"/>
              <a:t>f(x) – tikimybių tankio funkcijos reikšmė konkrečiai x reikšmei. Ji nusako, kiek „tikėtina“ ši reikšmė lyginant su kitomis.</a:t>
            </a:r>
          </a:p>
          <a:p>
            <a:r>
              <a:rPr lang="lt-LT" dirty="0"/>
              <a:t>x – atsitiktinio dydžio reikšmė, tai yra konkreti stebima ar nagrinėjama duomenų reikšmė.</a:t>
            </a:r>
          </a:p>
          <a:p>
            <a:r>
              <a:rPr lang="el-GR" dirty="0"/>
              <a:t>μ (</a:t>
            </a:r>
            <a:r>
              <a:rPr lang="lt-LT" dirty="0" err="1"/>
              <a:t>miu</a:t>
            </a:r>
            <a:r>
              <a:rPr lang="lt-LT" dirty="0"/>
              <a:t>) – vidurkis, kuris nusako skirstinio centrą. Aplink šią reikšmę duomenys yra simetriškai pasiskirstę.</a:t>
            </a:r>
          </a:p>
          <a:p>
            <a:r>
              <a:rPr lang="el-GR" dirty="0"/>
              <a:t>σ (</a:t>
            </a:r>
            <a:r>
              <a:rPr lang="lt-LT" dirty="0"/>
              <a:t>sigma) – standartinis nuokrypis, kuris nusako skirstinio plotį ir duomenų sklaidą. Kuo </a:t>
            </a:r>
            <a:r>
              <a:rPr lang="el-GR" dirty="0"/>
              <a:t>σ </a:t>
            </a:r>
            <a:r>
              <a:rPr lang="lt-LT" dirty="0"/>
              <a:t>didesnis, tuo pasiskirstymas platesnis.</a:t>
            </a:r>
          </a:p>
          <a:p>
            <a:r>
              <a:rPr lang="lt-LT" dirty="0"/>
              <a:t>e – natūrinio logaritmo pagrindas, naudojamas eksponentiniame naryje.</a:t>
            </a:r>
          </a:p>
          <a:p>
            <a:r>
              <a:rPr lang="lt-LT" dirty="0"/>
              <a:t>2</a:t>
            </a:r>
            <a:r>
              <a:rPr lang="el-GR" dirty="0"/>
              <a:t>π – </a:t>
            </a:r>
            <a:r>
              <a:rPr lang="lt-LT" dirty="0"/>
              <a:t>matematinė konstanta, užtikrinanti, kad visa funkcijos kreivė integruotųsi į 1, tai yra, kad bendra tikimybė būtų lygi 1.</a:t>
            </a:r>
          </a:p>
          <a:p>
            <a:r>
              <a:rPr lang="lt-LT" dirty="0"/>
              <a:t>Duomenų analizėje ši formulė naudojama modeliuoti natūraliai pasiskirstančius reiškinius, vertinti tikimybes ir analizuoti duomenų elgesį aplink vidurkį.</a:t>
            </a:r>
          </a:p>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9</a:t>
            </a:fld>
            <a:endParaRPr lang="lt-LT"/>
          </a:p>
        </p:txBody>
      </p:sp>
    </p:spTree>
    <p:extLst>
      <p:ext uri="{BB962C8B-B14F-4D97-AF65-F5344CB8AC3E}">
        <p14:creationId xmlns:p14="http://schemas.microsoft.com/office/powerpoint/2010/main" val="28167461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11</a:t>
            </a:fld>
            <a:endParaRPr lang="lt-LT"/>
          </a:p>
        </p:txBody>
      </p:sp>
    </p:spTree>
    <p:extLst>
      <p:ext uri="{BB962C8B-B14F-4D97-AF65-F5344CB8AC3E}">
        <p14:creationId xmlns:p14="http://schemas.microsoft.com/office/powerpoint/2010/main" val="2916341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a:t>Ši schema vaizduoja </a:t>
            </a:r>
            <a:r>
              <a:rPr lang="lt-LT" dirty="0" err="1"/>
              <a:t>pasikliautinį</a:t>
            </a:r>
            <a:r>
              <a:rPr lang="lt-LT" dirty="0"/>
              <a:t> intervalą ir statistinio reikšmingumo logiką, paremtą normaliojo (arba t) skirstinio kreive.</a:t>
            </a:r>
          </a:p>
          <a:p>
            <a:r>
              <a:rPr lang="lt-LT" dirty="0"/>
              <a:t>Vidurinė pažymėta sritis yra </a:t>
            </a:r>
            <a:r>
              <a:rPr lang="lt-LT" dirty="0" err="1"/>
              <a:t>pasikliautinio</a:t>
            </a:r>
            <a:r>
              <a:rPr lang="lt-LT" dirty="0"/>
              <a:t> intervalo sritis. Ji atitinka patikimumo lygį 1 − </a:t>
            </a:r>
            <a:r>
              <a:rPr lang="el-GR" dirty="0"/>
              <a:t>α </a:t>
            </a:r>
            <a:r>
              <a:rPr lang="lt-LT" dirty="0"/>
              <a:t>ir nusako intervalą, kuriame su tam tikra tikimybe yra tikrasis populiacijos parametras, dažniausiai vidurkis </a:t>
            </a:r>
            <a:r>
              <a:rPr lang="el-GR" dirty="0"/>
              <a:t>μ.</a:t>
            </a:r>
          </a:p>
          <a:p>
            <a:r>
              <a:rPr lang="el-GR" dirty="0"/>
              <a:t>α (</a:t>
            </a:r>
            <a:r>
              <a:rPr lang="lt-LT" dirty="0"/>
              <a:t>alfa) žymi reikšmingumo lygį. Tai tikimybė suklysti atmetant nulio hipotezę, kai ji iš tikrųjų teisinga. Praktikoje dažniausiai naudojama </a:t>
            </a:r>
            <a:r>
              <a:rPr lang="el-GR" dirty="0"/>
              <a:t>α = 0,05, </a:t>
            </a:r>
            <a:r>
              <a:rPr lang="lt-LT" dirty="0"/>
              <a:t>kas reiškia 95 % </a:t>
            </a:r>
            <a:r>
              <a:rPr lang="lt-LT" dirty="0" err="1"/>
              <a:t>pasikliautinį</a:t>
            </a:r>
            <a:r>
              <a:rPr lang="lt-LT" dirty="0"/>
              <a:t> lygį.</a:t>
            </a:r>
          </a:p>
          <a:p>
            <a:r>
              <a:rPr lang="lt-LT" dirty="0"/>
              <a:t>Kreivės šonuose esantys plotai, pažymėti </a:t>
            </a:r>
            <a:r>
              <a:rPr lang="el-GR" dirty="0"/>
              <a:t>α / 2, </a:t>
            </a:r>
            <a:r>
              <a:rPr lang="lt-LT" dirty="0"/>
              <a:t>yra atmetimo sritys. Jos rodo kraštines, mažai tikėtinas reikšmes, kurios laikomos statistiškai neįprastomis, jei nulio hipotezė būtų teisinga.</a:t>
            </a:r>
          </a:p>
          <a:p>
            <a:r>
              <a:rPr lang="lt-LT" dirty="0"/>
              <a:t>Kritinės reikšmės žymi ribas tarp </a:t>
            </a:r>
            <a:r>
              <a:rPr lang="lt-LT" dirty="0" err="1"/>
              <a:t>pasikliautinio</a:t>
            </a:r>
            <a:r>
              <a:rPr lang="lt-LT" dirty="0"/>
              <a:t> intervalo ir atmetimo sričių. Jei apskaičiuota statistika patenka už šių ribų, rezultatas laikomas statistiškai reikšmingu.</a:t>
            </a:r>
          </a:p>
          <a:p>
            <a:r>
              <a:rPr lang="lt-LT" dirty="0"/>
              <a:t>Duomenų analizėje ši schema naudojama sprendžiant, ar stebėtas efektas gali būti paaiškintas atsitiktinumu, ar yra pakankamai stiprus, kad būtų laikomas reikšmingu.</a:t>
            </a:r>
          </a:p>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12</a:t>
            </a:fld>
            <a:endParaRPr lang="lt-LT"/>
          </a:p>
        </p:txBody>
      </p:sp>
    </p:spTree>
    <p:extLst>
      <p:ext uri="{BB962C8B-B14F-4D97-AF65-F5344CB8AC3E}">
        <p14:creationId xmlns:p14="http://schemas.microsoft.com/office/powerpoint/2010/main" val="27746771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lt-LT" dirty="0" err="1"/>
              <a:t>Pasikliautinis</a:t>
            </a:r>
            <a:r>
              <a:rPr lang="lt-LT" dirty="0"/>
              <a:t> intervalas nusako reikšmių intervalą, kuriame su tam tikru patikimumo lygiu yra tikrasis populiacijos parametras, dažniausiai vidurkis.</a:t>
            </a:r>
          </a:p>
          <a:p>
            <a:r>
              <a:rPr lang="lt-LT" dirty="0"/>
              <a:t>95 % </a:t>
            </a:r>
            <a:r>
              <a:rPr lang="lt-LT" dirty="0" err="1"/>
              <a:t>pasikliautinis</a:t>
            </a:r>
            <a:r>
              <a:rPr lang="lt-LT" dirty="0"/>
              <a:t> intervalas nereiškia, kad tikroji reikšmė su 95 % tikimybe yra konkrečiame intervale. Tai reiškia, kad sudarant daug tokių intervalų iš skirtingų imčių, apie 95 % jų apimtų tikrąją populiacijos reikšmę.</a:t>
            </a:r>
          </a:p>
          <a:p>
            <a:r>
              <a:rPr lang="lt-LT" dirty="0"/>
              <a:t>Duomenų analizėje </a:t>
            </a:r>
            <a:r>
              <a:rPr lang="lt-LT" dirty="0" err="1"/>
              <a:t>pasikliautiniai</a:t>
            </a:r>
            <a:r>
              <a:rPr lang="lt-LT" dirty="0"/>
              <a:t> intervalai naudojami rezultatų neapibrėžtumui įvertinti ir yra informatyvesni nei vien tik taškiniai įverčiai.</a:t>
            </a:r>
          </a:p>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15</a:t>
            </a:fld>
            <a:endParaRPr lang="lt-LT"/>
          </a:p>
        </p:txBody>
      </p:sp>
    </p:spTree>
    <p:extLst>
      <p:ext uri="{BB962C8B-B14F-4D97-AF65-F5344CB8AC3E}">
        <p14:creationId xmlns:p14="http://schemas.microsoft.com/office/powerpoint/2010/main" val="3463256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21</a:t>
            </a:fld>
            <a:endParaRPr lang="lt-LT"/>
          </a:p>
        </p:txBody>
      </p:sp>
    </p:spTree>
    <p:extLst>
      <p:ext uri="{BB962C8B-B14F-4D97-AF65-F5344CB8AC3E}">
        <p14:creationId xmlns:p14="http://schemas.microsoft.com/office/powerpoint/2010/main" val="3468220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kaidrės vaizdo vietos rezervavimo ženklas 1"/>
          <p:cNvSpPr>
            <a:spLocks noGrp="1" noRot="1" noChangeAspect="1"/>
          </p:cNvSpPr>
          <p:nvPr>
            <p:ph type="sldImg"/>
          </p:nvPr>
        </p:nvSpPr>
        <p:spPr/>
      </p:sp>
      <p:sp>
        <p:nvSpPr>
          <p:cNvPr id="3" name="Pastabų vietos rezervavimo ženklas 2"/>
          <p:cNvSpPr>
            <a:spLocks noGrp="1"/>
          </p:cNvSpPr>
          <p:nvPr>
            <p:ph type="body" idx="1"/>
          </p:nvPr>
        </p:nvSpPr>
        <p:spPr/>
        <p:txBody>
          <a:bodyPr/>
          <a:lstStyle/>
          <a:p>
            <a:r>
              <a:rPr lang="en-US" dirty="0" err="1"/>
              <a:t>Koreliacijos</a:t>
            </a:r>
            <a:r>
              <a:rPr lang="en-US" dirty="0"/>
              <a:t> </a:t>
            </a:r>
            <a:r>
              <a:rPr lang="lt-LT" dirty="0"/>
              <a:t>stiprumo ir krypties pavyzdžiai, remiantis taškų sklaida dviejų kintamųjų erdvėje.</a:t>
            </a:r>
          </a:p>
          <a:p>
            <a:r>
              <a:rPr lang="lt-LT" dirty="0"/>
              <a:t>Kairėje pusėje matoma tobula teigiama koreliacija, kai visi taškai išsidėstę tiesėje ir abiem kintamiesiems didėjant kartu. Koreliacijos koeficientas tokiu atveju lygus 1.</a:t>
            </a:r>
          </a:p>
          <a:p>
            <a:r>
              <a:rPr lang="lt-LT" dirty="0"/>
              <a:t>Didelė teigiama koreliacija rodo aiškų didėjimo ryšį, tačiau su tam tikra sklaida. Kintamieji juda ta pačia kryptimi, bet ryšys nėra idealus.</a:t>
            </a:r>
          </a:p>
          <a:p>
            <a:r>
              <a:rPr lang="lt-LT" dirty="0"/>
              <a:t>Maža teigiama koreliacija reiškia silpną teigiamą ryšį. Matoma bendra didėjimo tendencija, tačiau taškai yra labiau išsibarstę.</a:t>
            </a:r>
          </a:p>
          <a:p>
            <a:r>
              <a:rPr lang="lt-LT" dirty="0"/>
              <a:t>Viduryje pateiktas atvejis, kai koreliacijos nėra. Taškai neturi aiškios krypties, o vieno kintamojo pokyčiai nepaaiškina kito pokyčių.</a:t>
            </a:r>
          </a:p>
          <a:p>
            <a:r>
              <a:rPr lang="lt-LT" dirty="0"/>
              <a:t>Maža neigiama koreliacija rodo silpną priešingą ryšį. Didėjant vienam kintamajam, kitas linkęs mažėti, tačiau ryšys nėra stiprus.</a:t>
            </a:r>
          </a:p>
          <a:p>
            <a:r>
              <a:rPr lang="lt-LT" dirty="0"/>
              <a:t>Didelė neigiama koreliacija reiškia aiškų neigiamą ryšį, kai vieno kintamojo augimas susijęs su kito mažėjimu.</a:t>
            </a:r>
          </a:p>
          <a:p>
            <a:r>
              <a:rPr lang="lt-LT" dirty="0"/>
              <a:t>Dešinėje pusėje pavaizduota tobula neigiama koreliacija, kai visi taškai išsidėstę tiesėje ir koreliacijos koeficientas lygus −1.</a:t>
            </a:r>
          </a:p>
          <a:p>
            <a:r>
              <a:rPr lang="lt-LT" dirty="0"/>
              <a:t>Duomenų analizėje ši vizualizacija padeda suprasti, kad koreliacija matuoja ryšio kryptį ir stiprumą, bet ne reiškia priežastinį ryšį.</a:t>
            </a:r>
          </a:p>
          <a:p>
            <a:endParaRPr lang="lt-LT" dirty="0"/>
          </a:p>
        </p:txBody>
      </p:sp>
      <p:sp>
        <p:nvSpPr>
          <p:cNvPr id="4" name="Skaidrės numerio vietos rezervavimo ženklas 3"/>
          <p:cNvSpPr>
            <a:spLocks noGrp="1"/>
          </p:cNvSpPr>
          <p:nvPr>
            <p:ph type="sldNum" sz="quarter" idx="5"/>
          </p:nvPr>
        </p:nvSpPr>
        <p:spPr/>
        <p:txBody>
          <a:bodyPr/>
          <a:lstStyle/>
          <a:p>
            <a:fld id="{27EDADC0-D6F0-4502-8351-F1BBAD1CF42C}" type="slidenum">
              <a:rPr lang="lt-LT" smtClean="0"/>
              <a:t>22</a:t>
            </a:fld>
            <a:endParaRPr lang="lt-LT"/>
          </a:p>
        </p:txBody>
      </p:sp>
    </p:spTree>
    <p:extLst>
      <p:ext uri="{BB962C8B-B14F-4D97-AF65-F5344CB8AC3E}">
        <p14:creationId xmlns:p14="http://schemas.microsoft.com/office/powerpoint/2010/main" val="4894753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7CD0-4D44-12D3-1584-E5C5197534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E433CA5-14F1-95AC-9E4A-E947F11560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422FF40-7F4A-E522-F373-B6720BD500FC}"/>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D9B6710E-C9BB-A34C-FA37-C11D229E79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9C322B-02E5-4EAF-43B2-05DEDECD42D8}"/>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21614300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84E6-5D5A-E3AA-4D49-FBDB306D14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E3299-2D7D-F7AE-272B-64BBDFAED4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8EBF67-43E5-2A3C-3A1D-E9A58A4DBBA3}"/>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8BCF5A26-360D-1822-5836-52E830CBAC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CB7D65-4751-F769-7DD8-04DA52FCC425}"/>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34108994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C8D94-4476-C147-FAAF-4D26596339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202568-0771-AA1A-5A72-61E66B5B31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2407D71-091C-3824-2D54-2916768174D5}"/>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D6213D54-55B9-CCBC-2693-DE1E73B48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CDC886-B1BA-8B9D-024B-6777E53BE713}"/>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285724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3235F-3822-2A7C-D8D8-D5E26D9E05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2A7074-EBB3-85D5-C2E8-A83B70CBA7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2E8C4F-84D3-2125-9355-9D1371EE7E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2803D02-C31E-AC53-9963-8F012FA95A60}"/>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6" name="Footer Placeholder 5">
            <a:extLst>
              <a:ext uri="{FF2B5EF4-FFF2-40B4-BE49-F238E27FC236}">
                <a16:creationId xmlns:a16="http://schemas.microsoft.com/office/drawing/2014/main" id="{1E104942-D99D-A9E0-3EF9-9583DBC6D5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4C49C2-57E8-7FB3-FF24-EEA0ED9D8277}"/>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401381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7C933-C756-16DC-55A8-FE2233B0F2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6AA004-9AE0-11E7-C258-73E04570D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7ABED0-FEDC-787F-8E73-CA34D40E81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8F9D979-0D55-BE43-B66B-32947FAB77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BD0E12-0610-FC2F-955B-94EE8BE18A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2F0FD05-6033-03CB-1341-4573F9C00C2C}"/>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8" name="Footer Placeholder 7">
            <a:extLst>
              <a:ext uri="{FF2B5EF4-FFF2-40B4-BE49-F238E27FC236}">
                <a16:creationId xmlns:a16="http://schemas.microsoft.com/office/drawing/2014/main" id="{781ED38D-D474-6550-0D8B-CEC2AD93C6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C3538D-D2EB-3D01-54C0-F616219F5153}"/>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9551764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C8B0C-A5BA-4E9B-C529-C0571FD1E3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610F0A-90DF-288A-DA88-08EF5D575BB8}"/>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4" name="Footer Placeholder 3">
            <a:extLst>
              <a:ext uri="{FF2B5EF4-FFF2-40B4-BE49-F238E27FC236}">
                <a16:creationId xmlns:a16="http://schemas.microsoft.com/office/drawing/2014/main" id="{27F9A61E-209B-2FEF-606C-FB587D7A93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60E148-457D-0FC8-A5C8-1A169E7C8C55}"/>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2332813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58285D-D901-D75C-6A4F-5BC522FE6DAA}"/>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3" name="Footer Placeholder 2">
            <a:extLst>
              <a:ext uri="{FF2B5EF4-FFF2-40B4-BE49-F238E27FC236}">
                <a16:creationId xmlns:a16="http://schemas.microsoft.com/office/drawing/2014/main" id="{9E5B2C4C-5CFE-0FB2-5A84-C6BA413155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720AF3-C60D-4BDD-8D77-06BF96FB3353}"/>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1885347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782FC-4538-D076-9C96-8704C3F1D0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7B11A1-7714-AE64-699D-44B203505E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D376D9-30C6-B801-72A2-3246E6FB98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9D2D62-5667-F600-0DAA-5A408FBD5D8E}"/>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6" name="Footer Placeholder 5">
            <a:extLst>
              <a:ext uri="{FF2B5EF4-FFF2-40B4-BE49-F238E27FC236}">
                <a16:creationId xmlns:a16="http://schemas.microsoft.com/office/drawing/2014/main" id="{EA347D9E-87DA-98B7-5F52-691FED7A41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BBA626-A15C-959E-05EC-96297CC74BD4}"/>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170791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275E1-FFBB-1E2E-F1B3-B317E1E8E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6C13CE7-9F12-31BD-1EA5-A156A9DFBA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75824D-E168-D94B-EA77-B55D186745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C90108-54E8-F134-41AE-CD72E2B0B853}"/>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6" name="Footer Placeholder 5">
            <a:extLst>
              <a:ext uri="{FF2B5EF4-FFF2-40B4-BE49-F238E27FC236}">
                <a16:creationId xmlns:a16="http://schemas.microsoft.com/office/drawing/2014/main" id="{C954A763-BCCA-17EA-0E6A-FD620C281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08398-2214-1728-A019-1058A6E737DC}"/>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17766735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FD228-8A1D-0347-04ED-AC1779DFC0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E5F71E6-9E2D-2F70-7239-16B4F51E2D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89E289-AD9F-A4CC-D086-9C00D54341C7}"/>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E0E2A71D-1730-0E03-DAFD-BF79979371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B8B477-2FA7-2226-7B66-76845AD2471C}"/>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3309489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B0BCE-6E24-6E83-B431-F3A188D37A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447E46-527F-242B-6113-90068CC43C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71EE7E-10FF-C67D-02A9-F4F7B2FA7BF2}"/>
              </a:ext>
            </a:extLst>
          </p:cNvPr>
          <p:cNvSpPr>
            <a:spLocks noGrp="1"/>
          </p:cNvSpPr>
          <p:nvPr>
            <p:ph type="dt" sz="half" idx="10"/>
          </p:nvPr>
        </p:nvSpPr>
        <p:spPr/>
        <p:txBody>
          <a:body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B04A472C-F0AC-9717-65C3-8F9B76D35A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048F7-5BC3-1678-26F7-B69C348CCCB1}"/>
              </a:ext>
            </a:extLst>
          </p:cNvPr>
          <p:cNvSpPr>
            <a:spLocks noGrp="1"/>
          </p:cNvSpPr>
          <p:nvPr>
            <p:ph type="sldNum" sz="quarter" idx="12"/>
          </p:nvPr>
        </p:nvSpPr>
        <p:spPr/>
        <p:txBody>
          <a:bodyPr/>
          <a:lstStyle/>
          <a:p>
            <a:fld id="{EAA5C27E-E1C3-4CD6-8DE0-707B8AFDF264}" type="slidenum">
              <a:rPr lang="en-US" smtClean="0"/>
              <a:t>‹#›</a:t>
            </a:fld>
            <a:endParaRPr lang="en-US"/>
          </a:p>
        </p:txBody>
      </p:sp>
    </p:spTree>
    <p:extLst>
      <p:ext uri="{BB962C8B-B14F-4D97-AF65-F5344CB8AC3E}">
        <p14:creationId xmlns:p14="http://schemas.microsoft.com/office/powerpoint/2010/main" val="1193393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F912E0-DB55-45FE-1EBC-3CC61C9140E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9FFB47F-1A87-49D4-DCE0-0207A8EB74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81B2B-F662-3A50-BEE7-A936474B2F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7B4C-293D-4B38-AFCF-05810FD04491}" type="datetimeFigureOut">
              <a:rPr lang="en-US" smtClean="0"/>
              <a:t>2/11/2026</a:t>
            </a:fld>
            <a:endParaRPr lang="en-US"/>
          </a:p>
        </p:txBody>
      </p:sp>
      <p:sp>
        <p:nvSpPr>
          <p:cNvPr id="5" name="Footer Placeholder 4">
            <a:extLst>
              <a:ext uri="{FF2B5EF4-FFF2-40B4-BE49-F238E27FC236}">
                <a16:creationId xmlns:a16="http://schemas.microsoft.com/office/drawing/2014/main" id="{5C4C5FE9-5539-12F0-D853-51A64FB051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FA7492-6693-7562-4C95-929C9A9619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A5C27E-E1C3-4CD6-8DE0-707B8AFDF264}" type="slidenum">
              <a:rPr lang="en-US" smtClean="0"/>
              <a:t>‹#›</a:t>
            </a:fld>
            <a:endParaRPr lang="en-US"/>
          </a:p>
        </p:txBody>
      </p:sp>
    </p:spTree>
    <p:extLst>
      <p:ext uri="{BB962C8B-B14F-4D97-AF65-F5344CB8AC3E}">
        <p14:creationId xmlns:p14="http://schemas.microsoft.com/office/powerpoint/2010/main" val="1990621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E4BE9-D444-9F29-0C60-6023ED3FA0E3}"/>
              </a:ext>
            </a:extLst>
          </p:cNvPr>
          <p:cNvSpPr>
            <a:spLocks noGrp="1"/>
          </p:cNvSpPr>
          <p:nvPr>
            <p:ph type="ctrTitle"/>
          </p:nvPr>
        </p:nvSpPr>
        <p:spPr/>
        <p:txBody>
          <a:bodyPr/>
          <a:lstStyle/>
          <a:p>
            <a:r>
              <a:rPr lang="en-US" b="1" dirty="0" err="1"/>
              <a:t>Tikimybės</a:t>
            </a:r>
            <a:r>
              <a:rPr lang="en-US" b="1" dirty="0"/>
              <a:t> </a:t>
            </a:r>
            <a:r>
              <a:rPr lang="en-US" b="1" dirty="0" err="1"/>
              <a:t>ir</a:t>
            </a:r>
            <a:r>
              <a:rPr lang="en-US" b="1" dirty="0"/>
              <a:t> </a:t>
            </a:r>
            <a:r>
              <a:rPr lang="en-US" b="1" dirty="0" err="1"/>
              <a:t>tikimybiniai</a:t>
            </a:r>
            <a:r>
              <a:rPr lang="en-US" b="1" dirty="0"/>
              <a:t> </a:t>
            </a:r>
            <a:r>
              <a:rPr lang="en-US" b="1" dirty="0" err="1"/>
              <a:t>skirstiniai</a:t>
            </a:r>
            <a:endParaRPr lang="en-US" b="1" dirty="0"/>
          </a:p>
        </p:txBody>
      </p:sp>
      <p:sp>
        <p:nvSpPr>
          <p:cNvPr id="3" name="Subtitle 2">
            <a:extLst>
              <a:ext uri="{FF2B5EF4-FFF2-40B4-BE49-F238E27FC236}">
                <a16:creationId xmlns:a16="http://schemas.microsoft.com/office/drawing/2014/main" id="{553BA43F-15B4-7623-1577-00920D2F92CC}"/>
              </a:ext>
            </a:extLst>
          </p:cNvPr>
          <p:cNvSpPr>
            <a:spLocks noGrp="1"/>
          </p:cNvSpPr>
          <p:nvPr>
            <p:ph type="subTitle" idx="1"/>
          </p:nvPr>
        </p:nvSpPr>
        <p:spPr>
          <a:xfrm>
            <a:off x="1350682" y="4870824"/>
            <a:ext cx="10005951" cy="1458258"/>
          </a:xfrm>
        </p:spPr>
        <p:txBody>
          <a:bodyPr anchor="ctr">
            <a:normAutofit/>
          </a:bodyPr>
          <a:lstStyle/>
          <a:p>
            <a:r>
              <a:rPr lang="lt-LT" sz="3400" dirty="0"/>
              <a:t>Žydrūnė Kelpšaitė</a:t>
            </a:r>
          </a:p>
          <a:p>
            <a:r>
              <a:rPr lang="lt-LT" sz="3400" dirty="0"/>
              <a:t>Data </a:t>
            </a:r>
            <a:r>
              <a:rPr lang="lt-LT" sz="3400" dirty="0" err="1"/>
              <a:t>Analyst</a:t>
            </a:r>
            <a:endParaRPr lang="en-US" sz="3400" dirty="0"/>
          </a:p>
        </p:txBody>
      </p:sp>
    </p:spTree>
    <p:extLst>
      <p:ext uri="{BB962C8B-B14F-4D97-AF65-F5344CB8AC3E}">
        <p14:creationId xmlns:p14="http://schemas.microsoft.com/office/powerpoint/2010/main" val="823180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2000"/>
                                  </p:stCondLst>
                                  <p:iterate type="lt">
                                    <p:tmPct val="1000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AE32D-4B70-012D-0F22-CD86135AA7E3}"/>
              </a:ext>
            </a:extLst>
          </p:cNvPr>
          <p:cNvSpPr>
            <a:spLocks noGrp="1"/>
          </p:cNvSpPr>
          <p:nvPr>
            <p:ph type="title"/>
          </p:nvPr>
        </p:nvSpPr>
        <p:spPr/>
        <p:txBody>
          <a:bodyPr/>
          <a:lstStyle/>
          <a:p>
            <a:r>
              <a:rPr lang="en-US" dirty="0" err="1"/>
              <a:t>Tikimybės</a:t>
            </a:r>
            <a:r>
              <a:rPr lang="en-US" dirty="0"/>
              <a:t> </a:t>
            </a:r>
          </a:p>
        </p:txBody>
      </p:sp>
      <p:sp>
        <p:nvSpPr>
          <p:cNvPr id="3" name="Content Placeholder 2">
            <a:extLst>
              <a:ext uri="{FF2B5EF4-FFF2-40B4-BE49-F238E27FC236}">
                <a16:creationId xmlns:a16="http://schemas.microsoft.com/office/drawing/2014/main" id="{8DF61948-D2F6-FF6C-3DF6-7EBD028DFA21}"/>
              </a:ext>
            </a:extLst>
          </p:cNvPr>
          <p:cNvSpPr>
            <a:spLocks noGrp="1"/>
          </p:cNvSpPr>
          <p:nvPr>
            <p:ph idx="1"/>
          </p:nvPr>
        </p:nvSpPr>
        <p:spPr/>
        <p:txBody>
          <a:bodyPr>
            <a:normAutofit fontScale="92500" lnSpcReduction="20000"/>
          </a:bodyPr>
          <a:lstStyle/>
          <a:p>
            <a:pPr marL="0" indent="0">
              <a:buNone/>
            </a:pPr>
            <a:r>
              <a:rPr lang="lt-LT" dirty="0"/>
              <a:t>Tikimybių teorija – matematikos šaka, tirianti atsitiktinius įvykius ir jų įvykimo tikimybes.</a:t>
            </a:r>
          </a:p>
          <a:p>
            <a:pPr marL="0" indent="0">
              <a:buNone/>
            </a:pPr>
            <a:endParaRPr lang="en-US" dirty="0"/>
          </a:p>
          <a:p>
            <a:pPr marL="0" indent="0">
              <a:buNone/>
            </a:pPr>
            <a:r>
              <a:rPr lang="lt-LT" dirty="0"/>
              <a:t>Tikimybė yra </a:t>
            </a:r>
            <a:r>
              <a:rPr lang="lt-LT" b="1" dirty="0"/>
              <a:t>skaitinė reikšmė </a:t>
            </a:r>
            <a:r>
              <a:rPr lang="lt-LT" dirty="0"/>
              <a:t>intervale </a:t>
            </a:r>
            <a:r>
              <a:rPr lang="lt-LT" b="1" dirty="0"/>
              <a:t>nuo 0 iki 1</a:t>
            </a:r>
            <a:r>
              <a:rPr lang="lt-LT" dirty="0"/>
              <a:t>, nusakanti įvykio įvykimo galimumą.</a:t>
            </a:r>
          </a:p>
          <a:p>
            <a:pPr marL="0" indent="0">
              <a:buNone/>
            </a:pPr>
            <a:endParaRPr lang="en-US" dirty="0"/>
          </a:p>
          <a:p>
            <a:pPr marL="0" indent="0">
              <a:buNone/>
            </a:pPr>
            <a:r>
              <a:rPr lang="lt-LT" dirty="0"/>
              <a:t>Reikšmė 0 reiškia, kad įvykis neįmanomas, o reikšmė 1 – kad įvykis įvyks užtikrintai.</a:t>
            </a:r>
          </a:p>
          <a:p>
            <a:pPr marL="0" indent="0">
              <a:buNone/>
            </a:pPr>
            <a:endParaRPr lang="en-US" dirty="0"/>
          </a:p>
          <a:p>
            <a:pPr marL="0" indent="0">
              <a:buNone/>
            </a:pPr>
            <a:r>
              <a:rPr lang="lt-LT" dirty="0"/>
              <a:t>Tikimybių teorija duomenų analizėje naudojama</a:t>
            </a:r>
            <a:r>
              <a:rPr lang="lt-LT" dirty="0">
                <a:highlight>
                  <a:srgbClr val="FFFF00"/>
                </a:highlight>
              </a:rPr>
              <a:t> neapibrėžtumui ir duomenų kintamumui modeliuoti, rizikai vertinti ir statistiniams sprendimams pagrįsti.</a:t>
            </a:r>
          </a:p>
        </p:txBody>
      </p:sp>
    </p:spTree>
    <p:extLst>
      <p:ext uri="{BB962C8B-B14F-4D97-AF65-F5344CB8AC3E}">
        <p14:creationId xmlns:p14="http://schemas.microsoft.com/office/powerpoint/2010/main" val="50536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FE3BB-8BC5-7B18-B057-853745376EF3}"/>
              </a:ext>
            </a:extLst>
          </p:cNvPr>
          <p:cNvSpPr>
            <a:spLocks noGrp="1"/>
          </p:cNvSpPr>
          <p:nvPr>
            <p:ph type="title"/>
          </p:nvPr>
        </p:nvSpPr>
        <p:spPr/>
        <p:txBody>
          <a:bodyPr/>
          <a:lstStyle/>
          <a:p>
            <a:r>
              <a:rPr lang="en-US" dirty="0" err="1"/>
              <a:t>Pagrindinės</a:t>
            </a:r>
            <a:r>
              <a:rPr lang="en-US" dirty="0"/>
              <a:t> </a:t>
            </a:r>
            <a:r>
              <a:rPr lang="en-US" dirty="0" err="1"/>
              <a:t>tikimybės</a:t>
            </a:r>
            <a:endParaRPr lang="en-US" dirty="0"/>
          </a:p>
        </p:txBody>
      </p:sp>
      <p:sp>
        <p:nvSpPr>
          <p:cNvPr id="3" name="Content Placeholder 2">
            <a:extLst>
              <a:ext uri="{FF2B5EF4-FFF2-40B4-BE49-F238E27FC236}">
                <a16:creationId xmlns:a16="http://schemas.microsoft.com/office/drawing/2014/main" id="{F2EFB736-5E6E-35E3-EA4D-0F5D522F6509}"/>
              </a:ext>
            </a:extLst>
          </p:cNvPr>
          <p:cNvSpPr>
            <a:spLocks noGrp="1"/>
          </p:cNvSpPr>
          <p:nvPr>
            <p:ph idx="1"/>
          </p:nvPr>
        </p:nvSpPr>
        <p:spPr>
          <a:xfrm>
            <a:off x="838200" y="1825625"/>
            <a:ext cx="8164286" cy="4368346"/>
          </a:xfrm>
        </p:spPr>
        <p:txBody>
          <a:bodyPr/>
          <a:lstStyle/>
          <a:p>
            <a:pPr marL="0" indent="0">
              <a:buNone/>
            </a:pPr>
            <a:r>
              <a:rPr lang="en-US" b="1" dirty="0" err="1"/>
              <a:t>Klasikinė</a:t>
            </a:r>
            <a:r>
              <a:rPr lang="en-US" b="1" dirty="0"/>
              <a:t> </a:t>
            </a:r>
            <a:r>
              <a:rPr lang="en-US" b="1" dirty="0" err="1"/>
              <a:t>tikimybė</a:t>
            </a:r>
            <a:endParaRPr lang="en-US" b="1" dirty="0"/>
          </a:p>
          <a:p>
            <a:endParaRPr lang="en-US" dirty="0"/>
          </a:p>
          <a:p>
            <a:pPr marL="0" indent="0">
              <a:buNone/>
            </a:pPr>
            <a:r>
              <a:rPr lang="en-US" b="1" dirty="0" err="1"/>
              <a:t>Sąlyginė</a:t>
            </a:r>
            <a:r>
              <a:rPr lang="en-US" b="1" dirty="0"/>
              <a:t> </a:t>
            </a:r>
            <a:r>
              <a:rPr lang="en-US" b="1" dirty="0" err="1"/>
              <a:t>tikimybė</a:t>
            </a:r>
            <a:r>
              <a:rPr lang="en-US" b="1" dirty="0"/>
              <a:t>. </a:t>
            </a:r>
            <a:r>
              <a:rPr lang="en-US" dirty="0" err="1"/>
              <a:t>Tikimybė</a:t>
            </a:r>
            <a:r>
              <a:rPr lang="en-US" dirty="0"/>
              <a:t>, </a:t>
            </a:r>
            <a:r>
              <a:rPr lang="en-US" dirty="0" err="1"/>
              <a:t>kad</a:t>
            </a:r>
            <a:r>
              <a:rPr lang="en-US" dirty="0"/>
              <a:t> </a:t>
            </a:r>
            <a:r>
              <a:rPr lang="en-US" dirty="0" err="1"/>
              <a:t>įvyks</a:t>
            </a:r>
            <a:r>
              <a:rPr lang="en-US" dirty="0"/>
              <a:t> A </a:t>
            </a:r>
            <a:r>
              <a:rPr lang="en-US" dirty="0" err="1"/>
              <a:t>jei</a:t>
            </a:r>
            <a:r>
              <a:rPr lang="en-US" dirty="0"/>
              <a:t> </a:t>
            </a:r>
            <a:r>
              <a:rPr lang="en-US" dirty="0" err="1"/>
              <a:t>žinome</a:t>
            </a:r>
            <a:r>
              <a:rPr lang="en-US" dirty="0"/>
              <a:t>, </a:t>
            </a:r>
            <a:r>
              <a:rPr lang="en-US" dirty="0" err="1"/>
              <a:t>kad</a:t>
            </a:r>
            <a:r>
              <a:rPr lang="en-US" dirty="0"/>
              <a:t> </a:t>
            </a:r>
            <a:r>
              <a:rPr lang="en-US" dirty="0" err="1"/>
              <a:t>įvyko</a:t>
            </a:r>
            <a:r>
              <a:rPr lang="en-US" dirty="0"/>
              <a:t> B.</a:t>
            </a:r>
          </a:p>
          <a:p>
            <a:endParaRPr lang="en-US" dirty="0"/>
          </a:p>
          <a:p>
            <a:endParaRPr lang="en-US" dirty="0"/>
          </a:p>
          <a:p>
            <a:pPr marL="0" indent="0">
              <a:buNone/>
            </a:pPr>
            <a:r>
              <a:rPr lang="en-US" b="1" dirty="0" err="1"/>
              <a:t>Jungtinė</a:t>
            </a:r>
            <a:r>
              <a:rPr lang="en-US" b="1" dirty="0"/>
              <a:t> </a:t>
            </a:r>
            <a:r>
              <a:rPr lang="en-US" b="1" dirty="0" err="1"/>
              <a:t>tikimybė</a:t>
            </a:r>
            <a:r>
              <a:rPr lang="en-US" b="1" dirty="0"/>
              <a:t>.  </a:t>
            </a:r>
            <a:r>
              <a:rPr lang="en-US" dirty="0" err="1"/>
              <a:t>Tikimybė</a:t>
            </a:r>
            <a:r>
              <a:rPr lang="en-US" dirty="0"/>
              <a:t>, </a:t>
            </a:r>
            <a:r>
              <a:rPr lang="en-US" dirty="0" err="1"/>
              <a:t>kad</a:t>
            </a:r>
            <a:r>
              <a:rPr lang="en-US" dirty="0"/>
              <a:t> du </a:t>
            </a:r>
            <a:r>
              <a:rPr lang="en-US" dirty="0" err="1"/>
              <a:t>įvykiai</a:t>
            </a:r>
            <a:r>
              <a:rPr lang="en-US" dirty="0"/>
              <a:t> </a:t>
            </a:r>
            <a:r>
              <a:rPr lang="en-US" dirty="0" err="1"/>
              <a:t>įvyks</a:t>
            </a:r>
            <a:r>
              <a:rPr lang="en-US" dirty="0"/>
              <a:t> </a:t>
            </a:r>
            <a:r>
              <a:rPr lang="en-US" dirty="0" err="1"/>
              <a:t>kartu</a:t>
            </a:r>
            <a:r>
              <a:rPr lang="en-US" dirty="0"/>
              <a:t>.</a:t>
            </a:r>
          </a:p>
        </p:txBody>
      </p:sp>
      <p:pic>
        <p:nvPicPr>
          <p:cNvPr id="7" name="Picture 6">
            <a:extLst>
              <a:ext uri="{FF2B5EF4-FFF2-40B4-BE49-F238E27FC236}">
                <a16:creationId xmlns:a16="http://schemas.microsoft.com/office/drawing/2014/main" id="{703F4B35-FF44-C8F7-F88D-CFE962422F9C}"/>
              </a:ext>
            </a:extLst>
          </p:cNvPr>
          <p:cNvPicPr>
            <a:picLocks noChangeAspect="1"/>
          </p:cNvPicPr>
          <p:nvPr/>
        </p:nvPicPr>
        <p:blipFill>
          <a:blip r:embed="rId2"/>
          <a:stretch>
            <a:fillRect/>
          </a:stretch>
        </p:blipFill>
        <p:spPr>
          <a:xfrm>
            <a:off x="4388906" y="3400851"/>
            <a:ext cx="2542454" cy="939719"/>
          </a:xfrm>
          <a:prstGeom prst="rect">
            <a:avLst/>
          </a:prstGeom>
        </p:spPr>
      </p:pic>
      <p:pic>
        <p:nvPicPr>
          <p:cNvPr id="9" name="Picture 8">
            <a:extLst>
              <a:ext uri="{FF2B5EF4-FFF2-40B4-BE49-F238E27FC236}">
                <a16:creationId xmlns:a16="http://schemas.microsoft.com/office/drawing/2014/main" id="{E2AD2BEB-D540-F14A-67F1-9A82853A8DD6}"/>
              </a:ext>
            </a:extLst>
          </p:cNvPr>
          <p:cNvPicPr>
            <a:picLocks noChangeAspect="1"/>
          </p:cNvPicPr>
          <p:nvPr/>
        </p:nvPicPr>
        <p:blipFill>
          <a:blip r:embed="rId3"/>
          <a:stretch>
            <a:fillRect/>
          </a:stretch>
        </p:blipFill>
        <p:spPr>
          <a:xfrm>
            <a:off x="3433829" y="5157649"/>
            <a:ext cx="4595609" cy="713882"/>
          </a:xfrm>
          <a:prstGeom prst="rect">
            <a:avLst/>
          </a:prstGeom>
        </p:spPr>
      </p:pic>
      <p:pic>
        <p:nvPicPr>
          <p:cNvPr id="11" name="Picture 10">
            <a:extLst>
              <a:ext uri="{FF2B5EF4-FFF2-40B4-BE49-F238E27FC236}">
                <a16:creationId xmlns:a16="http://schemas.microsoft.com/office/drawing/2014/main" id="{84F6AE52-8130-F882-C227-5BDF862935D5}"/>
              </a:ext>
            </a:extLst>
          </p:cNvPr>
          <p:cNvPicPr>
            <a:picLocks noChangeAspect="1"/>
          </p:cNvPicPr>
          <p:nvPr/>
        </p:nvPicPr>
        <p:blipFill>
          <a:blip r:embed="rId4"/>
          <a:stretch>
            <a:fillRect/>
          </a:stretch>
        </p:blipFill>
        <p:spPr>
          <a:xfrm>
            <a:off x="4307012" y="1768873"/>
            <a:ext cx="3997729" cy="713881"/>
          </a:xfrm>
          <a:prstGeom prst="rect">
            <a:avLst/>
          </a:prstGeom>
        </p:spPr>
      </p:pic>
      <p:sp>
        <p:nvSpPr>
          <p:cNvPr id="5" name="TextBox 4">
            <a:extLst>
              <a:ext uri="{FF2B5EF4-FFF2-40B4-BE49-F238E27FC236}">
                <a16:creationId xmlns:a16="http://schemas.microsoft.com/office/drawing/2014/main" id="{8671219B-77AC-8D9F-3836-CDDDC78B14B6}"/>
              </a:ext>
            </a:extLst>
          </p:cNvPr>
          <p:cNvSpPr txBox="1"/>
          <p:nvPr/>
        </p:nvSpPr>
        <p:spPr>
          <a:xfrm>
            <a:off x="9989224" y="1544996"/>
            <a:ext cx="2122714" cy="3416320"/>
          </a:xfrm>
          <a:prstGeom prst="rect">
            <a:avLst/>
          </a:prstGeom>
          <a:noFill/>
        </p:spPr>
        <p:txBody>
          <a:bodyPr wrap="square">
            <a:spAutoFit/>
          </a:bodyPr>
          <a:lstStyle/>
          <a:p>
            <a:r>
              <a:rPr lang="lt-LT" dirty="0"/>
              <a:t>Analitiniame kontekste </a:t>
            </a:r>
            <a:r>
              <a:rPr lang="lt-LT" b="1" dirty="0"/>
              <a:t>sąlyginė ir jungtinė tikimybės </a:t>
            </a:r>
            <a:r>
              <a:rPr lang="lt-LT" dirty="0"/>
              <a:t>yra pagrindas koreliacijai, </a:t>
            </a:r>
            <a:r>
              <a:rPr lang="lt-LT" dirty="0" err="1"/>
              <a:t>Bayeso</a:t>
            </a:r>
            <a:r>
              <a:rPr lang="lt-LT" dirty="0"/>
              <a:t> teoremai ir statistiniams modeliams, naudojamiems prognozavime ir rizikos vertinime.</a:t>
            </a:r>
          </a:p>
        </p:txBody>
      </p:sp>
    </p:spTree>
    <p:extLst>
      <p:ext uri="{BB962C8B-B14F-4D97-AF65-F5344CB8AC3E}">
        <p14:creationId xmlns:p14="http://schemas.microsoft.com/office/powerpoint/2010/main" val="329107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16E7C-080E-69A6-05CC-518F4D659DAD}"/>
              </a:ext>
            </a:extLst>
          </p:cNvPr>
          <p:cNvSpPr>
            <a:spLocks noGrp="1"/>
          </p:cNvSpPr>
          <p:nvPr>
            <p:ph idx="1"/>
          </p:nvPr>
        </p:nvSpPr>
        <p:spPr/>
        <p:txBody>
          <a:bodyPr>
            <a:normAutofit fontScale="92500"/>
          </a:bodyPr>
          <a:lstStyle/>
          <a:p>
            <a:r>
              <a:rPr lang="lt-LT" b="1" dirty="0"/>
              <a:t>Populiacija</a:t>
            </a:r>
            <a:r>
              <a:rPr lang="lt-LT" dirty="0"/>
              <a:t> – tai visų tiriamą savybę turinčių objektų visuma, apie kurią siekiama padaryti apibendrintas išvadas. Duomenų analizėje populiacija dažnai yra per didelė ar neprieinama pilnam stebėjimui, pavyzdžiui, visi šalies gyventojai ar visos tam tikro sektoriaus įmonės.</a:t>
            </a:r>
          </a:p>
          <a:p>
            <a:r>
              <a:rPr lang="lt-LT" b="1" dirty="0"/>
              <a:t>Imtis</a:t>
            </a:r>
            <a:r>
              <a:rPr lang="lt-LT" dirty="0"/>
              <a:t> </a:t>
            </a:r>
            <a:r>
              <a:rPr lang="en-US" dirty="0"/>
              <a:t>(sample) </a:t>
            </a:r>
            <a:r>
              <a:rPr lang="lt-LT" dirty="0"/>
              <a:t>– tai populiacijos dalis, kuri faktiškai tiriama statistiniame tyrime. Ji naudojama kaip populiacijos „atstovas“, leidžiantis atlikti skaičiavimus ir analizę praktiškai.</a:t>
            </a:r>
          </a:p>
          <a:p>
            <a:pPr marL="0" indent="0">
              <a:buNone/>
            </a:pPr>
            <a:r>
              <a:rPr lang="lt-LT" dirty="0"/>
              <a:t>Imtis tiriama tam, kad būtų galima daryti išvadas apie visą populiaciją. Kad šios išvados būtų patikimos, </a:t>
            </a:r>
            <a:r>
              <a:rPr lang="lt-LT" b="1" dirty="0"/>
              <a:t>imtis</a:t>
            </a:r>
            <a:r>
              <a:rPr lang="lt-LT" dirty="0"/>
              <a:t> </a:t>
            </a:r>
            <a:r>
              <a:rPr lang="en-US" dirty="0" err="1"/>
              <a:t>yra</a:t>
            </a:r>
            <a:r>
              <a:rPr lang="en-US" dirty="0"/>
              <a:t> </a:t>
            </a:r>
            <a:r>
              <a:rPr lang="lt-LT" dirty="0"/>
              <a:t>mažesnė už populiaciją, bet pakankamai </a:t>
            </a:r>
            <a:r>
              <a:rPr lang="lt-LT" b="1" dirty="0"/>
              <a:t>reprezentatyvi</a:t>
            </a:r>
            <a:r>
              <a:rPr lang="lt-LT" dirty="0"/>
              <a:t>, tai yra tiksliai atspindėti pagrindines populiacijos charakteristikas ir struktūrą.</a:t>
            </a:r>
          </a:p>
          <a:p>
            <a:endParaRPr lang="en-US" dirty="0"/>
          </a:p>
        </p:txBody>
      </p:sp>
      <p:sp>
        <p:nvSpPr>
          <p:cNvPr id="4" name="Title 1">
            <a:extLst>
              <a:ext uri="{FF2B5EF4-FFF2-40B4-BE49-F238E27FC236}">
                <a16:creationId xmlns:a16="http://schemas.microsoft.com/office/drawing/2014/main" id="{E5EBF3F7-B861-95D3-51C7-8305677E70BA}"/>
              </a:ext>
            </a:extLst>
          </p:cNvPr>
          <p:cNvSpPr>
            <a:spLocks noGrp="1"/>
          </p:cNvSpPr>
          <p:nvPr>
            <p:ph type="title"/>
          </p:nvPr>
        </p:nvSpPr>
        <p:spPr>
          <a:xfrm>
            <a:off x="838200" y="365125"/>
            <a:ext cx="10515600" cy="1325563"/>
          </a:xfrm>
        </p:spPr>
        <p:txBody>
          <a:bodyPr/>
          <a:lstStyle/>
          <a:p>
            <a:r>
              <a:rPr lang="en-US" dirty="0" err="1"/>
              <a:t>Imtis</a:t>
            </a:r>
            <a:r>
              <a:rPr lang="en-US" dirty="0"/>
              <a:t> </a:t>
            </a:r>
            <a:r>
              <a:rPr lang="en-US" dirty="0" err="1"/>
              <a:t>ir</a:t>
            </a:r>
            <a:r>
              <a:rPr lang="en-US" dirty="0"/>
              <a:t> </a:t>
            </a:r>
            <a:r>
              <a:rPr lang="en-US" dirty="0" err="1"/>
              <a:t>populiacija</a:t>
            </a:r>
            <a:endParaRPr lang="en-US" dirty="0"/>
          </a:p>
        </p:txBody>
      </p:sp>
    </p:spTree>
    <p:extLst>
      <p:ext uri="{BB962C8B-B14F-4D97-AF65-F5344CB8AC3E}">
        <p14:creationId xmlns:p14="http://schemas.microsoft.com/office/powerpoint/2010/main" val="3700420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8E9BDA0-0A36-EA61-6308-3222343E4B00}"/>
              </a:ext>
            </a:extLst>
          </p:cNvPr>
          <p:cNvSpPr>
            <a:spLocks noGrp="1"/>
          </p:cNvSpPr>
          <p:nvPr>
            <p:ph type="title"/>
          </p:nvPr>
        </p:nvSpPr>
        <p:spPr/>
        <p:txBody>
          <a:bodyPr/>
          <a:lstStyle/>
          <a:p>
            <a:r>
              <a:rPr lang="lt-LT" dirty="0"/>
              <a:t>Atrankos metodai</a:t>
            </a:r>
          </a:p>
        </p:txBody>
      </p:sp>
      <p:sp>
        <p:nvSpPr>
          <p:cNvPr id="3" name="Turinio vietos rezervavimo ženklas 2">
            <a:extLst>
              <a:ext uri="{FF2B5EF4-FFF2-40B4-BE49-F238E27FC236}">
                <a16:creationId xmlns:a16="http://schemas.microsoft.com/office/drawing/2014/main" id="{5421AE21-80A3-37A4-FD5D-E487E7A4A459}"/>
              </a:ext>
            </a:extLst>
          </p:cNvPr>
          <p:cNvSpPr>
            <a:spLocks noGrp="1"/>
          </p:cNvSpPr>
          <p:nvPr>
            <p:ph idx="1"/>
          </p:nvPr>
        </p:nvSpPr>
        <p:spPr/>
        <p:txBody>
          <a:bodyPr>
            <a:normAutofit fontScale="55000" lnSpcReduction="20000"/>
          </a:bodyPr>
          <a:lstStyle/>
          <a:p>
            <a:r>
              <a:rPr lang="en-US" dirty="0" err="1"/>
              <a:t>Atrankos</a:t>
            </a:r>
            <a:r>
              <a:rPr lang="en-US" dirty="0"/>
              <a:t> </a:t>
            </a:r>
            <a:r>
              <a:rPr lang="en-US" dirty="0" err="1"/>
              <a:t>metodai</a:t>
            </a:r>
            <a:r>
              <a:rPr lang="en-US" dirty="0"/>
              <a:t> (sampling methods) </a:t>
            </a:r>
            <a:r>
              <a:rPr lang="lt-LT" dirty="0"/>
              <a:t>apibrėžia, </a:t>
            </a:r>
            <a:r>
              <a:rPr lang="lt-LT" b="1" dirty="0"/>
              <a:t>kaip iš populiacijos parenkama imtis</a:t>
            </a:r>
            <a:r>
              <a:rPr lang="lt-LT" dirty="0"/>
              <a:t>, kad ji patikimai atspindėtų populiacijos struktūrą ir leistų daryti statistines išvadas.</a:t>
            </a:r>
          </a:p>
          <a:p>
            <a:r>
              <a:rPr lang="lt-LT" b="1" dirty="0"/>
              <a:t>Atsitiktinė atranka </a:t>
            </a:r>
            <a:r>
              <a:rPr lang="lt-LT" dirty="0"/>
              <a:t>(</a:t>
            </a:r>
            <a:r>
              <a:rPr lang="lt-LT" dirty="0" err="1"/>
              <a:t>Simple</a:t>
            </a:r>
            <a:r>
              <a:rPr lang="lt-LT" dirty="0"/>
              <a:t> </a:t>
            </a:r>
            <a:r>
              <a:rPr lang="lt-LT" dirty="0" err="1"/>
              <a:t>Random</a:t>
            </a:r>
            <a:r>
              <a:rPr lang="lt-LT" dirty="0"/>
              <a:t> </a:t>
            </a:r>
            <a:r>
              <a:rPr lang="lt-LT" dirty="0" err="1"/>
              <a:t>Sampling</a:t>
            </a:r>
            <a:r>
              <a:rPr lang="lt-LT" dirty="0"/>
              <a:t>)</a:t>
            </a:r>
            <a:br>
              <a:rPr lang="lt-LT" dirty="0"/>
            </a:br>
            <a:r>
              <a:rPr lang="lt-LT" dirty="0"/>
              <a:t>Kiekvienas populiacijos elementas turi vienodą tikimybę patekti į imtį. Šis metodas laikomas statistiniu standartu, tačiau praktikoje reikalauja pilno populiacijos sąrašo. Pavyzdys – atsitiktinai atrinkti Lietuvos gyventojai, neatsižvelgiant į jų išsilavinimą.</a:t>
            </a:r>
          </a:p>
          <a:p>
            <a:r>
              <a:rPr lang="lt-LT" b="1" dirty="0" err="1"/>
              <a:t>Stratifikuota</a:t>
            </a:r>
            <a:r>
              <a:rPr lang="lt-LT" b="1" dirty="0"/>
              <a:t> atranka </a:t>
            </a:r>
            <a:r>
              <a:rPr lang="lt-LT" dirty="0"/>
              <a:t>(</a:t>
            </a:r>
            <a:r>
              <a:rPr lang="lt-LT" dirty="0" err="1"/>
              <a:t>Stratified</a:t>
            </a:r>
            <a:r>
              <a:rPr lang="lt-LT" dirty="0"/>
              <a:t> </a:t>
            </a:r>
            <a:r>
              <a:rPr lang="lt-LT" dirty="0" err="1"/>
              <a:t>Sampling</a:t>
            </a:r>
            <a:r>
              <a:rPr lang="lt-LT" dirty="0"/>
              <a:t>)</a:t>
            </a:r>
            <a:br>
              <a:rPr lang="lt-LT" dirty="0"/>
            </a:br>
            <a:r>
              <a:rPr lang="lt-LT" dirty="0"/>
              <a:t>Populiacija suskirstoma į grupes pagal svarbią charakteristiką, pavyzdžiui, išsilavinimą, o imtis formuojama proporcingai iš kiekvienos grupės. Šis metodas ypač naudingas, kai svarbu, kad visi išsilavinimo lygiai būtų tinkamai atstovaujami.</a:t>
            </a:r>
          </a:p>
          <a:p>
            <a:r>
              <a:rPr lang="lt-LT" b="1" dirty="0"/>
              <a:t>Sluoksninė / klasterinė atranka </a:t>
            </a:r>
            <a:r>
              <a:rPr lang="lt-LT" dirty="0"/>
              <a:t>(</a:t>
            </a:r>
            <a:r>
              <a:rPr lang="lt-LT" dirty="0" err="1"/>
              <a:t>Cluster</a:t>
            </a:r>
            <a:r>
              <a:rPr lang="lt-LT" dirty="0"/>
              <a:t> </a:t>
            </a:r>
            <a:r>
              <a:rPr lang="lt-LT" dirty="0" err="1"/>
              <a:t>Sampling</a:t>
            </a:r>
            <a:r>
              <a:rPr lang="lt-LT" dirty="0"/>
              <a:t>)</a:t>
            </a:r>
            <a:br>
              <a:rPr lang="lt-LT" dirty="0"/>
            </a:br>
            <a:r>
              <a:rPr lang="lt-LT" dirty="0"/>
              <a:t>Populiacija skirstoma į natūralias grupes, pavyzdžiui, mokyklas, universitetus ar regionus, ir atrenkami keli klasteriai, kurių visi elementai tiriami. Metodas efektyvus, kai individualių stebėjimų rinkimas yra brangus ar sudėtingas.</a:t>
            </a:r>
          </a:p>
          <a:p>
            <a:r>
              <a:rPr lang="lt-LT" b="1" dirty="0">
                <a:highlight>
                  <a:srgbClr val="FFFF00"/>
                </a:highlight>
              </a:rPr>
              <a:t>Patogioji atranka </a:t>
            </a:r>
            <a:r>
              <a:rPr lang="lt-LT" dirty="0">
                <a:highlight>
                  <a:srgbClr val="FFFF00"/>
                </a:highlight>
              </a:rPr>
              <a:t>(</a:t>
            </a:r>
            <a:r>
              <a:rPr lang="lt-LT" dirty="0" err="1">
                <a:highlight>
                  <a:srgbClr val="FFFF00"/>
                </a:highlight>
              </a:rPr>
              <a:t>Convenience</a:t>
            </a:r>
            <a:r>
              <a:rPr lang="lt-LT" dirty="0">
                <a:highlight>
                  <a:srgbClr val="FFFF00"/>
                </a:highlight>
              </a:rPr>
              <a:t> </a:t>
            </a:r>
            <a:r>
              <a:rPr lang="lt-LT" dirty="0" err="1">
                <a:highlight>
                  <a:srgbClr val="FFFF00"/>
                </a:highlight>
              </a:rPr>
              <a:t>Sampling</a:t>
            </a:r>
            <a:r>
              <a:rPr lang="lt-LT" dirty="0">
                <a:highlight>
                  <a:srgbClr val="FFFF00"/>
                </a:highlight>
              </a:rPr>
              <a:t>)</a:t>
            </a:r>
            <a:br>
              <a:rPr lang="lt-LT" dirty="0">
                <a:highlight>
                  <a:srgbClr val="FFFF00"/>
                </a:highlight>
              </a:rPr>
            </a:br>
            <a:r>
              <a:rPr lang="lt-LT" dirty="0">
                <a:highlight>
                  <a:srgbClr val="FFFF00"/>
                </a:highlight>
              </a:rPr>
              <a:t>Imtis sudaroma iš lengvai prieinamų objektų, pavyzdžiui, apklausiami tik studentai ar tik vienos institucijos darbuotojai. Šis metodas greitas, bet statistiškai nepatikimas ir netinkamas apibendrintoms išvadoms apie populiaciją.</a:t>
            </a:r>
          </a:p>
          <a:p>
            <a:r>
              <a:rPr lang="lt-LT" dirty="0"/>
              <a:t>Duomenų analizėje atrankos metodo pasirinkimas tiesiogiai lemia rezultatų patikimumą, ypač analizuojant tokias savybes kaip išsilavinimas, kurios populiacijoje pasiskirsto netolygiai.</a:t>
            </a:r>
          </a:p>
          <a:p>
            <a:endParaRPr lang="lt-LT" dirty="0"/>
          </a:p>
        </p:txBody>
      </p:sp>
    </p:spTree>
    <p:extLst>
      <p:ext uri="{BB962C8B-B14F-4D97-AF65-F5344CB8AC3E}">
        <p14:creationId xmlns:p14="http://schemas.microsoft.com/office/powerpoint/2010/main" val="19765510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2C9F8A9E-28DE-5D6A-EEEE-9302B8A9B8B9}"/>
              </a:ext>
            </a:extLst>
          </p:cNvPr>
          <p:cNvSpPr>
            <a:spLocks noGrp="1"/>
          </p:cNvSpPr>
          <p:nvPr>
            <p:ph type="title"/>
          </p:nvPr>
        </p:nvSpPr>
        <p:spPr/>
        <p:txBody>
          <a:bodyPr/>
          <a:lstStyle/>
          <a:p>
            <a:r>
              <a:rPr lang="lt-LT" dirty="0"/>
              <a:t>Verslo </a:t>
            </a:r>
            <a:r>
              <a:rPr lang="lt-LT" dirty="0" err="1"/>
              <a:t>praktik</a:t>
            </a:r>
            <a:r>
              <a:rPr lang="en-US" dirty="0"/>
              <a:t>a</a:t>
            </a:r>
            <a:endParaRPr lang="lt-LT" dirty="0"/>
          </a:p>
        </p:txBody>
      </p:sp>
      <p:sp>
        <p:nvSpPr>
          <p:cNvPr id="3" name="Turinio vietos rezervavimo ženklas 2">
            <a:extLst>
              <a:ext uri="{FF2B5EF4-FFF2-40B4-BE49-F238E27FC236}">
                <a16:creationId xmlns:a16="http://schemas.microsoft.com/office/drawing/2014/main" id="{E681E812-209E-3866-5265-A566013D8E2B}"/>
              </a:ext>
            </a:extLst>
          </p:cNvPr>
          <p:cNvSpPr>
            <a:spLocks noGrp="1"/>
          </p:cNvSpPr>
          <p:nvPr>
            <p:ph idx="1"/>
          </p:nvPr>
        </p:nvSpPr>
        <p:spPr/>
        <p:txBody>
          <a:bodyPr>
            <a:normAutofit fontScale="55000" lnSpcReduction="20000"/>
          </a:bodyPr>
          <a:lstStyle/>
          <a:p>
            <a:r>
              <a:rPr lang="lt-LT" dirty="0"/>
              <a:t>Versle dažniausiai naudojami atrankos metodai pasirenkami pagal kaštus, duomenų prieinamumą ir sprendimo skubumą, o ne pagal teorinį idealą.</a:t>
            </a:r>
          </a:p>
          <a:p>
            <a:r>
              <a:rPr lang="lt-LT" b="1" dirty="0"/>
              <a:t>Atsitiktinė atranka </a:t>
            </a:r>
            <a:r>
              <a:rPr lang="lt-LT" dirty="0"/>
              <a:t>versle naudojama rečiau, dažniausiai rinkos tyrimuose ar klientų pasitenkinimo apklausose, kai yra prieinama visa klientų bazė ir siekiama statistiškai pagrįstų išvadų.</a:t>
            </a:r>
          </a:p>
          <a:p>
            <a:r>
              <a:rPr lang="lt-LT" b="1" dirty="0" err="1"/>
              <a:t>Stratifikuota</a:t>
            </a:r>
            <a:r>
              <a:rPr lang="lt-LT" b="1" dirty="0"/>
              <a:t> atranka </a:t>
            </a:r>
            <a:r>
              <a:rPr lang="lt-LT" dirty="0"/>
              <a:t>yra vienas dažniausių metodų verslo analitikoje. Ji taikoma </a:t>
            </a:r>
            <a:r>
              <a:rPr lang="lt-LT" dirty="0" err="1"/>
              <a:t>segmentuojant</a:t>
            </a:r>
            <a:r>
              <a:rPr lang="lt-LT" dirty="0"/>
              <a:t> klientus pagal svarbias charakteristikas, tokias kaip regionas, pajamų lygis, klientų tipas ar išsilavinimas, siekiant užtikrinti, kad visi svarbūs segmentai būtų tinkamai atstovaujami.</a:t>
            </a:r>
          </a:p>
          <a:p>
            <a:r>
              <a:rPr lang="lt-LT" b="1" dirty="0"/>
              <a:t>Klasterinė atranka </a:t>
            </a:r>
            <a:r>
              <a:rPr lang="lt-LT" dirty="0"/>
              <a:t>dažnai naudojama didelėse organizacijose ir tarptautinėse įmonėse, kai analizuojami padaliniai, parduotuvės, filialai ar regionai. Tokiu atveju pasirenkami konkretūs klasteriai, o analizė atliekama jų viduje.</a:t>
            </a:r>
          </a:p>
          <a:p>
            <a:r>
              <a:rPr lang="lt-LT" b="1" dirty="0"/>
              <a:t>Patogioji atranka </a:t>
            </a:r>
            <a:r>
              <a:rPr lang="lt-LT" dirty="0"/>
              <a:t>versle naudojama labai dažnai, ypač greituose vidiniuose tyrimuose, pilotiniuose projektuose ar </a:t>
            </a:r>
            <a:r>
              <a:rPr lang="lt-LT" dirty="0">
                <a:highlight>
                  <a:srgbClr val="FFFF00"/>
                </a:highlight>
              </a:rPr>
              <a:t>A/B testų pradiniuose etapuose</a:t>
            </a:r>
            <a:r>
              <a:rPr lang="lt-LT" dirty="0"/>
              <a:t>. Nors ji nėra statistiškai reprezentatyvi, ji </a:t>
            </a:r>
            <a:r>
              <a:rPr lang="lt-LT" b="1" dirty="0"/>
              <a:t>leidžia greitai gauti pirmines įžvalgas</a:t>
            </a:r>
            <a:r>
              <a:rPr lang="lt-LT" dirty="0"/>
              <a:t>.</a:t>
            </a:r>
          </a:p>
          <a:p>
            <a:r>
              <a:rPr lang="lt-LT" b="1" dirty="0"/>
              <a:t>Istorinių duomenų atranka </a:t>
            </a:r>
            <a:r>
              <a:rPr lang="lt-LT" dirty="0"/>
              <a:t>taip pat yra tipinis verslo scenarijus, kai analizuojami jau sukaupti pardavimų, klientų ar operacijų duomenys. Tokiu atveju imtis dažnai nėra sąmoningai formuojama, bet analitikas turi įvertinti galimus šališkumus prieš darydamas išvadas.</a:t>
            </a:r>
          </a:p>
          <a:p>
            <a:r>
              <a:rPr lang="lt-LT" dirty="0"/>
              <a:t>Verslo kontekste svarbiausia suprasti, kad atrankos metodas tiesiogiai veikia sprendimų patikimumą, todėl analitikas turi aiškiai įvardyti, </a:t>
            </a:r>
            <a:r>
              <a:rPr lang="lt-LT" dirty="0">
                <a:highlight>
                  <a:srgbClr val="FFFF00"/>
                </a:highlight>
              </a:rPr>
              <a:t>ar analizė skirta greitoms įžvalgoms</a:t>
            </a:r>
            <a:r>
              <a:rPr lang="lt-LT" dirty="0"/>
              <a:t>, ar strategiškai svarbiems apibendrinimams.</a:t>
            </a:r>
          </a:p>
          <a:p>
            <a:pPr marL="0" indent="0">
              <a:buNone/>
            </a:pPr>
            <a:endParaRPr lang="lt-LT" dirty="0"/>
          </a:p>
        </p:txBody>
      </p:sp>
    </p:spTree>
    <p:extLst>
      <p:ext uri="{BB962C8B-B14F-4D97-AF65-F5344CB8AC3E}">
        <p14:creationId xmlns:p14="http://schemas.microsoft.com/office/powerpoint/2010/main" val="2481966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AA6F1B13-F757-3B81-4AF1-AC107408C6E4}"/>
              </a:ext>
            </a:extLst>
          </p:cNvPr>
          <p:cNvSpPr>
            <a:spLocks noGrp="1"/>
          </p:cNvSpPr>
          <p:nvPr>
            <p:ph type="title"/>
          </p:nvPr>
        </p:nvSpPr>
        <p:spPr/>
        <p:txBody>
          <a:bodyPr/>
          <a:lstStyle/>
          <a:p>
            <a:r>
              <a:rPr lang="lt-LT" dirty="0"/>
              <a:t>Statistinė paklaida</a:t>
            </a:r>
          </a:p>
        </p:txBody>
      </p:sp>
      <p:sp>
        <p:nvSpPr>
          <p:cNvPr id="3" name="Turinio vietos rezervavimo ženklas 2">
            <a:extLst>
              <a:ext uri="{FF2B5EF4-FFF2-40B4-BE49-F238E27FC236}">
                <a16:creationId xmlns:a16="http://schemas.microsoft.com/office/drawing/2014/main" id="{3D1DD157-6E2A-E479-A372-572ED7A80E7F}"/>
              </a:ext>
            </a:extLst>
          </p:cNvPr>
          <p:cNvSpPr>
            <a:spLocks noGrp="1"/>
          </p:cNvSpPr>
          <p:nvPr>
            <p:ph idx="1"/>
          </p:nvPr>
        </p:nvSpPr>
        <p:spPr/>
        <p:txBody>
          <a:bodyPr>
            <a:normAutofit fontScale="92500" lnSpcReduction="10000"/>
          </a:bodyPr>
          <a:lstStyle/>
          <a:p>
            <a:r>
              <a:rPr lang="lt-LT" b="1" dirty="0"/>
              <a:t>Statistinė paklaida </a:t>
            </a:r>
            <a:r>
              <a:rPr lang="lt-LT" dirty="0"/>
              <a:t>nusako skirtumą tarp imties pagrindu apskaičiuotų rodiklių ir tikrųjų populiacijos parametrų. Ji atsiranda todėl, kad analizuojama ne visa populiacija, o tik jos dalis.</a:t>
            </a:r>
          </a:p>
          <a:p>
            <a:r>
              <a:rPr lang="lt-LT" dirty="0"/>
              <a:t>Statistinė paklaida yra neišvengiama bet kokiame tyrime, pagrįstame imtimi. Net ir tinkamai parinkta reprezentatyvi imtis negali visiškai tiksliai atkartoti populiacijos.</a:t>
            </a:r>
          </a:p>
          <a:p>
            <a:r>
              <a:rPr lang="lt-LT" dirty="0">
                <a:highlight>
                  <a:srgbClr val="FFFF00"/>
                </a:highlight>
              </a:rPr>
              <a:t>Paklaidos dydis priklauso nuo imties dydžio ir duomenų kintamumo. </a:t>
            </a:r>
            <a:r>
              <a:rPr lang="lt-LT" dirty="0"/>
              <a:t>Kuo didesnė imtis ir kuo mažesnė duomenų sklaida, tuo statistinė paklaida yra mažesnė.</a:t>
            </a:r>
          </a:p>
          <a:p>
            <a:r>
              <a:rPr lang="lt-LT" dirty="0"/>
              <a:t>Duomenų analizėje statistinė paklaida vertinama naudojant </a:t>
            </a:r>
            <a:r>
              <a:rPr lang="lt-LT" dirty="0" err="1"/>
              <a:t>pasikliautinuosius</a:t>
            </a:r>
            <a:r>
              <a:rPr lang="lt-LT" dirty="0"/>
              <a:t> intervalus ir standartines paklaidas, kurios leidžia įvertinti rezultatų patikimumą ir neapibrėžtumą.</a:t>
            </a:r>
          </a:p>
          <a:p>
            <a:endParaRPr lang="lt-LT" dirty="0"/>
          </a:p>
        </p:txBody>
      </p:sp>
    </p:spTree>
    <p:extLst>
      <p:ext uri="{BB962C8B-B14F-4D97-AF65-F5344CB8AC3E}">
        <p14:creationId xmlns:p14="http://schemas.microsoft.com/office/powerpoint/2010/main" val="2285313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34717382-EF81-467B-E281-4CBE330AE322}"/>
              </a:ext>
            </a:extLst>
          </p:cNvPr>
          <p:cNvSpPr>
            <a:spLocks noGrp="1"/>
          </p:cNvSpPr>
          <p:nvPr>
            <p:ph type="title"/>
          </p:nvPr>
        </p:nvSpPr>
        <p:spPr/>
        <p:txBody>
          <a:bodyPr/>
          <a:lstStyle/>
          <a:p>
            <a:r>
              <a:rPr lang="lt-LT" b="1" dirty="0"/>
              <a:t>Standartinė paklaida (Standard </a:t>
            </a:r>
            <a:r>
              <a:rPr lang="lt-LT" b="1" dirty="0" err="1"/>
              <a:t>Error</a:t>
            </a:r>
            <a:r>
              <a:rPr lang="lt-LT" b="1" dirty="0"/>
              <a:t>)</a:t>
            </a:r>
            <a:r>
              <a:rPr lang="lt-LT" dirty="0"/>
              <a:t>.</a:t>
            </a:r>
          </a:p>
        </p:txBody>
      </p:sp>
      <p:sp>
        <p:nvSpPr>
          <p:cNvPr id="5" name="TextBox 4">
            <a:extLst>
              <a:ext uri="{FF2B5EF4-FFF2-40B4-BE49-F238E27FC236}">
                <a16:creationId xmlns:a16="http://schemas.microsoft.com/office/drawing/2014/main" id="{66748E62-E894-BBA3-7A37-E678379E29E7}"/>
              </a:ext>
            </a:extLst>
          </p:cNvPr>
          <p:cNvSpPr txBox="1"/>
          <p:nvPr/>
        </p:nvSpPr>
        <p:spPr>
          <a:xfrm>
            <a:off x="838200" y="1356852"/>
            <a:ext cx="9721645" cy="5355312"/>
          </a:xfrm>
          <a:prstGeom prst="rect">
            <a:avLst/>
          </a:prstGeom>
          <a:noFill/>
        </p:spPr>
        <p:txBody>
          <a:bodyPr wrap="square">
            <a:spAutoFit/>
          </a:bodyPr>
          <a:lstStyle/>
          <a:p>
            <a:pPr>
              <a:buNone/>
            </a:pPr>
            <a:r>
              <a:rPr lang="lt-LT" dirty="0"/>
              <a:t>Vidurkiui apskaičiuojama kaip populiacijos arba imties standartinio nuokrypio ir šaknies iš imties dydžio santykis.</a:t>
            </a:r>
          </a:p>
          <a:p>
            <a:pPr>
              <a:buNone/>
            </a:pPr>
            <a:r>
              <a:rPr lang="lt-LT" dirty="0"/>
              <a:t>Formulė:</a:t>
            </a:r>
            <a:br>
              <a:rPr lang="lt-LT" dirty="0"/>
            </a:br>
            <a:r>
              <a:rPr lang="lt-LT" dirty="0"/>
              <a:t>SE = </a:t>
            </a:r>
            <a:r>
              <a:rPr lang="el-GR" dirty="0"/>
              <a:t>σ / √</a:t>
            </a:r>
            <a:r>
              <a:rPr lang="lt-LT" dirty="0"/>
              <a:t>n</a:t>
            </a:r>
            <a:br>
              <a:rPr lang="lt-LT" dirty="0"/>
            </a:br>
            <a:r>
              <a:rPr lang="lt-LT" dirty="0"/>
              <a:t>arba praktikoje, kai </a:t>
            </a:r>
            <a:r>
              <a:rPr lang="el-GR" dirty="0"/>
              <a:t>σ </a:t>
            </a:r>
            <a:r>
              <a:rPr lang="lt-LT" dirty="0"/>
              <a:t>nežinomas:</a:t>
            </a:r>
            <a:br>
              <a:rPr lang="lt-LT" dirty="0"/>
            </a:br>
            <a:r>
              <a:rPr lang="lt-LT" dirty="0"/>
              <a:t>SE = s / √n</a:t>
            </a:r>
          </a:p>
          <a:p>
            <a:pPr>
              <a:buNone/>
            </a:pPr>
            <a:r>
              <a:rPr lang="lt-LT" dirty="0"/>
              <a:t>Čia </a:t>
            </a:r>
            <a:r>
              <a:rPr lang="el-GR" dirty="0"/>
              <a:t>σ </a:t>
            </a:r>
            <a:r>
              <a:rPr lang="lt-LT" dirty="0"/>
              <a:t>arba s – duomenų sklaida, n – imties dydis.</a:t>
            </a:r>
          </a:p>
          <a:p>
            <a:pPr>
              <a:buNone/>
            </a:pPr>
            <a:r>
              <a:rPr lang="lt-LT" u="sng" dirty="0"/>
              <a:t>Interpretacija</a:t>
            </a:r>
            <a:br>
              <a:rPr lang="lt-LT" dirty="0"/>
            </a:br>
            <a:r>
              <a:rPr lang="lt-LT" dirty="0"/>
              <a:t>Standartinė paklaida parodo, </a:t>
            </a:r>
            <a:r>
              <a:rPr lang="lt-LT" b="1" dirty="0"/>
              <a:t>kiek vidurkis „svyruotų“</a:t>
            </a:r>
            <a:r>
              <a:rPr lang="lt-LT" dirty="0"/>
              <a:t>, jei tą patį tyrimą kartotume daug kartų su skirtingomis imtimis. Kuo mažesnė standartinė paklaida, tuo patikimesnis imties įvertis.</a:t>
            </a:r>
          </a:p>
          <a:p>
            <a:pPr>
              <a:buNone/>
            </a:pPr>
            <a:r>
              <a:rPr lang="lt-LT" u="sng" dirty="0"/>
              <a:t>Praktinė prasmė</a:t>
            </a:r>
            <a:br>
              <a:rPr lang="lt-LT" dirty="0"/>
            </a:br>
            <a:r>
              <a:rPr lang="lt-LT" dirty="0"/>
              <a:t>Didėjant imties dydžiui, statistinė paklaida mažėja. Tai reiškia, kad didesnės imtys leidžia tiksliau įvertinti populiacijos parametrus, net jei pačių duomenų sklaida išlieka tokia pati.</a:t>
            </a:r>
          </a:p>
          <a:p>
            <a:pPr>
              <a:buNone/>
            </a:pPr>
            <a:r>
              <a:rPr lang="lt-LT" u="sng" dirty="0"/>
              <a:t>Ryšys su </a:t>
            </a:r>
            <a:r>
              <a:rPr lang="lt-LT" u="sng" dirty="0" err="1"/>
              <a:t>pasikliautiniu</a:t>
            </a:r>
            <a:r>
              <a:rPr lang="lt-LT" u="sng" dirty="0"/>
              <a:t> intervalu</a:t>
            </a:r>
            <a:br>
              <a:rPr lang="lt-LT" dirty="0"/>
            </a:br>
            <a:r>
              <a:rPr lang="lt-LT" dirty="0"/>
              <a:t>Statistinė paklaida naudojama </a:t>
            </a:r>
            <a:r>
              <a:rPr lang="lt-LT" dirty="0" err="1"/>
              <a:t>pasikliautiniams</a:t>
            </a:r>
            <a:r>
              <a:rPr lang="lt-LT" dirty="0"/>
              <a:t> intervalams skaičiuoti. Pavyzdžiui, 95 % </a:t>
            </a:r>
            <a:r>
              <a:rPr lang="lt-LT" dirty="0" err="1"/>
              <a:t>pasikliautinis</a:t>
            </a:r>
            <a:r>
              <a:rPr lang="lt-LT" dirty="0"/>
              <a:t> intervalas apytiksliai lygus vidurkiui ± 1.96 × SE, jei taikomas normalusis skirstinys.</a:t>
            </a:r>
          </a:p>
          <a:p>
            <a:pPr>
              <a:buNone/>
            </a:pPr>
            <a:br>
              <a:rPr lang="lt-LT" dirty="0"/>
            </a:br>
            <a:r>
              <a:rPr lang="lt-LT" dirty="0">
                <a:highlight>
                  <a:srgbClr val="FFFF00"/>
                </a:highlight>
              </a:rPr>
              <a:t>Statistinė paklaida nėra tas pats, kas duomenų sklaida. Ji parodo ne duomenų išsibarstymą, o </a:t>
            </a:r>
            <a:r>
              <a:rPr lang="lt-LT" b="1" dirty="0">
                <a:highlight>
                  <a:srgbClr val="FFFF00"/>
                </a:highlight>
              </a:rPr>
              <a:t>įverčio neapibrėžtumą</a:t>
            </a:r>
            <a:r>
              <a:rPr lang="lt-LT" dirty="0">
                <a:highlight>
                  <a:srgbClr val="FFFF00"/>
                </a:highlight>
              </a:rPr>
              <a:t>.</a:t>
            </a:r>
          </a:p>
        </p:txBody>
      </p:sp>
    </p:spTree>
    <p:extLst>
      <p:ext uri="{BB962C8B-B14F-4D97-AF65-F5344CB8AC3E}">
        <p14:creationId xmlns:p14="http://schemas.microsoft.com/office/powerpoint/2010/main" val="3853418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D8B6F-CBC1-1B05-1899-5AEFB64484AD}"/>
              </a:ext>
            </a:extLst>
          </p:cNvPr>
          <p:cNvSpPr>
            <a:spLocks noGrp="1"/>
          </p:cNvSpPr>
          <p:nvPr>
            <p:ph type="title"/>
          </p:nvPr>
        </p:nvSpPr>
        <p:spPr/>
        <p:txBody>
          <a:bodyPr/>
          <a:lstStyle/>
          <a:p>
            <a:r>
              <a:rPr lang="en-US" dirty="0" err="1"/>
              <a:t>Tikimybinis</a:t>
            </a:r>
            <a:r>
              <a:rPr lang="en-US" dirty="0"/>
              <a:t> </a:t>
            </a:r>
            <a:r>
              <a:rPr lang="en-US" dirty="0" err="1"/>
              <a:t>skirstinys</a:t>
            </a:r>
            <a:endParaRPr lang="en-US" dirty="0"/>
          </a:p>
        </p:txBody>
      </p:sp>
      <p:sp>
        <p:nvSpPr>
          <p:cNvPr id="3" name="Content Placeholder 2">
            <a:extLst>
              <a:ext uri="{FF2B5EF4-FFF2-40B4-BE49-F238E27FC236}">
                <a16:creationId xmlns:a16="http://schemas.microsoft.com/office/drawing/2014/main" id="{E5490FEA-BFB3-94AE-379E-32E9C29D44D5}"/>
              </a:ext>
            </a:extLst>
          </p:cNvPr>
          <p:cNvSpPr>
            <a:spLocks noGrp="1"/>
          </p:cNvSpPr>
          <p:nvPr>
            <p:ph idx="1"/>
          </p:nvPr>
        </p:nvSpPr>
        <p:spPr/>
        <p:txBody>
          <a:bodyPr/>
          <a:lstStyle/>
          <a:p>
            <a:r>
              <a:rPr lang="lt-LT" dirty="0"/>
              <a:t>Tikimybinis skirstinys yra funkcija, apibūdinanti, kaip atsitiktinio dydžio reikšmės pasiskirsto ir kokia yra jų įvykimo tikimybė.</a:t>
            </a:r>
          </a:p>
          <a:p>
            <a:r>
              <a:rPr lang="lt-LT" dirty="0"/>
              <a:t>Tikimybinis skirstinys leidžia suprasti bendrą duomenų elgesį, įvertinti tipines ir ekstremalias reikšmes bei jų tikėtiną dažnį.</a:t>
            </a:r>
          </a:p>
          <a:p>
            <a:r>
              <a:rPr lang="lt-LT" dirty="0"/>
              <a:t>Duomenų analizėje skirstinių supratimas yra </a:t>
            </a:r>
            <a:r>
              <a:rPr lang="lt-LT" b="1" dirty="0"/>
              <a:t>pagrindas prognozavimui</a:t>
            </a:r>
            <a:r>
              <a:rPr lang="lt-LT" dirty="0"/>
              <a:t>, rizikos vertinimui ir procesų optimizavimui, nes leidžia modeliuoti ne pavienius stebėjimus, o visą galimų reikšmių struktūrą.</a:t>
            </a:r>
          </a:p>
          <a:p>
            <a:pPr marL="0" indent="0">
              <a:buNone/>
            </a:pPr>
            <a:endParaRPr lang="en-US" dirty="0"/>
          </a:p>
        </p:txBody>
      </p:sp>
      <p:pic>
        <p:nvPicPr>
          <p:cNvPr id="5" name="Picture 4">
            <a:extLst>
              <a:ext uri="{FF2B5EF4-FFF2-40B4-BE49-F238E27FC236}">
                <a16:creationId xmlns:a16="http://schemas.microsoft.com/office/drawing/2014/main" id="{0C05CB34-D4B3-F8A8-C532-AFEA2EB85BE3}"/>
              </a:ext>
            </a:extLst>
          </p:cNvPr>
          <p:cNvPicPr>
            <a:picLocks noChangeAspect="1"/>
          </p:cNvPicPr>
          <p:nvPr/>
        </p:nvPicPr>
        <p:blipFill>
          <a:blip r:embed="rId3"/>
          <a:stretch>
            <a:fillRect/>
          </a:stretch>
        </p:blipFill>
        <p:spPr>
          <a:xfrm>
            <a:off x="7924541" y="304658"/>
            <a:ext cx="3757820" cy="968999"/>
          </a:xfrm>
          <a:prstGeom prst="rect">
            <a:avLst/>
          </a:prstGeom>
        </p:spPr>
      </p:pic>
    </p:spTree>
    <p:extLst>
      <p:ext uri="{BB962C8B-B14F-4D97-AF65-F5344CB8AC3E}">
        <p14:creationId xmlns:p14="http://schemas.microsoft.com/office/powerpoint/2010/main" val="3377360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CE83E037-E190-5118-FD45-93CEBFDA2030}"/>
              </a:ext>
            </a:extLst>
          </p:cNvPr>
          <p:cNvSpPr>
            <a:spLocks noGrp="1"/>
          </p:cNvSpPr>
          <p:nvPr>
            <p:ph type="title"/>
          </p:nvPr>
        </p:nvSpPr>
        <p:spPr/>
        <p:txBody>
          <a:bodyPr/>
          <a:lstStyle/>
          <a:p>
            <a:r>
              <a:rPr lang="en-US" dirty="0" err="1"/>
              <a:t>Tikimybinis</a:t>
            </a:r>
            <a:r>
              <a:rPr lang="en-US" dirty="0"/>
              <a:t> </a:t>
            </a:r>
            <a:r>
              <a:rPr lang="en-US" dirty="0" err="1"/>
              <a:t>skirstinys</a:t>
            </a:r>
            <a:endParaRPr lang="lt-LT" dirty="0"/>
          </a:p>
        </p:txBody>
      </p:sp>
      <p:sp>
        <p:nvSpPr>
          <p:cNvPr id="3" name="Turinio vietos rezervavimo ženklas 2">
            <a:extLst>
              <a:ext uri="{FF2B5EF4-FFF2-40B4-BE49-F238E27FC236}">
                <a16:creationId xmlns:a16="http://schemas.microsoft.com/office/drawing/2014/main" id="{78FA91EB-9EF1-8579-C2E5-FB392DF35841}"/>
              </a:ext>
            </a:extLst>
          </p:cNvPr>
          <p:cNvSpPr>
            <a:spLocks noGrp="1"/>
          </p:cNvSpPr>
          <p:nvPr>
            <p:ph idx="1"/>
          </p:nvPr>
        </p:nvSpPr>
        <p:spPr/>
        <p:txBody>
          <a:bodyPr/>
          <a:lstStyle/>
          <a:p>
            <a:r>
              <a:rPr lang="lt-LT" dirty="0"/>
              <a:t>Tikimybinis skirstinys naudojamas tam, kad būtų galima aprašyti ir modeliuoti duomenų elgseną ne pavienėmis reikšmėmis, o viso pasiskirstymo lygiu.</a:t>
            </a:r>
          </a:p>
          <a:p>
            <a:r>
              <a:rPr lang="lt-LT" dirty="0"/>
              <a:t>Jis leidžia įvertinti, kokios reikšmės yra tikėtinos, o kurios retos ar ekstremalios, net jei jų dar nematėme duomenyse. Tai ypač svarbu dirbant su neapibrėžtumu ir rizika.</a:t>
            </a:r>
          </a:p>
          <a:p>
            <a:r>
              <a:rPr lang="lt-LT" dirty="0"/>
              <a:t>Duomenų analizėje tikimybiniai skirstiniai naudojami prognozavimui, hipotezių testavimui ir sprendimų priėmimui. </a:t>
            </a:r>
            <a:r>
              <a:rPr lang="lt-LT" dirty="0">
                <a:highlight>
                  <a:srgbClr val="FFFF00"/>
                </a:highlight>
              </a:rPr>
              <a:t>Jie leidžia pereiti nuo aprašomosios statistikos prie išvadų apie būsimą elgesį, tikimybes ir galimas pasekmes.</a:t>
            </a:r>
          </a:p>
          <a:p>
            <a:pPr marL="0" indent="0">
              <a:buNone/>
            </a:pPr>
            <a:endParaRPr lang="lt-LT" dirty="0"/>
          </a:p>
        </p:txBody>
      </p:sp>
    </p:spTree>
    <p:extLst>
      <p:ext uri="{BB962C8B-B14F-4D97-AF65-F5344CB8AC3E}">
        <p14:creationId xmlns:p14="http://schemas.microsoft.com/office/powerpoint/2010/main" val="877132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CBED-1639-AC1D-E4F5-C0D006F47B11}"/>
              </a:ext>
            </a:extLst>
          </p:cNvPr>
          <p:cNvSpPr>
            <a:spLocks noGrp="1"/>
          </p:cNvSpPr>
          <p:nvPr>
            <p:ph type="title"/>
          </p:nvPr>
        </p:nvSpPr>
        <p:spPr>
          <a:xfrm>
            <a:off x="838200" y="365125"/>
            <a:ext cx="6821129" cy="1325563"/>
          </a:xfrm>
        </p:spPr>
        <p:txBody>
          <a:bodyPr/>
          <a:lstStyle/>
          <a:p>
            <a:r>
              <a:rPr lang="en-US" dirty="0" err="1"/>
              <a:t>Normalusis</a:t>
            </a:r>
            <a:r>
              <a:rPr lang="en-US" dirty="0"/>
              <a:t> </a:t>
            </a:r>
            <a:r>
              <a:rPr lang="en-US" dirty="0" err="1"/>
              <a:t>skirstinys</a:t>
            </a:r>
            <a:endParaRPr lang="en-US" dirty="0"/>
          </a:p>
        </p:txBody>
      </p:sp>
      <p:pic>
        <p:nvPicPr>
          <p:cNvPr id="5" name="Content Placeholder 4">
            <a:extLst>
              <a:ext uri="{FF2B5EF4-FFF2-40B4-BE49-F238E27FC236}">
                <a16:creationId xmlns:a16="http://schemas.microsoft.com/office/drawing/2014/main" id="{092F3BD8-A906-7269-1446-1F8D55C58432}"/>
              </a:ext>
            </a:extLst>
          </p:cNvPr>
          <p:cNvPicPr>
            <a:picLocks noGrp="1" noChangeAspect="1"/>
          </p:cNvPicPr>
          <p:nvPr>
            <p:ph idx="1"/>
          </p:nvPr>
        </p:nvPicPr>
        <p:blipFill>
          <a:blip r:embed="rId3"/>
          <a:stretch>
            <a:fillRect/>
          </a:stretch>
        </p:blipFill>
        <p:spPr>
          <a:xfrm>
            <a:off x="209063" y="1535879"/>
            <a:ext cx="7521099" cy="3786242"/>
          </a:xfrm>
        </p:spPr>
      </p:pic>
      <p:sp>
        <p:nvSpPr>
          <p:cNvPr id="6" name="TextBox 5">
            <a:extLst>
              <a:ext uri="{FF2B5EF4-FFF2-40B4-BE49-F238E27FC236}">
                <a16:creationId xmlns:a16="http://schemas.microsoft.com/office/drawing/2014/main" id="{00A0D6E8-4753-5200-8195-35643E5C7DAD}"/>
              </a:ext>
            </a:extLst>
          </p:cNvPr>
          <p:cNvSpPr txBox="1"/>
          <p:nvPr/>
        </p:nvSpPr>
        <p:spPr>
          <a:xfrm>
            <a:off x="838200" y="5663381"/>
            <a:ext cx="10311581" cy="369332"/>
          </a:xfrm>
          <a:prstGeom prst="rect">
            <a:avLst/>
          </a:prstGeom>
          <a:noFill/>
        </p:spPr>
        <p:txBody>
          <a:bodyPr wrap="square" rtlCol="0">
            <a:spAutoFit/>
          </a:bodyPr>
          <a:lstStyle/>
          <a:p>
            <a:r>
              <a:rPr lang="lt-LT" b="1" dirty="0"/>
              <a:t>Daug statistinių metodų remiasi prielaida, kad duomenys yra normaliai pasiskirstę</a:t>
            </a:r>
            <a:r>
              <a:rPr lang="lt-LT" dirty="0"/>
              <a:t>.</a:t>
            </a:r>
            <a:endParaRPr lang="en-US" dirty="0"/>
          </a:p>
        </p:txBody>
      </p:sp>
      <p:sp>
        <p:nvSpPr>
          <p:cNvPr id="4" name="TextBox 3">
            <a:extLst>
              <a:ext uri="{FF2B5EF4-FFF2-40B4-BE49-F238E27FC236}">
                <a16:creationId xmlns:a16="http://schemas.microsoft.com/office/drawing/2014/main" id="{61555FB8-F80C-1CE5-A8CF-8E404F9C42DB}"/>
              </a:ext>
            </a:extLst>
          </p:cNvPr>
          <p:cNvSpPr txBox="1"/>
          <p:nvPr/>
        </p:nvSpPr>
        <p:spPr>
          <a:xfrm>
            <a:off x="8131629" y="121027"/>
            <a:ext cx="3851308" cy="4524315"/>
          </a:xfrm>
          <a:prstGeom prst="rect">
            <a:avLst/>
          </a:prstGeom>
          <a:noFill/>
        </p:spPr>
        <p:txBody>
          <a:bodyPr wrap="square">
            <a:spAutoFit/>
          </a:bodyPr>
          <a:lstStyle/>
          <a:p>
            <a:pPr>
              <a:buNone/>
            </a:pPr>
            <a:r>
              <a:rPr lang="en-US" dirty="0"/>
              <a:t>Jame </a:t>
            </a:r>
            <a:r>
              <a:rPr lang="lt-LT" dirty="0"/>
              <a:t>duomenys simetriškai pasiskirstę aplink vidurkį.</a:t>
            </a:r>
          </a:p>
          <a:p>
            <a:pPr>
              <a:buNone/>
            </a:pPr>
            <a:r>
              <a:rPr lang="lt-LT" dirty="0"/>
              <a:t>Dauguma reikšmių telkiasi ties vidurkiu, o tolstant nuo jo tikimybė mažėja pagal varpo formos kreivę.</a:t>
            </a:r>
            <a:endParaRPr lang="en-US" dirty="0"/>
          </a:p>
          <a:p>
            <a:pPr>
              <a:buNone/>
            </a:pPr>
            <a:endParaRPr lang="lt-LT" dirty="0"/>
          </a:p>
          <a:p>
            <a:pPr>
              <a:buNone/>
            </a:pPr>
            <a:r>
              <a:rPr lang="lt-LT" dirty="0"/>
              <a:t>Normalusis skirstinys apibrėžiamas dviem parametrais: vidurkiu, kuris nusako skirstinio centrą, ir </a:t>
            </a:r>
            <a:r>
              <a:rPr lang="lt-LT" b="1" dirty="0"/>
              <a:t>standartiniu nuokrypiu</a:t>
            </a:r>
            <a:r>
              <a:rPr lang="lt-LT" dirty="0"/>
              <a:t>, kuris nusako duomenų sklaidą.</a:t>
            </a:r>
          </a:p>
          <a:p>
            <a:pPr>
              <a:buNone/>
            </a:pPr>
            <a:r>
              <a:rPr lang="lt-LT" dirty="0"/>
              <a:t>Duomenų analizėje normalusis skirstinys dažnai naudojamas matavimo paklaidoms, natūraliems svyravimams ir apytikriams pasiskirstymams modeliuoti</a:t>
            </a:r>
            <a:r>
              <a:rPr lang="en-US" dirty="0"/>
              <a:t>.</a:t>
            </a:r>
            <a:endParaRPr lang="lt-LT" dirty="0"/>
          </a:p>
        </p:txBody>
      </p:sp>
    </p:spTree>
    <p:extLst>
      <p:ext uri="{BB962C8B-B14F-4D97-AF65-F5344CB8AC3E}">
        <p14:creationId xmlns:p14="http://schemas.microsoft.com/office/powerpoint/2010/main" val="1481519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A265-95DC-1CAD-0DEC-2976671325B5}"/>
              </a:ext>
            </a:extLst>
          </p:cNvPr>
          <p:cNvSpPr>
            <a:spLocks noGrp="1"/>
          </p:cNvSpPr>
          <p:nvPr>
            <p:ph type="title"/>
          </p:nvPr>
        </p:nvSpPr>
        <p:spPr>
          <a:xfrm>
            <a:off x="838200" y="365126"/>
            <a:ext cx="10515600" cy="509946"/>
          </a:xfrm>
        </p:spPr>
        <p:txBody>
          <a:bodyPr>
            <a:normAutofit fontScale="90000"/>
          </a:bodyPr>
          <a:lstStyle/>
          <a:p>
            <a:r>
              <a:rPr lang="en-US" dirty="0" err="1"/>
              <a:t>Studento</a:t>
            </a:r>
            <a:r>
              <a:rPr lang="en-US" dirty="0"/>
              <a:t> t </a:t>
            </a:r>
            <a:r>
              <a:rPr lang="en-US" dirty="0" err="1"/>
              <a:t>skirstinys</a:t>
            </a:r>
            <a:endParaRPr lang="en-US" dirty="0"/>
          </a:p>
        </p:txBody>
      </p:sp>
      <p:sp>
        <p:nvSpPr>
          <p:cNvPr id="3" name="Content Placeholder 2">
            <a:extLst>
              <a:ext uri="{FF2B5EF4-FFF2-40B4-BE49-F238E27FC236}">
                <a16:creationId xmlns:a16="http://schemas.microsoft.com/office/drawing/2014/main" id="{79A23766-11AB-23B9-0459-B0187E8A8D8A}"/>
              </a:ext>
            </a:extLst>
          </p:cNvPr>
          <p:cNvSpPr>
            <a:spLocks noGrp="1"/>
          </p:cNvSpPr>
          <p:nvPr>
            <p:ph idx="1"/>
          </p:nvPr>
        </p:nvSpPr>
        <p:spPr>
          <a:xfrm>
            <a:off x="7075714" y="1253330"/>
            <a:ext cx="4128143" cy="4233069"/>
          </a:xfrm>
        </p:spPr>
        <p:txBody>
          <a:bodyPr>
            <a:normAutofit fontScale="62500" lnSpcReduction="20000"/>
          </a:bodyPr>
          <a:lstStyle/>
          <a:p>
            <a:r>
              <a:rPr lang="lt-LT" dirty="0"/>
              <a:t>Studento t skirstinys naudojamas tada, kai imtis yra maža ir nežinoma tikroji populiacijos dispersija. Jis ypač aktualus, kai populiacijos standartinis nuokrypis įvertinamas iš pačios imties.</a:t>
            </a:r>
          </a:p>
          <a:p>
            <a:r>
              <a:rPr lang="lt-LT" dirty="0"/>
              <a:t>Šis skirstinys yra panašus į normalųjį skirstinį, tačiau turi platesnes uodegas. Tai reiškia didesnį neapibrėžtumo lygį ir atsargesnį kraštinių reikšmių vertinimą, kai turima mažai duomenų.</a:t>
            </a:r>
          </a:p>
          <a:p>
            <a:r>
              <a:rPr lang="lt-LT" dirty="0"/>
              <a:t>Duomenų analizėje Studento t skirstinys dažniausiai naudojamas </a:t>
            </a:r>
            <a:r>
              <a:rPr lang="lt-LT" dirty="0" err="1"/>
              <a:t>pasikliautiniesiems</a:t>
            </a:r>
            <a:r>
              <a:rPr lang="lt-LT" dirty="0"/>
              <a:t> intervalams skaičiuoti ir hipotezėms testuoti, kai imties dydis yra ribotas.</a:t>
            </a:r>
          </a:p>
          <a:p>
            <a:pPr marL="0" indent="0">
              <a:buNone/>
            </a:pPr>
            <a:endParaRPr lang="en-US" dirty="0"/>
          </a:p>
        </p:txBody>
      </p:sp>
      <p:pic>
        <p:nvPicPr>
          <p:cNvPr id="5" name="Picture 4">
            <a:extLst>
              <a:ext uri="{FF2B5EF4-FFF2-40B4-BE49-F238E27FC236}">
                <a16:creationId xmlns:a16="http://schemas.microsoft.com/office/drawing/2014/main" id="{76C8EBAA-C463-C53E-771E-7A1EF74D7426}"/>
              </a:ext>
            </a:extLst>
          </p:cNvPr>
          <p:cNvPicPr>
            <a:picLocks noChangeAspect="1"/>
          </p:cNvPicPr>
          <p:nvPr/>
        </p:nvPicPr>
        <p:blipFill>
          <a:blip r:embed="rId3"/>
          <a:stretch>
            <a:fillRect/>
          </a:stretch>
        </p:blipFill>
        <p:spPr>
          <a:xfrm>
            <a:off x="838200" y="1434793"/>
            <a:ext cx="5463033" cy="3344013"/>
          </a:xfrm>
          <a:prstGeom prst="rect">
            <a:avLst/>
          </a:prstGeom>
        </p:spPr>
      </p:pic>
    </p:spTree>
    <p:extLst>
      <p:ext uri="{BB962C8B-B14F-4D97-AF65-F5344CB8AC3E}">
        <p14:creationId xmlns:p14="http://schemas.microsoft.com/office/powerpoint/2010/main" val="2122811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9A242-9854-99A2-E5E3-1AFF6248ADC7}"/>
              </a:ext>
            </a:extLst>
          </p:cNvPr>
          <p:cNvSpPr>
            <a:spLocks noGrp="1"/>
          </p:cNvSpPr>
          <p:nvPr>
            <p:ph type="title"/>
          </p:nvPr>
        </p:nvSpPr>
        <p:spPr/>
        <p:txBody>
          <a:bodyPr/>
          <a:lstStyle/>
          <a:p>
            <a:r>
              <a:rPr lang="en-US" dirty="0" err="1"/>
              <a:t>Daugiau</a:t>
            </a:r>
            <a:r>
              <a:rPr lang="en-US" dirty="0"/>
              <a:t> </a:t>
            </a:r>
            <a:r>
              <a:rPr lang="en-US" dirty="0" err="1"/>
              <a:t>skirstinių</a:t>
            </a:r>
            <a:endParaRPr lang="en-US" dirty="0"/>
          </a:p>
        </p:txBody>
      </p:sp>
      <p:sp>
        <p:nvSpPr>
          <p:cNvPr id="5" name="TextBox 4">
            <a:extLst>
              <a:ext uri="{FF2B5EF4-FFF2-40B4-BE49-F238E27FC236}">
                <a16:creationId xmlns:a16="http://schemas.microsoft.com/office/drawing/2014/main" id="{4926DD6F-FA43-8B78-B3E2-73EB9DA5E0D9}"/>
              </a:ext>
            </a:extLst>
          </p:cNvPr>
          <p:cNvSpPr txBox="1"/>
          <p:nvPr/>
        </p:nvSpPr>
        <p:spPr>
          <a:xfrm>
            <a:off x="674913" y="1690688"/>
            <a:ext cx="10515599" cy="3693319"/>
          </a:xfrm>
          <a:prstGeom prst="rect">
            <a:avLst/>
          </a:prstGeom>
          <a:noFill/>
        </p:spPr>
        <p:txBody>
          <a:bodyPr wrap="square">
            <a:spAutoFit/>
          </a:bodyPr>
          <a:lstStyle/>
          <a:p>
            <a:pPr>
              <a:buNone/>
            </a:pPr>
            <a:r>
              <a:rPr lang="lt-LT" b="1" dirty="0"/>
              <a:t>Vienodas (</a:t>
            </a:r>
            <a:r>
              <a:rPr lang="lt-LT" b="1" dirty="0" err="1"/>
              <a:t>Uniform</a:t>
            </a:r>
            <a:r>
              <a:rPr lang="lt-LT" b="1" dirty="0"/>
              <a:t>) skirstinys</a:t>
            </a:r>
            <a:br>
              <a:rPr lang="lt-LT" dirty="0"/>
            </a:br>
            <a:r>
              <a:rPr lang="lt-LT" dirty="0"/>
              <a:t>Visos galimos reikšmės tam tikrame intervale turi vienodą tikimybę pasirodyti. Jis naudojamas tada, kai nėra jokios priežasties manyti, kad viena reikšmė yra labiau tikėtina už kitą, pavyzdžiui, generuojant atsitiktinius skaičius ar simuliuojant procesus be preferencijų.</a:t>
            </a:r>
            <a:endParaRPr lang="en-US" dirty="0"/>
          </a:p>
          <a:p>
            <a:pPr>
              <a:buNone/>
            </a:pPr>
            <a:endParaRPr lang="lt-LT" dirty="0"/>
          </a:p>
          <a:p>
            <a:pPr>
              <a:buNone/>
            </a:pPr>
            <a:r>
              <a:rPr lang="lt-LT" b="1" dirty="0"/>
              <a:t>Binominis skirstinys</a:t>
            </a:r>
            <a:br>
              <a:rPr lang="lt-LT" dirty="0"/>
            </a:br>
            <a:r>
              <a:rPr lang="lt-LT" dirty="0"/>
              <a:t>Modeliuoja baigtinį bandymų skaičių, kuriuose kiekvienas bandymas turi tik dvi galimas baigtis – sėkmę arba nesėkmę. Jis naudojamas vertinant sėkmių skaičių, pavyzdžiui, konversijas, defektų atsiradimą ar testų rezultatus.</a:t>
            </a:r>
            <a:endParaRPr lang="en-US" dirty="0"/>
          </a:p>
          <a:p>
            <a:pPr>
              <a:buNone/>
            </a:pPr>
            <a:endParaRPr lang="lt-LT" dirty="0"/>
          </a:p>
          <a:p>
            <a:pPr>
              <a:buNone/>
            </a:pPr>
            <a:r>
              <a:rPr lang="lt-LT" b="1" dirty="0" err="1"/>
              <a:t>Poasono</a:t>
            </a:r>
            <a:r>
              <a:rPr lang="lt-LT" b="1" dirty="0"/>
              <a:t> (</a:t>
            </a:r>
            <a:r>
              <a:rPr lang="lt-LT" b="1" dirty="0" err="1"/>
              <a:t>Poisson</a:t>
            </a:r>
            <a:r>
              <a:rPr lang="lt-LT" b="1" dirty="0"/>
              <a:t>) skirstinys</a:t>
            </a:r>
            <a:br>
              <a:rPr lang="lt-LT" dirty="0"/>
            </a:br>
            <a:r>
              <a:rPr lang="lt-LT" dirty="0"/>
              <a:t>Modeliuoja retų įvykių skaičių per tam tikrą laiko ar erdvės intervalą. Jis dažnai taikomas analizuojant skambučių skaičių per valandą, klaidų skaičių sistemoje ar užsakymų atvykimą per laiką.</a:t>
            </a:r>
          </a:p>
        </p:txBody>
      </p:sp>
    </p:spTree>
    <p:extLst>
      <p:ext uri="{BB962C8B-B14F-4D97-AF65-F5344CB8AC3E}">
        <p14:creationId xmlns:p14="http://schemas.microsoft.com/office/powerpoint/2010/main" val="29329013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D3CCE-C108-B03B-3055-5BB64B474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50CF19-4827-5D09-99BF-EE9991046B7E}"/>
              </a:ext>
            </a:extLst>
          </p:cNvPr>
          <p:cNvSpPr>
            <a:spLocks noGrp="1"/>
          </p:cNvSpPr>
          <p:nvPr>
            <p:ph type="title"/>
          </p:nvPr>
        </p:nvSpPr>
        <p:spPr/>
        <p:txBody>
          <a:bodyPr/>
          <a:lstStyle/>
          <a:p>
            <a:r>
              <a:rPr lang="en-US" dirty="0" err="1"/>
              <a:t>Daugiau</a:t>
            </a:r>
            <a:r>
              <a:rPr lang="en-US" dirty="0"/>
              <a:t> </a:t>
            </a:r>
            <a:r>
              <a:rPr lang="en-US" dirty="0" err="1"/>
              <a:t>skirstinių</a:t>
            </a:r>
            <a:endParaRPr lang="en-US" dirty="0"/>
          </a:p>
        </p:txBody>
      </p:sp>
      <p:sp>
        <p:nvSpPr>
          <p:cNvPr id="5" name="TextBox 4">
            <a:extLst>
              <a:ext uri="{FF2B5EF4-FFF2-40B4-BE49-F238E27FC236}">
                <a16:creationId xmlns:a16="http://schemas.microsoft.com/office/drawing/2014/main" id="{6CED2049-62D6-317A-544A-3A70DAFB597C}"/>
              </a:ext>
            </a:extLst>
          </p:cNvPr>
          <p:cNvSpPr txBox="1"/>
          <p:nvPr/>
        </p:nvSpPr>
        <p:spPr>
          <a:xfrm>
            <a:off x="674913" y="1690688"/>
            <a:ext cx="10515599" cy="3139321"/>
          </a:xfrm>
          <a:prstGeom prst="rect">
            <a:avLst/>
          </a:prstGeom>
          <a:noFill/>
        </p:spPr>
        <p:txBody>
          <a:bodyPr wrap="square">
            <a:spAutoFit/>
          </a:bodyPr>
          <a:lstStyle/>
          <a:p>
            <a:r>
              <a:rPr lang="lt-LT" b="1" dirty="0" err="1"/>
              <a:t>VEksponentinis</a:t>
            </a:r>
            <a:r>
              <a:rPr lang="lt-LT" b="1" dirty="0"/>
              <a:t> skirstinys</a:t>
            </a:r>
            <a:br>
              <a:rPr lang="lt-LT" dirty="0"/>
            </a:br>
            <a:r>
              <a:rPr lang="lt-LT" dirty="0"/>
              <a:t>Aprašo laiką iki kito įvykio įvykimo </a:t>
            </a:r>
            <a:r>
              <a:rPr lang="lt-LT" dirty="0" err="1"/>
              <a:t>Poasono</a:t>
            </a:r>
            <a:r>
              <a:rPr lang="lt-LT" dirty="0"/>
              <a:t> procese. Jis naudojamas analizuojant laukimo laiką, pavyzdžiui, iki gedimo, iki kliento veiksmo ar iki kito užsakymo.</a:t>
            </a:r>
            <a:endParaRPr lang="en-US" dirty="0"/>
          </a:p>
          <a:p>
            <a:endParaRPr lang="lt-LT" dirty="0"/>
          </a:p>
          <a:p>
            <a:r>
              <a:rPr lang="lt-LT" b="1" dirty="0"/>
              <a:t>Geometrinis skirstinys</a:t>
            </a:r>
            <a:br>
              <a:rPr lang="lt-LT" dirty="0"/>
            </a:br>
            <a:r>
              <a:rPr lang="lt-LT" dirty="0"/>
              <a:t>Modeliuoja bandymų skaičių iki pirmos sėkmės. Jis taikomas tada, kai domina ne sėkmių skaičius, o kiek bandymų reikės, kol įvyks pirmas sėkmingas rezultatas.</a:t>
            </a:r>
            <a:endParaRPr lang="en-US" dirty="0"/>
          </a:p>
          <a:p>
            <a:endParaRPr lang="lt-LT" dirty="0"/>
          </a:p>
          <a:p>
            <a:r>
              <a:rPr lang="lt-LT" b="1" dirty="0" err="1"/>
              <a:t>Chi-Square</a:t>
            </a:r>
            <a:r>
              <a:rPr lang="lt-LT" b="1" dirty="0"/>
              <a:t> (</a:t>
            </a:r>
            <a:r>
              <a:rPr lang="el-GR" b="1" dirty="0"/>
              <a:t>χ²) </a:t>
            </a:r>
            <a:r>
              <a:rPr lang="lt-LT" b="1" dirty="0"/>
              <a:t>skirstinys</a:t>
            </a:r>
            <a:br>
              <a:rPr lang="lt-LT" dirty="0"/>
            </a:br>
            <a:r>
              <a:rPr lang="lt-LT" dirty="0"/>
              <a:t>Naudojamas vertinant skirtumus tarp stebėtų ir tikėtinų dažnių. Duomenų analizėje jis taikomas nepriklausomumo testams, tinkamumo testams ir kategorinių duomenų ryšiams vertinti.</a:t>
            </a:r>
          </a:p>
        </p:txBody>
      </p:sp>
    </p:spTree>
    <p:extLst>
      <p:ext uri="{BB962C8B-B14F-4D97-AF65-F5344CB8AC3E}">
        <p14:creationId xmlns:p14="http://schemas.microsoft.com/office/powerpoint/2010/main" val="304457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0806E-4522-52AA-6BA9-24001B53CAF0}"/>
              </a:ext>
            </a:extLst>
          </p:cNvPr>
          <p:cNvSpPr>
            <a:spLocks noGrp="1"/>
          </p:cNvSpPr>
          <p:nvPr>
            <p:ph type="title"/>
          </p:nvPr>
        </p:nvSpPr>
        <p:spPr/>
        <p:txBody>
          <a:bodyPr/>
          <a:lstStyle/>
          <a:p>
            <a:r>
              <a:rPr lang="lt-LT" dirty="0"/>
              <a:t>Centrinės Ribos Teorema (CLT)</a:t>
            </a:r>
            <a:endParaRPr lang="en-US" dirty="0"/>
          </a:p>
        </p:txBody>
      </p:sp>
      <p:sp>
        <p:nvSpPr>
          <p:cNvPr id="5" name="TextBox 4">
            <a:extLst>
              <a:ext uri="{FF2B5EF4-FFF2-40B4-BE49-F238E27FC236}">
                <a16:creationId xmlns:a16="http://schemas.microsoft.com/office/drawing/2014/main" id="{27CB72FD-2CE2-C0C6-E4AF-217C3E68D9FB}"/>
              </a:ext>
            </a:extLst>
          </p:cNvPr>
          <p:cNvSpPr txBox="1"/>
          <p:nvPr/>
        </p:nvSpPr>
        <p:spPr>
          <a:xfrm>
            <a:off x="761999" y="1587197"/>
            <a:ext cx="10515599" cy="2585323"/>
          </a:xfrm>
          <a:prstGeom prst="rect">
            <a:avLst/>
          </a:prstGeom>
          <a:noFill/>
        </p:spPr>
        <p:txBody>
          <a:bodyPr wrap="square">
            <a:spAutoFit/>
          </a:bodyPr>
          <a:lstStyle/>
          <a:p>
            <a:pPr>
              <a:buNone/>
            </a:pPr>
            <a:r>
              <a:rPr lang="lt-LT" dirty="0"/>
              <a:t>Centrinės ribos teorema teigia, kad </a:t>
            </a:r>
            <a:r>
              <a:rPr lang="lt-LT" b="1" dirty="0"/>
              <a:t>nepriklausomai nuo pradinio duomenų pasiskirstymo formos, pakankamai didelių imčių vidurkių pasiskirstymas artėja prie normaliojo skirstinio</a:t>
            </a:r>
            <a:r>
              <a:rPr lang="lt-LT" dirty="0"/>
              <a:t>.</a:t>
            </a:r>
          </a:p>
          <a:p>
            <a:pPr>
              <a:buNone/>
            </a:pPr>
            <a:endParaRPr lang="lt-LT" dirty="0"/>
          </a:p>
          <a:p>
            <a:pPr>
              <a:buNone/>
            </a:pPr>
            <a:r>
              <a:rPr lang="lt-LT" dirty="0"/>
              <a:t>Tai reiškia, kad net jei pradiniai duomenys yra asimetriški, diskretūs ar kitaip netipiniai, </a:t>
            </a:r>
            <a:r>
              <a:rPr lang="lt-LT" b="1" dirty="0"/>
              <a:t>daugelio imčių vidurkiai bus pasiskirstę apytiksliai normaliai</a:t>
            </a:r>
            <a:r>
              <a:rPr lang="lt-LT" dirty="0"/>
              <a:t>.</a:t>
            </a:r>
          </a:p>
          <a:p>
            <a:pPr>
              <a:buNone/>
            </a:pPr>
            <a:endParaRPr lang="lt-LT" dirty="0"/>
          </a:p>
          <a:p>
            <a:pPr>
              <a:buNone/>
            </a:pPr>
            <a:r>
              <a:rPr lang="lt-LT" dirty="0"/>
              <a:t>Duomenų analizėje ši teorema yra esminė, nes </a:t>
            </a:r>
            <a:r>
              <a:rPr lang="lt-LT" b="1" dirty="0"/>
              <a:t>leidžia taikyti normalumu pagrįstus statistinius metodus</a:t>
            </a:r>
            <a:r>
              <a:rPr lang="lt-LT" dirty="0"/>
              <a:t>, tokius kaip </a:t>
            </a:r>
            <a:r>
              <a:rPr lang="lt-LT" dirty="0" err="1"/>
              <a:t>pasikliautiniai</a:t>
            </a:r>
            <a:r>
              <a:rPr lang="lt-LT" dirty="0"/>
              <a:t> intervalai ir hipotezių testai, net tada, kai patys duomenys nėra normaliai pasiskirstę.</a:t>
            </a:r>
          </a:p>
        </p:txBody>
      </p:sp>
    </p:spTree>
    <p:extLst>
      <p:ext uri="{BB962C8B-B14F-4D97-AF65-F5344CB8AC3E}">
        <p14:creationId xmlns:p14="http://schemas.microsoft.com/office/powerpoint/2010/main" val="3375750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29BE6-BB9A-897E-7211-9475DE64BCA0}"/>
              </a:ext>
            </a:extLst>
          </p:cNvPr>
          <p:cNvSpPr>
            <a:spLocks noGrp="1"/>
          </p:cNvSpPr>
          <p:nvPr>
            <p:ph type="title"/>
          </p:nvPr>
        </p:nvSpPr>
        <p:spPr/>
        <p:txBody>
          <a:bodyPr/>
          <a:lstStyle/>
          <a:p>
            <a:r>
              <a:rPr lang="en-US" dirty="0"/>
              <a:t>Kada CLT </a:t>
            </a:r>
            <a:r>
              <a:rPr lang="en-US" dirty="0" err="1"/>
              <a:t>veikia</a:t>
            </a:r>
            <a:r>
              <a:rPr lang="en-US" dirty="0"/>
              <a:t>? (</a:t>
            </a:r>
            <a:r>
              <a:rPr lang="en-US" dirty="0" err="1"/>
              <a:t>Sąlygos</a:t>
            </a:r>
            <a:r>
              <a:rPr lang="en-US" dirty="0"/>
              <a:t>)</a:t>
            </a:r>
          </a:p>
        </p:txBody>
      </p:sp>
      <p:sp>
        <p:nvSpPr>
          <p:cNvPr id="3" name="Content Placeholder 2">
            <a:extLst>
              <a:ext uri="{FF2B5EF4-FFF2-40B4-BE49-F238E27FC236}">
                <a16:creationId xmlns:a16="http://schemas.microsoft.com/office/drawing/2014/main" id="{135F3F80-ABED-5B22-E06B-3A2BEB77EAC6}"/>
              </a:ext>
            </a:extLst>
          </p:cNvPr>
          <p:cNvSpPr>
            <a:spLocks noGrp="1"/>
          </p:cNvSpPr>
          <p:nvPr>
            <p:ph idx="1"/>
          </p:nvPr>
        </p:nvSpPr>
        <p:spPr/>
        <p:txBody>
          <a:bodyPr>
            <a:normAutofit fontScale="92500"/>
          </a:bodyPr>
          <a:lstStyle/>
          <a:p>
            <a:pPr marL="0" indent="0">
              <a:buNone/>
            </a:pPr>
            <a:r>
              <a:rPr lang="lt-LT" dirty="0"/>
              <a:t>Imtis turi būti atsitiktinė, kad kiekvienas populiacijos elementas turėtų vienodą galimybę patekti į imtį ir būtų išvengta sisteminio šališkumo.</a:t>
            </a:r>
          </a:p>
          <a:p>
            <a:pPr marL="0" indent="0">
              <a:buNone/>
            </a:pPr>
            <a:r>
              <a:rPr lang="lt-LT" dirty="0"/>
              <a:t>Stebėjimai turi būti nepriklausomi vienas nuo kito, tai yra vieno stebėjimo reikšmė neturi daryti įtakos kitam.</a:t>
            </a:r>
          </a:p>
          <a:p>
            <a:pPr marL="0" indent="0">
              <a:buNone/>
            </a:pPr>
            <a:r>
              <a:rPr lang="lt-LT" dirty="0">
                <a:highlight>
                  <a:srgbClr val="FFFF00"/>
                </a:highlight>
              </a:rPr>
              <a:t>Imties dydis turi būti pakankamai didelis. Praktikoje dažnai taikoma taisyklė n ≥ 40, tačiau labai asimetriškiems ar didelio kintamumo duomenims gali reikėti ir didesnės imties.</a:t>
            </a:r>
          </a:p>
          <a:p>
            <a:pPr marL="0" indent="0">
              <a:buNone/>
            </a:pPr>
            <a:r>
              <a:rPr lang="lt-LT" dirty="0"/>
              <a:t>Šių sąlygų laikymasis leidžia taikyti normalumu pagrįstus statistinius metodus net tada, kai pirminiai duomenys nėra normaliai pasiskirstę.</a:t>
            </a:r>
          </a:p>
          <a:p>
            <a:pPr marL="0" indent="0">
              <a:buNone/>
            </a:pPr>
            <a:r>
              <a:rPr lang="lt-LT" dirty="0"/>
              <a:t>).</a:t>
            </a:r>
            <a:endParaRPr lang="en-US" dirty="0"/>
          </a:p>
        </p:txBody>
      </p:sp>
    </p:spTree>
    <p:extLst>
      <p:ext uri="{BB962C8B-B14F-4D97-AF65-F5344CB8AC3E}">
        <p14:creationId xmlns:p14="http://schemas.microsoft.com/office/powerpoint/2010/main" val="7753976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92F08-A2E1-9D1D-CAC2-21C37D0AEF04}"/>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8D2732FC-CB24-8C1E-08BE-76FBC64256F5}"/>
              </a:ext>
            </a:extLst>
          </p:cNvPr>
          <p:cNvSpPr>
            <a:spLocks noGrp="1"/>
          </p:cNvSpPr>
          <p:nvPr>
            <p:ph type="title"/>
          </p:nvPr>
        </p:nvSpPr>
        <p:spPr/>
        <p:txBody>
          <a:bodyPr/>
          <a:lstStyle/>
          <a:p>
            <a:r>
              <a:rPr lang="lt-LT" b="1" dirty="0" err="1"/>
              <a:t>Python</a:t>
            </a:r>
            <a:r>
              <a:rPr lang="lt-LT" b="1" dirty="0"/>
              <a:t> bibliotekos ir funkcijos tikimybių ir tikimybinių skirstinių analizei </a:t>
            </a:r>
          </a:p>
        </p:txBody>
      </p:sp>
      <p:sp>
        <p:nvSpPr>
          <p:cNvPr id="4" name="TextBox 3">
            <a:extLst>
              <a:ext uri="{FF2B5EF4-FFF2-40B4-BE49-F238E27FC236}">
                <a16:creationId xmlns:a16="http://schemas.microsoft.com/office/drawing/2014/main" id="{2A732E03-A4EE-77CA-3608-D648EA4CADD3}"/>
              </a:ext>
            </a:extLst>
          </p:cNvPr>
          <p:cNvSpPr txBox="1"/>
          <p:nvPr/>
        </p:nvSpPr>
        <p:spPr>
          <a:xfrm>
            <a:off x="1445342" y="2651771"/>
            <a:ext cx="6096000" cy="3139321"/>
          </a:xfrm>
          <a:prstGeom prst="rect">
            <a:avLst/>
          </a:prstGeom>
          <a:noFill/>
        </p:spPr>
        <p:txBody>
          <a:bodyPr wrap="square">
            <a:spAutoFit/>
          </a:bodyPr>
          <a:lstStyle/>
          <a:p>
            <a:r>
              <a:rPr lang="lt-LT" b="1" dirty="0" err="1"/>
              <a:t>NumPy</a:t>
            </a:r>
            <a:r>
              <a:rPr lang="lt-LT" b="1" dirty="0"/>
              <a:t> (</a:t>
            </a:r>
            <a:r>
              <a:rPr lang="lt-LT" b="1" dirty="0" err="1"/>
              <a:t>numpy</a:t>
            </a:r>
            <a:r>
              <a:rPr lang="lt-LT" b="1" dirty="0"/>
              <a:t>)</a:t>
            </a:r>
            <a:br>
              <a:rPr lang="lt-LT" dirty="0"/>
            </a:br>
            <a:r>
              <a:rPr lang="lt-LT" dirty="0"/>
              <a:t>Naudojama baziniams skaičiavimams ir atsitiktiniams duomenims generuoti.</a:t>
            </a:r>
            <a:br>
              <a:rPr lang="lt-LT" dirty="0"/>
            </a:br>
            <a:r>
              <a:rPr lang="lt-LT" dirty="0"/>
              <a:t>Tipinės funkcijos:</a:t>
            </a:r>
            <a:br>
              <a:rPr lang="lt-LT" dirty="0"/>
            </a:br>
            <a:r>
              <a:rPr lang="lt-LT" dirty="0" err="1"/>
              <a:t>np.mean</a:t>
            </a:r>
            <a:r>
              <a:rPr lang="lt-LT" dirty="0"/>
              <a:t>, </a:t>
            </a:r>
            <a:r>
              <a:rPr lang="lt-LT" dirty="0" err="1"/>
              <a:t>np.std</a:t>
            </a:r>
            <a:r>
              <a:rPr lang="lt-LT" dirty="0"/>
              <a:t>, </a:t>
            </a:r>
            <a:r>
              <a:rPr lang="lt-LT" dirty="0" err="1"/>
              <a:t>np.var</a:t>
            </a:r>
            <a:r>
              <a:rPr lang="lt-LT" dirty="0"/>
              <a:t> – centrinės tendencijos ir sklaidos rodikliai</a:t>
            </a:r>
            <a:br>
              <a:rPr lang="lt-LT" dirty="0"/>
            </a:br>
            <a:r>
              <a:rPr lang="lt-LT" dirty="0" err="1"/>
              <a:t>np.random.normal</a:t>
            </a:r>
            <a:r>
              <a:rPr lang="lt-LT" dirty="0"/>
              <a:t>, </a:t>
            </a:r>
            <a:r>
              <a:rPr lang="lt-LT" dirty="0" err="1"/>
              <a:t>np.random.binomial</a:t>
            </a:r>
            <a:r>
              <a:rPr lang="lt-LT" dirty="0"/>
              <a:t>, </a:t>
            </a:r>
            <a:r>
              <a:rPr lang="lt-LT" dirty="0" err="1"/>
              <a:t>np.random.poisson</a:t>
            </a:r>
            <a:r>
              <a:rPr lang="lt-LT" dirty="0"/>
              <a:t> – skirstinių simuliacija</a:t>
            </a:r>
            <a:br>
              <a:rPr lang="lt-LT" dirty="0"/>
            </a:br>
            <a:r>
              <a:rPr lang="lt-LT" dirty="0" err="1"/>
              <a:t>np.percentile</a:t>
            </a:r>
            <a:r>
              <a:rPr lang="lt-LT" dirty="0"/>
              <a:t> – kvantiliai</a:t>
            </a:r>
          </a:p>
          <a:p>
            <a:r>
              <a:rPr lang="lt-LT" dirty="0"/>
              <a:t>Naudojama tada, kai reikia suprasti duomenų elgesį skaitiniu lygmeniu arba generuoti pavyzdžius.</a:t>
            </a:r>
          </a:p>
        </p:txBody>
      </p:sp>
    </p:spTree>
    <p:extLst>
      <p:ext uri="{BB962C8B-B14F-4D97-AF65-F5344CB8AC3E}">
        <p14:creationId xmlns:p14="http://schemas.microsoft.com/office/powerpoint/2010/main" val="2799662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08ED0-6E0A-0E94-E0E6-A774DD61C6C3}"/>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2C0C0B58-8C54-801E-D625-01B4C0DAEB08}"/>
              </a:ext>
            </a:extLst>
          </p:cNvPr>
          <p:cNvSpPr>
            <a:spLocks noGrp="1"/>
          </p:cNvSpPr>
          <p:nvPr>
            <p:ph type="title"/>
          </p:nvPr>
        </p:nvSpPr>
        <p:spPr/>
        <p:txBody>
          <a:bodyPr/>
          <a:lstStyle/>
          <a:p>
            <a:r>
              <a:rPr lang="lt-LT" b="1" dirty="0" err="1"/>
              <a:t>Python</a:t>
            </a:r>
            <a:r>
              <a:rPr lang="lt-LT" b="1" dirty="0"/>
              <a:t> bibliotekos ir funkcijos tikimybių ir tikimybinių skirstinių analizei </a:t>
            </a:r>
          </a:p>
        </p:txBody>
      </p:sp>
      <p:sp>
        <p:nvSpPr>
          <p:cNvPr id="4" name="TextBox 3">
            <a:extLst>
              <a:ext uri="{FF2B5EF4-FFF2-40B4-BE49-F238E27FC236}">
                <a16:creationId xmlns:a16="http://schemas.microsoft.com/office/drawing/2014/main" id="{0480F5C2-D9DD-BDD0-FFA4-38E169C92605}"/>
              </a:ext>
            </a:extLst>
          </p:cNvPr>
          <p:cNvSpPr txBox="1"/>
          <p:nvPr/>
        </p:nvSpPr>
        <p:spPr>
          <a:xfrm>
            <a:off x="1042220" y="1894687"/>
            <a:ext cx="8711380" cy="3970318"/>
          </a:xfrm>
          <a:prstGeom prst="rect">
            <a:avLst/>
          </a:prstGeom>
          <a:noFill/>
        </p:spPr>
        <p:txBody>
          <a:bodyPr wrap="square">
            <a:spAutoFit/>
          </a:bodyPr>
          <a:lstStyle/>
          <a:p>
            <a:r>
              <a:rPr lang="lt-LT" b="1" dirty="0" err="1"/>
              <a:t>SciPy</a:t>
            </a:r>
            <a:r>
              <a:rPr lang="lt-LT" b="1" dirty="0"/>
              <a:t> </a:t>
            </a:r>
            <a:r>
              <a:rPr lang="lt-LT" b="1" dirty="0" err="1"/>
              <a:t>Stats</a:t>
            </a:r>
            <a:r>
              <a:rPr lang="lt-LT" b="1" dirty="0"/>
              <a:t> (</a:t>
            </a:r>
            <a:r>
              <a:rPr lang="lt-LT" b="1" dirty="0" err="1"/>
              <a:t>scipy.stats</a:t>
            </a:r>
            <a:r>
              <a:rPr lang="lt-LT" b="1" dirty="0"/>
              <a:t>)</a:t>
            </a:r>
            <a:br>
              <a:rPr lang="lt-LT" dirty="0"/>
            </a:br>
            <a:r>
              <a:rPr lang="lt-LT" dirty="0"/>
              <a:t>Pagrindinė biblioteka </a:t>
            </a:r>
            <a:r>
              <a:rPr lang="lt-LT" b="1" dirty="0"/>
              <a:t>tikimybių ir statistinių skirstinių analizei</a:t>
            </a:r>
            <a:r>
              <a:rPr lang="lt-LT" dirty="0"/>
              <a:t>.</a:t>
            </a:r>
          </a:p>
          <a:p>
            <a:r>
              <a:rPr lang="lt-LT" dirty="0"/>
              <a:t>Skirstiniai:</a:t>
            </a:r>
            <a:br>
              <a:rPr lang="lt-LT" dirty="0"/>
            </a:br>
            <a:r>
              <a:rPr lang="lt-LT" dirty="0" err="1"/>
              <a:t>norm</a:t>
            </a:r>
            <a:r>
              <a:rPr lang="lt-LT" dirty="0"/>
              <a:t>, </a:t>
            </a:r>
            <a:r>
              <a:rPr lang="lt-LT" dirty="0" err="1"/>
              <a:t>binom</a:t>
            </a:r>
            <a:r>
              <a:rPr lang="lt-LT" dirty="0"/>
              <a:t>, </a:t>
            </a:r>
            <a:r>
              <a:rPr lang="lt-LT" dirty="0" err="1"/>
              <a:t>poisson</a:t>
            </a:r>
            <a:r>
              <a:rPr lang="lt-LT" dirty="0"/>
              <a:t>, </a:t>
            </a:r>
            <a:r>
              <a:rPr lang="lt-LT" dirty="0" err="1"/>
              <a:t>expon</a:t>
            </a:r>
            <a:r>
              <a:rPr lang="lt-LT" dirty="0"/>
              <a:t>, </a:t>
            </a:r>
            <a:r>
              <a:rPr lang="lt-LT" dirty="0" err="1"/>
              <a:t>uniform</a:t>
            </a:r>
            <a:r>
              <a:rPr lang="lt-LT" dirty="0"/>
              <a:t>, chi2</a:t>
            </a:r>
          </a:p>
          <a:p>
            <a:r>
              <a:rPr lang="lt-LT" dirty="0"/>
              <a:t>Dažniausiai naudojamos funkcijos:</a:t>
            </a:r>
            <a:br>
              <a:rPr lang="lt-LT" dirty="0"/>
            </a:br>
            <a:r>
              <a:rPr lang="lt-LT" dirty="0" err="1"/>
              <a:t>pdf</a:t>
            </a:r>
            <a:r>
              <a:rPr lang="lt-LT" dirty="0"/>
              <a:t> – tikimybių tankis</a:t>
            </a:r>
            <a:br>
              <a:rPr lang="lt-LT" dirty="0"/>
            </a:br>
            <a:r>
              <a:rPr lang="lt-LT" dirty="0" err="1"/>
              <a:t>cdf</a:t>
            </a:r>
            <a:r>
              <a:rPr lang="lt-LT" dirty="0"/>
              <a:t> – </a:t>
            </a:r>
            <a:r>
              <a:rPr lang="lt-LT" dirty="0" err="1"/>
              <a:t>sukauptinė</a:t>
            </a:r>
            <a:r>
              <a:rPr lang="lt-LT" dirty="0"/>
              <a:t> tikimybė</a:t>
            </a:r>
            <a:br>
              <a:rPr lang="lt-LT" dirty="0"/>
            </a:br>
            <a:r>
              <a:rPr lang="lt-LT" dirty="0" err="1"/>
              <a:t>ppf</a:t>
            </a:r>
            <a:r>
              <a:rPr lang="lt-LT" dirty="0"/>
              <a:t> – kvantiliai (atvirkštinė CDF)</a:t>
            </a:r>
            <a:br>
              <a:rPr lang="lt-LT" dirty="0"/>
            </a:br>
            <a:r>
              <a:rPr lang="lt-LT" dirty="0" err="1"/>
              <a:t>rvs</a:t>
            </a:r>
            <a:r>
              <a:rPr lang="lt-LT" dirty="0"/>
              <a:t> – atsitiktinių reikšmių generavimas</a:t>
            </a:r>
            <a:br>
              <a:rPr lang="lt-LT" dirty="0"/>
            </a:br>
            <a:r>
              <a:rPr lang="lt-LT" dirty="0" err="1"/>
              <a:t>mean</a:t>
            </a:r>
            <a:r>
              <a:rPr lang="lt-LT" dirty="0"/>
              <a:t>, </a:t>
            </a:r>
            <a:r>
              <a:rPr lang="lt-LT" dirty="0" err="1"/>
              <a:t>var</a:t>
            </a:r>
            <a:r>
              <a:rPr lang="lt-LT" dirty="0"/>
              <a:t>, </a:t>
            </a:r>
            <a:r>
              <a:rPr lang="lt-LT" dirty="0" err="1"/>
              <a:t>std</a:t>
            </a:r>
            <a:r>
              <a:rPr lang="lt-LT" dirty="0"/>
              <a:t> – teoriniai skirstinių parametrai</a:t>
            </a:r>
          </a:p>
          <a:p>
            <a:r>
              <a:rPr lang="lt-LT" dirty="0"/>
              <a:t>Statistiniai testai:</a:t>
            </a:r>
            <a:br>
              <a:rPr lang="lt-LT" dirty="0"/>
            </a:br>
            <a:r>
              <a:rPr lang="lt-LT" dirty="0" err="1">
                <a:highlight>
                  <a:srgbClr val="FFFF00"/>
                </a:highlight>
              </a:rPr>
              <a:t>shapiro</a:t>
            </a:r>
            <a:r>
              <a:rPr lang="lt-LT" dirty="0">
                <a:highlight>
                  <a:srgbClr val="FFFF00"/>
                </a:highlight>
              </a:rPr>
              <a:t>, </a:t>
            </a:r>
            <a:r>
              <a:rPr lang="lt-LT" dirty="0" err="1">
                <a:highlight>
                  <a:srgbClr val="FFFF00"/>
                </a:highlight>
              </a:rPr>
              <a:t>normaltest</a:t>
            </a:r>
            <a:r>
              <a:rPr lang="lt-LT" dirty="0">
                <a:highlight>
                  <a:srgbClr val="FFFF00"/>
                </a:highlight>
              </a:rPr>
              <a:t>, </a:t>
            </a:r>
            <a:r>
              <a:rPr lang="lt-LT" dirty="0" err="1">
                <a:highlight>
                  <a:srgbClr val="FFFF00"/>
                </a:highlight>
              </a:rPr>
              <a:t>anderson</a:t>
            </a:r>
            <a:r>
              <a:rPr lang="lt-LT" dirty="0">
                <a:highlight>
                  <a:srgbClr val="FFFF00"/>
                </a:highlight>
              </a:rPr>
              <a:t> – normalumui</a:t>
            </a:r>
            <a:br>
              <a:rPr lang="lt-LT" dirty="0">
                <a:highlight>
                  <a:srgbClr val="FFFF00"/>
                </a:highlight>
              </a:rPr>
            </a:br>
            <a:r>
              <a:rPr lang="lt-LT" dirty="0" err="1">
                <a:highlight>
                  <a:srgbClr val="FFFF00"/>
                </a:highlight>
              </a:rPr>
              <a:t>pearsonr</a:t>
            </a:r>
            <a:r>
              <a:rPr lang="lt-LT" dirty="0">
                <a:highlight>
                  <a:srgbClr val="FFFF00"/>
                </a:highlight>
              </a:rPr>
              <a:t>, </a:t>
            </a:r>
            <a:r>
              <a:rPr lang="lt-LT" dirty="0" err="1">
                <a:highlight>
                  <a:srgbClr val="FFFF00"/>
                </a:highlight>
              </a:rPr>
              <a:t>spearmanr</a:t>
            </a:r>
            <a:r>
              <a:rPr lang="lt-LT" dirty="0">
                <a:highlight>
                  <a:srgbClr val="FFFF00"/>
                </a:highlight>
              </a:rPr>
              <a:t>, </a:t>
            </a:r>
            <a:r>
              <a:rPr lang="lt-LT" dirty="0" err="1">
                <a:highlight>
                  <a:srgbClr val="FFFF00"/>
                </a:highlight>
              </a:rPr>
              <a:t>kendalltau</a:t>
            </a:r>
            <a:r>
              <a:rPr lang="lt-LT" dirty="0">
                <a:highlight>
                  <a:srgbClr val="FFFF00"/>
                </a:highlight>
              </a:rPr>
              <a:t> – koreliacijai</a:t>
            </a:r>
          </a:p>
          <a:p>
            <a:r>
              <a:rPr lang="lt-LT" dirty="0"/>
              <a:t>Tai pagrindinė biblioteka, kai kalbama apie p-</a:t>
            </a:r>
            <a:r>
              <a:rPr lang="lt-LT" dirty="0" err="1"/>
              <a:t>value</a:t>
            </a:r>
            <a:r>
              <a:rPr lang="lt-LT" dirty="0"/>
              <a:t>, SE, skirstinius ir hipotezių testus.</a:t>
            </a:r>
          </a:p>
        </p:txBody>
      </p:sp>
    </p:spTree>
    <p:extLst>
      <p:ext uri="{BB962C8B-B14F-4D97-AF65-F5344CB8AC3E}">
        <p14:creationId xmlns:p14="http://schemas.microsoft.com/office/powerpoint/2010/main" val="12344706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40535-ABF0-2CF9-CDE9-429D30588027}"/>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6AED4094-5D6C-9D6E-75F2-7255F2DA72DD}"/>
              </a:ext>
            </a:extLst>
          </p:cNvPr>
          <p:cNvSpPr>
            <a:spLocks noGrp="1"/>
          </p:cNvSpPr>
          <p:nvPr>
            <p:ph type="title"/>
          </p:nvPr>
        </p:nvSpPr>
        <p:spPr/>
        <p:txBody>
          <a:bodyPr/>
          <a:lstStyle/>
          <a:p>
            <a:r>
              <a:rPr lang="lt-LT" b="1" dirty="0" err="1"/>
              <a:t>Python</a:t>
            </a:r>
            <a:r>
              <a:rPr lang="lt-LT" b="1" dirty="0"/>
              <a:t> bibliotekos ir funkcijos tikimybių ir tikimybinių skirstinių analizei </a:t>
            </a:r>
          </a:p>
        </p:txBody>
      </p:sp>
      <p:sp>
        <p:nvSpPr>
          <p:cNvPr id="4" name="TextBox 3">
            <a:extLst>
              <a:ext uri="{FF2B5EF4-FFF2-40B4-BE49-F238E27FC236}">
                <a16:creationId xmlns:a16="http://schemas.microsoft.com/office/drawing/2014/main" id="{DE0CE888-E1B4-EAF0-BBD8-D707CF3BC047}"/>
              </a:ext>
            </a:extLst>
          </p:cNvPr>
          <p:cNvSpPr txBox="1"/>
          <p:nvPr/>
        </p:nvSpPr>
        <p:spPr>
          <a:xfrm>
            <a:off x="1042220" y="1894687"/>
            <a:ext cx="8711380" cy="2031325"/>
          </a:xfrm>
          <a:prstGeom prst="rect">
            <a:avLst/>
          </a:prstGeom>
          <a:noFill/>
        </p:spPr>
        <p:txBody>
          <a:bodyPr wrap="square">
            <a:spAutoFit/>
          </a:bodyPr>
          <a:lstStyle/>
          <a:p>
            <a:r>
              <a:rPr lang="lt-LT" b="1" dirty="0"/>
              <a:t>Pandas (pandas)</a:t>
            </a:r>
            <a:br>
              <a:rPr lang="lt-LT" dirty="0"/>
            </a:br>
            <a:r>
              <a:rPr lang="lt-LT" dirty="0"/>
              <a:t>Naudojama </a:t>
            </a:r>
            <a:r>
              <a:rPr lang="lt-LT" b="1" dirty="0"/>
              <a:t>empirinių duomenų analizei</a:t>
            </a:r>
            <a:r>
              <a:rPr lang="lt-LT" dirty="0"/>
              <a:t>, kai dirbama su realiais duomenų rinkiniais.</a:t>
            </a:r>
          </a:p>
          <a:p>
            <a:r>
              <a:rPr lang="lt-LT" dirty="0"/>
              <a:t>Tipinės funkcijos:</a:t>
            </a:r>
            <a:br>
              <a:rPr lang="lt-LT" dirty="0"/>
            </a:br>
            <a:r>
              <a:rPr lang="lt-LT" dirty="0" err="1"/>
              <a:t>Series.mean</a:t>
            </a:r>
            <a:r>
              <a:rPr lang="lt-LT" dirty="0"/>
              <a:t>, </a:t>
            </a:r>
            <a:r>
              <a:rPr lang="lt-LT" dirty="0" err="1"/>
              <a:t>median</a:t>
            </a:r>
            <a:r>
              <a:rPr lang="lt-LT" dirty="0"/>
              <a:t>, </a:t>
            </a:r>
            <a:r>
              <a:rPr lang="lt-LT" dirty="0" err="1"/>
              <a:t>std</a:t>
            </a:r>
            <a:r>
              <a:rPr lang="lt-LT" dirty="0"/>
              <a:t> – imties rodikliai</a:t>
            </a:r>
            <a:br>
              <a:rPr lang="lt-LT" dirty="0"/>
            </a:br>
            <a:r>
              <a:rPr lang="lt-LT" dirty="0" err="1"/>
              <a:t>value_counts</a:t>
            </a:r>
            <a:r>
              <a:rPr lang="lt-LT" dirty="0"/>
              <a:t>(</a:t>
            </a:r>
            <a:r>
              <a:rPr lang="lt-LT" dirty="0" err="1"/>
              <a:t>normalize</a:t>
            </a:r>
            <a:r>
              <a:rPr lang="lt-LT" dirty="0"/>
              <a:t>=</a:t>
            </a:r>
            <a:r>
              <a:rPr lang="lt-LT" dirty="0" err="1"/>
              <a:t>True</a:t>
            </a:r>
            <a:r>
              <a:rPr lang="lt-LT" dirty="0"/>
              <a:t>) – empirinės tikimybės</a:t>
            </a:r>
            <a:br>
              <a:rPr lang="lt-LT" dirty="0"/>
            </a:br>
            <a:r>
              <a:rPr lang="lt-LT" dirty="0" err="1"/>
              <a:t>describe</a:t>
            </a:r>
            <a:r>
              <a:rPr lang="lt-LT" dirty="0"/>
              <a:t> – greita pasiskirstymo santrauka</a:t>
            </a:r>
          </a:p>
          <a:p>
            <a:r>
              <a:rPr lang="lt-LT" dirty="0"/>
              <a:t>Svarbu suprasti: pandas dirba su </a:t>
            </a:r>
            <a:r>
              <a:rPr lang="lt-LT" b="1" dirty="0"/>
              <a:t>imtimi</a:t>
            </a:r>
            <a:r>
              <a:rPr lang="lt-LT" dirty="0"/>
              <a:t>, o </a:t>
            </a:r>
            <a:r>
              <a:rPr lang="lt-LT" dirty="0" err="1"/>
              <a:t>scipy.stats</a:t>
            </a:r>
            <a:r>
              <a:rPr lang="lt-LT" dirty="0"/>
              <a:t> – su </a:t>
            </a:r>
            <a:r>
              <a:rPr lang="lt-LT" b="1" dirty="0"/>
              <a:t>teoriniais skirstiniais</a:t>
            </a:r>
            <a:r>
              <a:rPr lang="lt-LT" dirty="0"/>
              <a:t>.</a:t>
            </a:r>
          </a:p>
        </p:txBody>
      </p:sp>
    </p:spTree>
    <p:extLst>
      <p:ext uri="{BB962C8B-B14F-4D97-AF65-F5344CB8AC3E}">
        <p14:creationId xmlns:p14="http://schemas.microsoft.com/office/powerpoint/2010/main" val="287952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A94F1-3AF3-F235-0F85-897D6C85EE10}"/>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5F7A9D0D-3409-F9AA-2D9B-A9A889A9B1FD}"/>
              </a:ext>
            </a:extLst>
          </p:cNvPr>
          <p:cNvSpPr>
            <a:spLocks noGrp="1"/>
          </p:cNvSpPr>
          <p:nvPr>
            <p:ph type="title"/>
          </p:nvPr>
        </p:nvSpPr>
        <p:spPr/>
        <p:txBody>
          <a:bodyPr/>
          <a:lstStyle/>
          <a:p>
            <a:r>
              <a:rPr lang="lt-LT" b="1" dirty="0" err="1"/>
              <a:t>Python</a:t>
            </a:r>
            <a:r>
              <a:rPr lang="lt-LT" b="1" dirty="0"/>
              <a:t> bibliotekos ir funkcijos tikimybių ir tikimybinių skirstinių analizei </a:t>
            </a:r>
          </a:p>
        </p:txBody>
      </p:sp>
      <p:sp>
        <p:nvSpPr>
          <p:cNvPr id="4" name="TextBox 3">
            <a:extLst>
              <a:ext uri="{FF2B5EF4-FFF2-40B4-BE49-F238E27FC236}">
                <a16:creationId xmlns:a16="http://schemas.microsoft.com/office/drawing/2014/main" id="{B39E2172-87BC-E65F-B93C-3E66A14F49C8}"/>
              </a:ext>
            </a:extLst>
          </p:cNvPr>
          <p:cNvSpPr txBox="1"/>
          <p:nvPr/>
        </p:nvSpPr>
        <p:spPr>
          <a:xfrm>
            <a:off x="1042220" y="1894687"/>
            <a:ext cx="8711380" cy="2031325"/>
          </a:xfrm>
          <a:prstGeom prst="rect">
            <a:avLst/>
          </a:prstGeom>
          <a:noFill/>
        </p:spPr>
        <p:txBody>
          <a:bodyPr wrap="square">
            <a:spAutoFit/>
          </a:bodyPr>
          <a:lstStyle/>
          <a:p>
            <a:r>
              <a:rPr lang="lt-LT" b="1" dirty="0" err="1"/>
              <a:t>Matplotlib</a:t>
            </a:r>
            <a:r>
              <a:rPr lang="lt-LT" b="1" dirty="0"/>
              <a:t> / </a:t>
            </a:r>
            <a:r>
              <a:rPr lang="lt-LT" b="1" dirty="0" err="1"/>
              <a:t>Seaborn</a:t>
            </a:r>
            <a:br>
              <a:rPr lang="lt-LT" dirty="0"/>
            </a:br>
            <a:r>
              <a:rPr lang="lt-LT" dirty="0"/>
              <a:t>Naudojamos </a:t>
            </a:r>
            <a:r>
              <a:rPr lang="lt-LT" b="1" dirty="0"/>
              <a:t>skirstinių interpretavimui per vizualizaciją</a:t>
            </a:r>
            <a:r>
              <a:rPr lang="lt-LT" dirty="0"/>
              <a:t>.</a:t>
            </a:r>
          </a:p>
          <a:p>
            <a:r>
              <a:rPr lang="lt-LT" dirty="0"/>
              <a:t>Tipinės vizualizacijos:</a:t>
            </a:r>
            <a:br>
              <a:rPr lang="lt-LT" dirty="0"/>
            </a:br>
            <a:r>
              <a:rPr lang="lt-LT" dirty="0"/>
              <a:t>histogramos – pasiskirstymo forma</a:t>
            </a:r>
            <a:br>
              <a:rPr lang="lt-LT" dirty="0"/>
            </a:br>
            <a:r>
              <a:rPr lang="lt-LT" dirty="0" err="1"/>
              <a:t>density</a:t>
            </a:r>
            <a:r>
              <a:rPr lang="lt-LT" dirty="0"/>
              <a:t> / KDE – tankio įvertinimas</a:t>
            </a:r>
            <a:br>
              <a:rPr lang="lt-LT" dirty="0"/>
            </a:br>
            <a:r>
              <a:rPr lang="lt-LT" dirty="0"/>
              <a:t>Q–Q grafikai – normalumo vertinimas</a:t>
            </a:r>
          </a:p>
          <a:p>
            <a:r>
              <a:rPr lang="lt-LT" dirty="0"/>
              <a:t>Vizualizacija visada eina prieš arba kartu su statistiniais testais.</a:t>
            </a:r>
          </a:p>
        </p:txBody>
      </p:sp>
    </p:spTree>
    <p:extLst>
      <p:ext uri="{BB962C8B-B14F-4D97-AF65-F5344CB8AC3E}">
        <p14:creationId xmlns:p14="http://schemas.microsoft.com/office/powerpoint/2010/main" val="2593175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E71E3-AAE0-C7C1-7D7C-7BA231DE11A8}"/>
              </a:ext>
            </a:extLst>
          </p:cNvPr>
          <p:cNvSpPr>
            <a:spLocks noGrp="1"/>
          </p:cNvSpPr>
          <p:nvPr>
            <p:ph type="ctrTitle"/>
          </p:nvPr>
        </p:nvSpPr>
        <p:spPr/>
        <p:txBody>
          <a:bodyPr/>
          <a:lstStyle/>
          <a:p>
            <a:r>
              <a:rPr lang="en-US" dirty="0" err="1"/>
              <a:t>Koreliacinė</a:t>
            </a:r>
            <a:r>
              <a:rPr lang="en-US" dirty="0"/>
              <a:t> </a:t>
            </a:r>
            <a:r>
              <a:rPr lang="en-US" dirty="0" err="1"/>
              <a:t>analizė</a:t>
            </a:r>
            <a:endParaRPr lang="en-US" dirty="0"/>
          </a:p>
        </p:txBody>
      </p:sp>
    </p:spTree>
    <p:extLst>
      <p:ext uri="{BB962C8B-B14F-4D97-AF65-F5344CB8AC3E}">
        <p14:creationId xmlns:p14="http://schemas.microsoft.com/office/powerpoint/2010/main" val="4099902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0F293-7776-B7BC-6C99-07D573B45667}"/>
              </a:ext>
            </a:extLst>
          </p:cNvPr>
          <p:cNvSpPr>
            <a:spLocks noGrp="1"/>
          </p:cNvSpPr>
          <p:nvPr>
            <p:ph type="title"/>
          </p:nvPr>
        </p:nvSpPr>
        <p:spPr/>
        <p:txBody>
          <a:bodyPr/>
          <a:lstStyle/>
          <a:p>
            <a:r>
              <a:rPr lang="en-US" dirty="0"/>
              <a:t>Kas </a:t>
            </a:r>
            <a:r>
              <a:rPr lang="en-US" dirty="0" err="1"/>
              <a:t>yra</a:t>
            </a:r>
            <a:r>
              <a:rPr lang="en-US" dirty="0"/>
              <a:t> </a:t>
            </a:r>
            <a:r>
              <a:rPr lang="en-US" dirty="0" err="1"/>
              <a:t>koreliacija</a:t>
            </a:r>
            <a:r>
              <a:rPr lang="en-US" dirty="0"/>
              <a:t>?</a:t>
            </a:r>
          </a:p>
        </p:txBody>
      </p:sp>
      <p:pic>
        <p:nvPicPr>
          <p:cNvPr id="5" name="Picture 4">
            <a:extLst>
              <a:ext uri="{FF2B5EF4-FFF2-40B4-BE49-F238E27FC236}">
                <a16:creationId xmlns:a16="http://schemas.microsoft.com/office/drawing/2014/main" id="{21093BF8-8424-315A-B714-DD538E2AB56B}"/>
              </a:ext>
            </a:extLst>
          </p:cNvPr>
          <p:cNvPicPr>
            <a:picLocks noChangeAspect="1"/>
          </p:cNvPicPr>
          <p:nvPr/>
        </p:nvPicPr>
        <p:blipFill>
          <a:blip r:embed="rId3"/>
          <a:stretch>
            <a:fillRect/>
          </a:stretch>
        </p:blipFill>
        <p:spPr>
          <a:xfrm>
            <a:off x="778397" y="4136194"/>
            <a:ext cx="10575403" cy="2267145"/>
          </a:xfrm>
          <a:prstGeom prst="rect">
            <a:avLst/>
          </a:prstGeom>
        </p:spPr>
      </p:pic>
      <p:sp>
        <p:nvSpPr>
          <p:cNvPr id="6" name="TextBox 5">
            <a:extLst>
              <a:ext uri="{FF2B5EF4-FFF2-40B4-BE49-F238E27FC236}">
                <a16:creationId xmlns:a16="http://schemas.microsoft.com/office/drawing/2014/main" id="{8C6350D8-E448-C65C-0E9A-B5772962F96F}"/>
              </a:ext>
            </a:extLst>
          </p:cNvPr>
          <p:cNvSpPr txBox="1"/>
          <p:nvPr/>
        </p:nvSpPr>
        <p:spPr>
          <a:xfrm>
            <a:off x="1099457" y="1589314"/>
            <a:ext cx="10091057" cy="2031325"/>
          </a:xfrm>
          <a:prstGeom prst="rect">
            <a:avLst/>
          </a:prstGeom>
          <a:noFill/>
        </p:spPr>
        <p:txBody>
          <a:bodyPr wrap="square">
            <a:spAutoFit/>
          </a:bodyPr>
          <a:lstStyle/>
          <a:p>
            <a:pPr>
              <a:buNone/>
            </a:pPr>
            <a:r>
              <a:rPr lang="lt-LT" b="1" dirty="0"/>
              <a:t>Koreliacija apibūdina ryšio stiprumą ir kryptį tarp dviejų kintamųjų.</a:t>
            </a:r>
          </a:p>
          <a:p>
            <a:pPr>
              <a:buNone/>
            </a:pPr>
            <a:r>
              <a:rPr lang="lt-LT" dirty="0"/>
              <a:t>Ji parodo, ar kintamieji linkę didėti ar mažėti kartu, ar judėti priešingomis kryptimis, tačiau nenusako priežastinio ryšio.</a:t>
            </a:r>
          </a:p>
          <a:p>
            <a:pPr>
              <a:buNone/>
            </a:pPr>
            <a:r>
              <a:rPr lang="lt-LT" dirty="0"/>
              <a:t>Koreliacijos koeficiento reikšmės svyruoja nuo </a:t>
            </a:r>
            <a:r>
              <a:rPr lang="lt-LT" b="1" dirty="0"/>
              <a:t>−1 iki 1</a:t>
            </a:r>
            <a:r>
              <a:rPr lang="lt-LT" dirty="0"/>
              <a:t>. </a:t>
            </a:r>
          </a:p>
          <a:p>
            <a:pPr>
              <a:buNone/>
            </a:pPr>
            <a:r>
              <a:rPr lang="lt-LT" dirty="0"/>
              <a:t>Reikšmė +1 reiškia tobulą teigiamą koreliaciją, kai abu kintamieji didėja kartu. </a:t>
            </a:r>
          </a:p>
          <a:p>
            <a:pPr>
              <a:buNone/>
            </a:pPr>
            <a:r>
              <a:rPr lang="lt-LT" dirty="0"/>
              <a:t>Reikšmė 0 reiškia, kad tiesinio ryšio nėra. </a:t>
            </a:r>
          </a:p>
          <a:p>
            <a:pPr>
              <a:buNone/>
            </a:pPr>
            <a:r>
              <a:rPr lang="lt-LT" dirty="0"/>
              <a:t>Reikšmė −1 reiškia tobulą neigiamą koreliaciją, kai vienas kintamasis didėja, o kitas mažėja.</a:t>
            </a:r>
          </a:p>
        </p:txBody>
      </p:sp>
    </p:spTree>
    <p:extLst>
      <p:ext uri="{BB962C8B-B14F-4D97-AF65-F5344CB8AC3E}">
        <p14:creationId xmlns:p14="http://schemas.microsoft.com/office/powerpoint/2010/main" val="2544096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4D84A69-D3B5-77E7-0823-5E48BBBC2657}"/>
              </a:ext>
            </a:extLst>
          </p:cNvPr>
          <p:cNvSpPr>
            <a:spLocks noGrp="1"/>
          </p:cNvSpPr>
          <p:nvPr>
            <p:ph type="title"/>
          </p:nvPr>
        </p:nvSpPr>
        <p:spPr/>
        <p:txBody>
          <a:bodyPr/>
          <a:lstStyle/>
          <a:p>
            <a:r>
              <a:rPr lang="lt-LT" dirty="0" err="1"/>
              <a:t>Correlation</a:t>
            </a:r>
            <a:r>
              <a:rPr lang="lt-LT" dirty="0"/>
              <a:t> </a:t>
            </a:r>
            <a:r>
              <a:rPr lang="en-US" dirty="0"/>
              <a:t>!= Causation</a:t>
            </a:r>
            <a:endParaRPr lang="lt-LT" dirty="0"/>
          </a:p>
        </p:txBody>
      </p:sp>
      <p:sp>
        <p:nvSpPr>
          <p:cNvPr id="3" name="Turinio vietos rezervavimo ženklas 2">
            <a:extLst>
              <a:ext uri="{FF2B5EF4-FFF2-40B4-BE49-F238E27FC236}">
                <a16:creationId xmlns:a16="http://schemas.microsoft.com/office/drawing/2014/main" id="{CE8ECA3F-57FE-3F2A-60DA-364AC9A411C5}"/>
              </a:ext>
            </a:extLst>
          </p:cNvPr>
          <p:cNvSpPr>
            <a:spLocks noGrp="1"/>
          </p:cNvSpPr>
          <p:nvPr>
            <p:ph idx="1"/>
          </p:nvPr>
        </p:nvSpPr>
        <p:spPr/>
        <p:txBody>
          <a:bodyPr/>
          <a:lstStyle/>
          <a:p>
            <a:pPr marL="0" indent="0">
              <a:buNone/>
            </a:pPr>
            <a:r>
              <a:rPr lang="lt-LT" dirty="0"/>
              <a:t>Koreliacija nereiškia priežastingumo. Tai, kad du kintamieji juda kartu, dar nereiškia, jog vienas sukelia kito pokytį.</a:t>
            </a:r>
          </a:p>
          <a:p>
            <a:pPr marL="0" indent="0">
              <a:buNone/>
            </a:pPr>
            <a:r>
              <a:rPr lang="lt-LT" dirty="0"/>
              <a:t>Toks ryšys gali atsirasti dėl trečiojo, nematomo veiksnio, atsitiktinumo arba bendros tendencijos laike. </a:t>
            </a:r>
            <a:r>
              <a:rPr lang="lt-LT" dirty="0">
                <a:highlight>
                  <a:srgbClr val="FFFF00"/>
                </a:highlight>
              </a:rPr>
              <a:t>Du kintamieji gali būti susiję statistiškai</a:t>
            </a:r>
            <a:r>
              <a:rPr lang="lt-LT" dirty="0"/>
              <a:t>, bet neturėti tiesioginio priežastinio ryšio.</a:t>
            </a:r>
          </a:p>
          <a:p>
            <a:pPr marL="0" indent="0">
              <a:buNone/>
            </a:pPr>
            <a:r>
              <a:rPr lang="lt-LT" dirty="0"/>
              <a:t>Duomenų analizėje koreliacija naudojama kaip signalas galimam ryšiui identifikuoti, tačiau priežastiniams ryšiams nustatyti reikalingi papildomi metodai, tokie kaip </a:t>
            </a:r>
            <a:r>
              <a:rPr lang="lt-LT" b="1" dirty="0"/>
              <a:t>eksperimentai, A/B testai ar priežastiniai modeliai</a:t>
            </a:r>
            <a:r>
              <a:rPr lang="lt-LT" dirty="0"/>
              <a:t>.</a:t>
            </a:r>
          </a:p>
          <a:p>
            <a:endParaRPr lang="lt-LT" dirty="0"/>
          </a:p>
        </p:txBody>
      </p:sp>
    </p:spTree>
    <p:extLst>
      <p:ext uri="{BB962C8B-B14F-4D97-AF65-F5344CB8AC3E}">
        <p14:creationId xmlns:p14="http://schemas.microsoft.com/office/powerpoint/2010/main" val="236635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61C59-CD5F-5909-E309-570276E917DB}"/>
              </a:ext>
            </a:extLst>
          </p:cNvPr>
          <p:cNvSpPr>
            <a:spLocks noGrp="1"/>
          </p:cNvSpPr>
          <p:nvPr>
            <p:ph type="title"/>
          </p:nvPr>
        </p:nvSpPr>
        <p:spPr/>
        <p:txBody>
          <a:bodyPr/>
          <a:lstStyle/>
          <a:p>
            <a:r>
              <a:rPr lang="en-US" dirty="0" err="1"/>
              <a:t>Imties</a:t>
            </a:r>
            <a:r>
              <a:rPr lang="en-US" dirty="0"/>
              <a:t> </a:t>
            </a:r>
            <a:r>
              <a:rPr lang="en-US" dirty="0" err="1"/>
              <a:t>normalumo</a:t>
            </a:r>
            <a:r>
              <a:rPr lang="en-US" dirty="0"/>
              <a:t> </a:t>
            </a:r>
            <a:r>
              <a:rPr lang="en-US" dirty="0" err="1"/>
              <a:t>testai</a:t>
            </a:r>
            <a:endParaRPr lang="en-US" dirty="0"/>
          </a:p>
        </p:txBody>
      </p:sp>
      <p:graphicFrame>
        <p:nvGraphicFramePr>
          <p:cNvPr id="4" name="Content Placeholder 3">
            <a:extLst>
              <a:ext uri="{FF2B5EF4-FFF2-40B4-BE49-F238E27FC236}">
                <a16:creationId xmlns:a16="http://schemas.microsoft.com/office/drawing/2014/main" id="{0CA1C01D-9548-D35A-8935-4E43DA6A2A8A}"/>
              </a:ext>
            </a:extLst>
          </p:cNvPr>
          <p:cNvGraphicFramePr>
            <a:graphicFrameLocks noGrp="1"/>
          </p:cNvGraphicFramePr>
          <p:nvPr>
            <p:ph idx="1"/>
            <p:extLst>
              <p:ext uri="{D42A27DB-BD31-4B8C-83A1-F6EECF244321}">
                <p14:modId xmlns:p14="http://schemas.microsoft.com/office/powerpoint/2010/main" val="2453497746"/>
              </p:ext>
            </p:extLst>
          </p:nvPr>
        </p:nvGraphicFramePr>
        <p:xfrm>
          <a:off x="525607" y="1990367"/>
          <a:ext cx="7180446" cy="3445843"/>
        </p:xfrm>
        <a:graphic>
          <a:graphicData uri="http://schemas.openxmlformats.org/drawingml/2006/table">
            <a:tbl>
              <a:tblPr>
                <a:tableStyleId>{5940675A-B579-460E-94D1-54222C63F5DA}</a:tableStyleId>
              </a:tblPr>
              <a:tblGrid>
                <a:gridCol w="2393482">
                  <a:extLst>
                    <a:ext uri="{9D8B030D-6E8A-4147-A177-3AD203B41FA5}">
                      <a16:colId xmlns:a16="http://schemas.microsoft.com/office/drawing/2014/main" val="3606423257"/>
                    </a:ext>
                  </a:extLst>
                </a:gridCol>
                <a:gridCol w="2393482">
                  <a:extLst>
                    <a:ext uri="{9D8B030D-6E8A-4147-A177-3AD203B41FA5}">
                      <a16:colId xmlns:a16="http://schemas.microsoft.com/office/drawing/2014/main" val="2160258260"/>
                    </a:ext>
                  </a:extLst>
                </a:gridCol>
                <a:gridCol w="2393482">
                  <a:extLst>
                    <a:ext uri="{9D8B030D-6E8A-4147-A177-3AD203B41FA5}">
                      <a16:colId xmlns:a16="http://schemas.microsoft.com/office/drawing/2014/main" val="3871769694"/>
                    </a:ext>
                  </a:extLst>
                </a:gridCol>
              </a:tblGrid>
              <a:tr h="689169">
                <a:tc>
                  <a:txBody>
                    <a:bodyPr/>
                    <a:lstStyle/>
                    <a:p>
                      <a:pPr algn="ctr" fontAlgn="ctr"/>
                      <a:r>
                        <a:rPr lang="en-US" sz="1600" u="none" strike="noStrike" dirty="0" err="1">
                          <a:effectLst/>
                        </a:rPr>
                        <a:t>Testas</a:t>
                      </a:r>
                      <a:endParaRPr lang="en-US" sz="16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Geriausiai tinka</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Interpretacija</a:t>
                      </a:r>
                      <a:endParaRPr lang="en-US" sz="1600" b="1"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30588892"/>
                  </a:ext>
                </a:extLst>
              </a:tr>
              <a:tr h="344584">
                <a:tc rowSpan="2">
                  <a:txBody>
                    <a:bodyPr/>
                    <a:lstStyle/>
                    <a:p>
                      <a:pPr algn="l" fontAlgn="ctr"/>
                      <a:r>
                        <a:rPr lang="en-US" sz="1600" u="none" strike="noStrike" dirty="0">
                          <a:effectLst/>
                        </a:rPr>
                        <a:t>Shapiro-Wilk</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l" fontAlgn="ctr"/>
                      <a:r>
                        <a:rPr lang="en-US" sz="1600" u="none" strike="noStrike" dirty="0" err="1">
                          <a:effectLst/>
                        </a:rPr>
                        <a:t>Mažoms</a:t>
                      </a:r>
                      <a:r>
                        <a:rPr lang="en-US" sz="1600" u="none" strike="noStrike" dirty="0">
                          <a:effectLst/>
                        </a:rPr>
                        <a:t> </a:t>
                      </a:r>
                      <a:r>
                        <a:rPr lang="en-US" sz="1600" u="none" strike="noStrike" dirty="0" err="1">
                          <a:effectLst/>
                        </a:rPr>
                        <a:t>imtims</a:t>
                      </a:r>
                      <a:endParaRPr lang="en-US"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600" u="none" strike="noStrike" dirty="0">
                          <a:effectLst/>
                        </a:rPr>
                        <a:t>p &gt; 0.05 → </a:t>
                      </a:r>
                      <a:r>
                        <a:rPr lang="en-US" sz="1600" u="none" strike="noStrike" dirty="0" err="1">
                          <a:effectLst/>
                        </a:rPr>
                        <a:t>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50675009"/>
                  </a:ext>
                </a:extLst>
              </a:tr>
              <a:tr h="344584">
                <a:tc vMerge="1">
                  <a:txBody>
                    <a:bodyPr/>
                    <a:lstStyle/>
                    <a:p>
                      <a:endParaRPr lang="en-US"/>
                    </a:p>
                  </a:txBody>
                  <a:tcPr/>
                </a:tc>
                <a:tc vMerge="1">
                  <a:txBody>
                    <a:bodyPr/>
                    <a:lstStyle/>
                    <a:p>
                      <a:endParaRPr lang="en-US"/>
                    </a:p>
                  </a:txBody>
                  <a:tcPr/>
                </a:tc>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19820537"/>
                  </a:ext>
                </a:extLst>
              </a:tr>
              <a:tr h="344584">
                <a:tc rowSpan="2">
                  <a:txBody>
                    <a:bodyPr/>
                    <a:lstStyle/>
                    <a:p>
                      <a:pPr algn="l" fontAlgn="ctr"/>
                      <a:r>
                        <a:rPr lang="en-US" sz="1600" u="none" strike="noStrike" dirty="0">
                          <a:effectLst/>
                        </a:rPr>
                        <a:t>D’Agostino-Pearson</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l" fontAlgn="ctr"/>
                      <a:r>
                        <a:rPr lang="lt-LT" sz="1600" u="none" strike="noStrike" dirty="0">
                          <a:effectLst/>
                        </a:rPr>
                        <a:t>Didelėms imtims</a:t>
                      </a:r>
                      <a:endParaRPr lang="lt-LT"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600" u="none" strike="noStrike">
                          <a:effectLst/>
                        </a:rPr>
                        <a:t>p &gt; 0.05 → Normalu</a:t>
                      </a:r>
                      <a:endParaRPr lang="en-US"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155650181"/>
                  </a:ext>
                </a:extLst>
              </a:tr>
              <a:tr h="344584">
                <a:tc vMerge="1">
                  <a:txBody>
                    <a:bodyPr/>
                    <a:lstStyle/>
                    <a:p>
                      <a:endParaRPr lang="en-US"/>
                    </a:p>
                  </a:txBody>
                  <a:tcPr/>
                </a:tc>
                <a:tc vMerge="1">
                  <a:txBody>
                    <a:bodyPr/>
                    <a:lstStyle/>
                    <a:p>
                      <a:endParaRPr lang="en-US"/>
                    </a:p>
                  </a:txBody>
                  <a:tcPr/>
                </a:tc>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747739038"/>
                  </a:ext>
                </a:extLst>
              </a:tr>
              <a:tr h="689169">
                <a:tc rowSpan="2">
                  <a:txBody>
                    <a:bodyPr/>
                    <a:lstStyle/>
                    <a:p>
                      <a:pPr algn="ctr" fontAlgn="ctr"/>
                      <a:r>
                        <a:rPr lang="en-US" sz="1600" u="none" strike="noStrike" dirty="0">
                          <a:effectLst/>
                        </a:rPr>
                        <a:t>Anderson-Darling</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ctr" fontAlgn="ctr"/>
                      <a:r>
                        <a:rPr lang="en-US" sz="1600" u="none" strike="noStrike" dirty="0">
                          <a:effectLst/>
                        </a:rPr>
                        <a:t>Bet </a:t>
                      </a:r>
                      <a:r>
                        <a:rPr lang="en-US" sz="1600" u="none" strike="noStrike" dirty="0" err="1">
                          <a:effectLst/>
                        </a:rPr>
                        <a:t>kokiam</a:t>
                      </a:r>
                      <a:r>
                        <a:rPr lang="en-US" sz="1600" u="none" strike="noStrike" dirty="0">
                          <a:effectLst/>
                        </a:rPr>
                        <a:t> </a:t>
                      </a:r>
                      <a:r>
                        <a:rPr lang="en-US" sz="1600" u="none" strike="noStrike" dirty="0" err="1">
                          <a:effectLst/>
                        </a:rPr>
                        <a:t>imtes</a:t>
                      </a:r>
                      <a:r>
                        <a:rPr lang="en-US" sz="1600" u="none" strike="noStrike" dirty="0">
                          <a:effectLst/>
                        </a:rPr>
                        <a:t> </a:t>
                      </a:r>
                      <a:r>
                        <a:rPr lang="en-US" sz="1600" u="none" strike="noStrike" dirty="0" err="1">
                          <a:effectLst/>
                        </a:rPr>
                        <a:t>dydžiui</a:t>
                      </a:r>
                      <a:endParaRPr lang="en-US"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lt-LT" sz="1600" u="none" strike="noStrike">
                          <a:effectLst/>
                        </a:rPr>
                        <a:t>Test statistic &gt; kritinė reikšmė - nenormalu</a:t>
                      </a:r>
                      <a:endParaRPr lang="lt-LT"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67435632"/>
                  </a:ext>
                </a:extLst>
              </a:tr>
              <a:tr h="689169">
                <a:tc vMerge="1">
                  <a:txBody>
                    <a:bodyPr/>
                    <a:lstStyle/>
                    <a:p>
                      <a:endParaRPr lang="en-US"/>
                    </a:p>
                  </a:txBody>
                  <a:tcPr/>
                </a:tc>
                <a:tc vMerge="1">
                  <a:txBody>
                    <a:bodyPr/>
                    <a:lstStyle/>
                    <a:p>
                      <a:endParaRPr lang="en-US"/>
                    </a:p>
                  </a:txBody>
                  <a:tcPr/>
                </a:tc>
                <a:tc>
                  <a:txBody>
                    <a:bodyPr/>
                    <a:lstStyle/>
                    <a:p>
                      <a:pPr algn="l" fontAlgn="ctr"/>
                      <a:r>
                        <a:rPr lang="lt-LT" sz="1600" u="none" strike="noStrike" dirty="0">
                          <a:effectLst/>
                        </a:rPr>
                        <a:t>Test statistic &lt; kritinė reikšmė - normalu</a:t>
                      </a:r>
                      <a:endParaRPr lang="lt-LT"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247209982"/>
                  </a:ext>
                </a:extLst>
              </a:tr>
            </a:tbl>
          </a:graphicData>
        </a:graphic>
      </p:graphicFrame>
      <p:sp>
        <p:nvSpPr>
          <p:cNvPr id="5" name="TextBox 4">
            <a:extLst>
              <a:ext uri="{FF2B5EF4-FFF2-40B4-BE49-F238E27FC236}">
                <a16:creationId xmlns:a16="http://schemas.microsoft.com/office/drawing/2014/main" id="{33442CA6-40D5-1671-8A12-BA7B80FB81DC}"/>
              </a:ext>
            </a:extLst>
          </p:cNvPr>
          <p:cNvSpPr txBox="1"/>
          <p:nvPr/>
        </p:nvSpPr>
        <p:spPr>
          <a:xfrm>
            <a:off x="8001001" y="598714"/>
            <a:ext cx="3799114" cy="5632311"/>
          </a:xfrm>
          <a:prstGeom prst="rect">
            <a:avLst/>
          </a:prstGeom>
          <a:noFill/>
        </p:spPr>
        <p:txBody>
          <a:bodyPr wrap="square">
            <a:spAutoFit/>
          </a:bodyPr>
          <a:lstStyle/>
          <a:p>
            <a:pPr>
              <a:buNone/>
            </a:pPr>
            <a:r>
              <a:rPr lang="lt-LT" dirty="0"/>
              <a:t>Imties normalumo testai naudojami patikrinti, ar duomenys yra pakankamai artimi normaliajam pasiskirstymui.</a:t>
            </a:r>
          </a:p>
          <a:p>
            <a:pPr>
              <a:buNone/>
            </a:pPr>
            <a:r>
              <a:rPr lang="lt-LT" dirty="0"/>
              <a:t>Šie testai padeda nuspręsti, ar galima taikyti statistinius metodus, kurie remiasi normalumo prielaida, pavyzdžiui, t testus ar regresiją.</a:t>
            </a:r>
            <a:endParaRPr lang="en-US" dirty="0"/>
          </a:p>
          <a:p>
            <a:pPr>
              <a:buNone/>
            </a:pPr>
            <a:endParaRPr lang="lt-LT" dirty="0"/>
          </a:p>
          <a:p>
            <a:pPr>
              <a:buNone/>
            </a:pPr>
            <a:r>
              <a:rPr lang="lt-LT" dirty="0"/>
              <a:t>Dažniausiai normalumas tikrinamas tam, kad būtų įvertintas ne patys duomenys, o imties vidurkio ar liekanų elgesys modelyje.</a:t>
            </a:r>
            <a:endParaRPr lang="en-US" dirty="0"/>
          </a:p>
          <a:p>
            <a:pPr>
              <a:buNone/>
            </a:pPr>
            <a:endParaRPr lang="lt-LT" dirty="0"/>
          </a:p>
          <a:p>
            <a:pPr>
              <a:buNone/>
            </a:pPr>
            <a:r>
              <a:rPr lang="lt-LT" dirty="0"/>
              <a:t>Duomenų analizėje normalumo testai yra pagalbinė priemonė, kuri turi būti vertinama kartu su vizualizacijomis ir kontekstu, o ne naudojama mechaniškai kaip vienintelis sprendimo kriterijus.</a:t>
            </a:r>
          </a:p>
        </p:txBody>
      </p:sp>
    </p:spTree>
    <p:extLst>
      <p:ext uri="{BB962C8B-B14F-4D97-AF65-F5344CB8AC3E}">
        <p14:creationId xmlns:p14="http://schemas.microsoft.com/office/powerpoint/2010/main" val="3891629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ED19267-3A19-FB04-D0D0-E94C6EFFCEDF}"/>
              </a:ext>
            </a:extLst>
          </p:cNvPr>
          <p:cNvSpPr>
            <a:spLocks noGrp="1"/>
          </p:cNvSpPr>
          <p:nvPr>
            <p:ph type="title"/>
          </p:nvPr>
        </p:nvSpPr>
        <p:spPr/>
        <p:txBody>
          <a:bodyPr/>
          <a:lstStyle/>
          <a:p>
            <a:r>
              <a:rPr lang="en-US" dirty="0"/>
              <a:t>p value</a:t>
            </a:r>
            <a:endParaRPr lang="lt-LT" dirty="0"/>
          </a:p>
        </p:txBody>
      </p:sp>
      <p:sp>
        <p:nvSpPr>
          <p:cNvPr id="5" name="TextBox 4">
            <a:extLst>
              <a:ext uri="{FF2B5EF4-FFF2-40B4-BE49-F238E27FC236}">
                <a16:creationId xmlns:a16="http://schemas.microsoft.com/office/drawing/2014/main" id="{FD1BBA2B-987C-CEDA-861D-342F2893D5DC}"/>
              </a:ext>
            </a:extLst>
          </p:cNvPr>
          <p:cNvSpPr txBox="1"/>
          <p:nvPr/>
        </p:nvSpPr>
        <p:spPr>
          <a:xfrm>
            <a:off x="838200" y="1555715"/>
            <a:ext cx="7489372" cy="4247317"/>
          </a:xfrm>
          <a:prstGeom prst="rect">
            <a:avLst/>
          </a:prstGeom>
          <a:noFill/>
        </p:spPr>
        <p:txBody>
          <a:bodyPr wrap="square">
            <a:spAutoFit/>
          </a:bodyPr>
          <a:lstStyle/>
          <a:p>
            <a:pPr>
              <a:buNone/>
            </a:pPr>
            <a:r>
              <a:rPr lang="lt-LT" dirty="0"/>
              <a:t>p reikšmė (p-</a:t>
            </a:r>
            <a:r>
              <a:rPr lang="lt-LT" dirty="0" err="1"/>
              <a:t>value</a:t>
            </a:r>
            <a:r>
              <a:rPr lang="lt-LT" dirty="0"/>
              <a:t>) parodo, </a:t>
            </a:r>
            <a:r>
              <a:rPr lang="lt-LT" b="1" dirty="0"/>
              <a:t>kiek tikėtina gauti stebėtus duomenis, jei nulio hipotezė būtų teisinga</a:t>
            </a:r>
            <a:r>
              <a:rPr lang="lt-LT" dirty="0"/>
              <a:t>.</a:t>
            </a:r>
          </a:p>
          <a:p>
            <a:pPr>
              <a:buNone/>
            </a:pPr>
            <a:r>
              <a:rPr lang="lt-LT" dirty="0"/>
              <a:t>Maža p reikšmė reiškia, kad stebėti duomenys būtų labai mažai tikėtini vien dėl atsitiktinumo. Tokiu atveju daroma išvada, kad rezultatas yra statistiškai reikšmingas.</a:t>
            </a:r>
            <a:endParaRPr lang="en-US" dirty="0"/>
          </a:p>
          <a:p>
            <a:pPr>
              <a:buNone/>
            </a:pPr>
            <a:endParaRPr lang="lt-LT" dirty="0"/>
          </a:p>
          <a:p>
            <a:pPr>
              <a:buNone/>
            </a:pPr>
            <a:r>
              <a:rPr lang="lt-LT" dirty="0"/>
              <a:t>Didelė p reikšmė reiškia, kad stebėti duomenys gali būti lengvai paaiškinami atsitiktinumu, todėl nėra pagrindo atmesti nulio hipotezės.</a:t>
            </a:r>
            <a:endParaRPr lang="en-US" dirty="0"/>
          </a:p>
          <a:p>
            <a:pPr>
              <a:buNone/>
            </a:pPr>
            <a:endParaRPr lang="lt-LT" dirty="0"/>
          </a:p>
          <a:p>
            <a:pPr>
              <a:buNone/>
            </a:pPr>
            <a:r>
              <a:rPr lang="lt-LT" dirty="0"/>
              <a:t>Svarbu suprasti, kad p reikšmė </a:t>
            </a:r>
            <a:r>
              <a:rPr lang="lt-LT" b="1" dirty="0"/>
              <a:t>neparodo efekto dydžio ir neįrodo tiesos</a:t>
            </a:r>
            <a:r>
              <a:rPr lang="lt-LT" dirty="0"/>
              <a:t>, ji tik padeda priimti sprendimą, ar stebimas skirtumas ar ryšys yra pakankamai stiprus statistiniu požiūriu.</a:t>
            </a:r>
            <a:endParaRPr lang="en-US" dirty="0"/>
          </a:p>
          <a:p>
            <a:pPr>
              <a:buNone/>
            </a:pPr>
            <a:endParaRPr lang="lt-LT" dirty="0"/>
          </a:p>
          <a:p>
            <a:pPr>
              <a:buNone/>
            </a:pPr>
            <a:r>
              <a:rPr lang="lt-LT" dirty="0"/>
              <a:t>Duomenų analizėje p reikšmė visada turi būti interpretuojama kartu su kontekstu, duomenų dydžiu ir vizualizacijomis, o ne vertinama izoliuotai.</a:t>
            </a:r>
          </a:p>
        </p:txBody>
      </p:sp>
      <p:graphicFrame>
        <p:nvGraphicFramePr>
          <p:cNvPr id="6" name="Lentelė 5">
            <a:extLst>
              <a:ext uri="{FF2B5EF4-FFF2-40B4-BE49-F238E27FC236}">
                <a16:creationId xmlns:a16="http://schemas.microsoft.com/office/drawing/2014/main" id="{BA79FE09-A83A-EE36-A295-63207A4ABA43}"/>
              </a:ext>
            </a:extLst>
          </p:cNvPr>
          <p:cNvGraphicFramePr>
            <a:graphicFrameLocks noGrp="1"/>
          </p:cNvGraphicFramePr>
          <p:nvPr>
            <p:extLst>
              <p:ext uri="{D42A27DB-BD31-4B8C-83A1-F6EECF244321}">
                <p14:modId xmlns:p14="http://schemas.microsoft.com/office/powerpoint/2010/main" val="1006577790"/>
              </p:ext>
            </p:extLst>
          </p:nvPr>
        </p:nvGraphicFramePr>
        <p:xfrm>
          <a:off x="8784771" y="1690688"/>
          <a:ext cx="2393482" cy="2067505"/>
        </p:xfrm>
        <a:graphic>
          <a:graphicData uri="http://schemas.openxmlformats.org/drawingml/2006/table">
            <a:tbl>
              <a:tblPr>
                <a:tableStyleId>{5940675A-B579-460E-94D1-54222C63F5DA}</a:tableStyleId>
              </a:tblPr>
              <a:tblGrid>
                <a:gridCol w="2393482">
                  <a:extLst>
                    <a:ext uri="{9D8B030D-6E8A-4147-A177-3AD203B41FA5}">
                      <a16:colId xmlns:a16="http://schemas.microsoft.com/office/drawing/2014/main" val="397765010"/>
                    </a:ext>
                  </a:extLst>
                </a:gridCol>
              </a:tblGrid>
              <a:tr h="689169">
                <a:tc>
                  <a:txBody>
                    <a:bodyPr/>
                    <a:lstStyle/>
                    <a:p>
                      <a:pPr algn="ctr" fontAlgn="ctr"/>
                      <a:r>
                        <a:rPr lang="en-US" sz="1600" u="none" strike="noStrike" dirty="0" err="1">
                          <a:effectLst/>
                        </a:rPr>
                        <a:t>Interpretacija</a:t>
                      </a:r>
                      <a:endParaRPr lang="en-US" sz="16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9492868"/>
                  </a:ext>
                </a:extLst>
              </a:tr>
              <a:tr h="344584">
                <a:tc>
                  <a:txBody>
                    <a:bodyPr/>
                    <a:lstStyle/>
                    <a:p>
                      <a:pPr algn="l" fontAlgn="ctr"/>
                      <a:r>
                        <a:rPr lang="en-US" sz="1600" u="none" strike="noStrike">
                          <a:effectLst/>
                        </a:rPr>
                        <a:t>p &gt; 0.05 → Normalu</a:t>
                      </a:r>
                      <a:endParaRPr lang="en-US"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01015473"/>
                  </a:ext>
                </a:extLst>
              </a:tr>
              <a:tr h="344584">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675560475"/>
                  </a:ext>
                </a:extLst>
              </a:tr>
              <a:tr h="344584">
                <a:tc>
                  <a:txBody>
                    <a:bodyPr/>
                    <a:lstStyle/>
                    <a:p>
                      <a:pPr algn="l" fontAlgn="ctr"/>
                      <a:r>
                        <a:rPr lang="en-US" sz="1600" u="none" strike="noStrike" dirty="0">
                          <a:effectLst/>
                        </a:rPr>
                        <a:t>p &gt; 0.05 → </a:t>
                      </a:r>
                      <a:r>
                        <a:rPr lang="en-US" sz="1600" u="none" strike="noStrike" dirty="0" err="1">
                          <a:effectLst/>
                        </a:rPr>
                        <a:t>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05491869"/>
                  </a:ext>
                </a:extLst>
              </a:tr>
              <a:tr h="344584">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934979223"/>
                  </a:ext>
                </a:extLst>
              </a:tr>
            </a:tbl>
          </a:graphicData>
        </a:graphic>
      </p:graphicFrame>
    </p:spTree>
    <p:extLst>
      <p:ext uri="{BB962C8B-B14F-4D97-AF65-F5344CB8AC3E}">
        <p14:creationId xmlns:p14="http://schemas.microsoft.com/office/powerpoint/2010/main" val="2422624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8B7FB3F0-C5A5-C166-1ED7-188288C115CB}"/>
              </a:ext>
            </a:extLst>
          </p:cNvPr>
          <p:cNvSpPr>
            <a:spLocks noGrp="1"/>
          </p:cNvSpPr>
          <p:nvPr>
            <p:ph type="title"/>
          </p:nvPr>
        </p:nvSpPr>
        <p:spPr/>
        <p:txBody>
          <a:bodyPr/>
          <a:lstStyle/>
          <a:p>
            <a:r>
              <a:rPr lang="lt-LT" dirty="0" err="1"/>
              <a:t>Shapiro</a:t>
            </a:r>
            <a:r>
              <a:rPr lang="lt-LT" dirty="0"/>
              <a:t>–</a:t>
            </a:r>
            <a:r>
              <a:rPr lang="lt-LT" dirty="0" err="1"/>
              <a:t>Wilk</a:t>
            </a:r>
            <a:r>
              <a:rPr lang="en-US" dirty="0"/>
              <a:t> </a:t>
            </a:r>
            <a:r>
              <a:rPr lang="en-US" dirty="0" err="1"/>
              <a:t>testas</a:t>
            </a:r>
            <a:endParaRPr lang="lt-LT" dirty="0"/>
          </a:p>
        </p:txBody>
      </p:sp>
      <p:sp>
        <p:nvSpPr>
          <p:cNvPr id="5" name="TextBox 4">
            <a:extLst>
              <a:ext uri="{FF2B5EF4-FFF2-40B4-BE49-F238E27FC236}">
                <a16:creationId xmlns:a16="http://schemas.microsoft.com/office/drawing/2014/main" id="{51394EED-A03D-3AC6-F9E3-958B670D3BEE}"/>
              </a:ext>
            </a:extLst>
          </p:cNvPr>
          <p:cNvSpPr txBox="1"/>
          <p:nvPr/>
        </p:nvSpPr>
        <p:spPr>
          <a:xfrm>
            <a:off x="544285" y="1887141"/>
            <a:ext cx="8926285" cy="2308324"/>
          </a:xfrm>
          <a:prstGeom prst="rect">
            <a:avLst/>
          </a:prstGeom>
          <a:noFill/>
        </p:spPr>
        <p:txBody>
          <a:bodyPr wrap="square">
            <a:spAutoFit/>
          </a:bodyPr>
          <a:lstStyle/>
          <a:p>
            <a:pPr>
              <a:buNone/>
            </a:pPr>
            <a:r>
              <a:rPr lang="lt-LT" dirty="0" err="1"/>
              <a:t>Shapiro</a:t>
            </a:r>
            <a:r>
              <a:rPr lang="lt-LT" dirty="0"/>
              <a:t>–</a:t>
            </a:r>
            <a:r>
              <a:rPr lang="lt-LT" dirty="0" err="1"/>
              <a:t>Wilk</a:t>
            </a:r>
            <a:r>
              <a:rPr lang="lt-LT" dirty="0"/>
              <a:t> testas yra statistinis testas, naudojamas patikrinti, ar imties duomenys yra suderinami su normaliojo skirstinio prielaida.</a:t>
            </a:r>
          </a:p>
          <a:p>
            <a:pPr>
              <a:buNone/>
            </a:pPr>
            <a:r>
              <a:rPr lang="lt-LT" dirty="0"/>
              <a:t>Testo nulio hipotezė teigia, kad duomenys yra normaliai pasiskirstę. Jei gauta p reikšmė yra mažesnė už pasirinktą reikšmingumo lygį, nulio hipotezė atmetama ir daroma išvada, kad duomenys reikšmingai nukrypsta nuo normalumo.</a:t>
            </a:r>
          </a:p>
          <a:p>
            <a:pPr>
              <a:buNone/>
            </a:pPr>
            <a:r>
              <a:rPr lang="lt-LT" dirty="0"/>
              <a:t>Duomenų analizėje </a:t>
            </a:r>
            <a:r>
              <a:rPr lang="lt-LT" dirty="0" err="1"/>
              <a:t>Shapiro</a:t>
            </a:r>
            <a:r>
              <a:rPr lang="lt-LT" dirty="0"/>
              <a:t>–</a:t>
            </a:r>
            <a:r>
              <a:rPr lang="lt-LT" dirty="0" err="1"/>
              <a:t>Wilk</a:t>
            </a:r>
            <a:r>
              <a:rPr lang="lt-LT" dirty="0"/>
              <a:t> testas dažniausiai taikomas mažoms ir vidutinėms imtims. Rezultatai turi būti interpretuojami kartu su vizualinėmis priemonėmis, tokiomis kaip histogramos ar Q–Q grafikai, ir atsižvelgiant į analizės tikslą.</a:t>
            </a:r>
          </a:p>
        </p:txBody>
      </p:sp>
      <p:graphicFrame>
        <p:nvGraphicFramePr>
          <p:cNvPr id="6" name="Lentelė 5">
            <a:extLst>
              <a:ext uri="{FF2B5EF4-FFF2-40B4-BE49-F238E27FC236}">
                <a16:creationId xmlns:a16="http://schemas.microsoft.com/office/drawing/2014/main" id="{74888051-20B0-F9F4-A696-7B1475E878DE}"/>
              </a:ext>
            </a:extLst>
          </p:cNvPr>
          <p:cNvGraphicFramePr>
            <a:graphicFrameLocks noGrp="1"/>
          </p:cNvGraphicFramePr>
          <p:nvPr>
            <p:extLst>
              <p:ext uri="{D42A27DB-BD31-4B8C-83A1-F6EECF244321}">
                <p14:modId xmlns:p14="http://schemas.microsoft.com/office/powerpoint/2010/main" val="2808533154"/>
              </p:ext>
            </p:extLst>
          </p:nvPr>
        </p:nvGraphicFramePr>
        <p:xfrm>
          <a:off x="1752600" y="4634140"/>
          <a:ext cx="7180446" cy="1378337"/>
        </p:xfrm>
        <a:graphic>
          <a:graphicData uri="http://schemas.openxmlformats.org/drawingml/2006/table">
            <a:tbl>
              <a:tblPr>
                <a:tableStyleId>{5940675A-B579-460E-94D1-54222C63F5DA}</a:tableStyleId>
              </a:tblPr>
              <a:tblGrid>
                <a:gridCol w="2393482">
                  <a:extLst>
                    <a:ext uri="{9D8B030D-6E8A-4147-A177-3AD203B41FA5}">
                      <a16:colId xmlns:a16="http://schemas.microsoft.com/office/drawing/2014/main" val="1900387900"/>
                    </a:ext>
                  </a:extLst>
                </a:gridCol>
                <a:gridCol w="2393482">
                  <a:extLst>
                    <a:ext uri="{9D8B030D-6E8A-4147-A177-3AD203B41FA5}">
                      <a16:colId xmlns:a16="http://schemas.microsoft.com/office/drawing/2014/main" val="4171199663"/>
                    </a:ext>
                  </a:extLst>
                </a:gridCol>
                <a:gridCol w="2393482">
                  <a:extLst>
                    <a:ext uri="{9D8B030D-6E8A-4147-A177-3AD203B41FA5}">
                      <a16:colId xmlns:a16="http://schemas.microsoft.com/office/drawing/2014/main" val="282413386"/>
                    </a:ext>
                  </a:extLst>
                </a:gridCol>
              </a:tblGrid>
              <a:tr h="689169">
                <a:tc>
                  <a:txBody>
                    <a:bodyPr/>
                    <a:lstStyle/>
                    <a:p>
                      <a:pPr algn="ctr" fontAlgn="ctr"/>
                      <a:r>
                        <a:rPr lang="en-US" sz="1600" u="none" strike="noStrike" dirty="0" err="1">
                          <a:effectLst/>
                        </a:rPr>
                        <a:t>Testas</a:t>
                      </a:r>
                      <a:endParaRPr lang="en-US" sz="16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Geriausiai tinka</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Interpretacija</a:t>
                      </a:r>
                      <a:endParaRPr lang="en-US" sz="1600" b="1"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017820001"/>
                  </a:ext>
                </a:extLst>
              </a:tr>
              <a:tr h="344584">
                <a:tc rowSpan="2">
                  <a:txBody>
                    <a:bodyPr/>
                    <a:lstStyle/>
                    <a:p>
                      <a:pPr algn="l" fontAlgn="ctr"/>
                      <a:r>
                        <a:rPr lang="en-US" sz="1600" u="none" strike="noStrike" dirty="0">
                          <a:effectLst/>
                        </a:rPr>
                        <a:t>Shapiro-Wilk</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l" fontAlgn="ctr"/>
                      <a:r>
                        <a:rPr lang="en-US" sz="1600" u="none" strike="noStrike" dirty="0" err="1">
                          <a:effectLst/>
                        </a:rPr>
                        <a:t>Mažoms</a:t>
                      </a:r>
                      <a:r>
                        <a:rPr lang="en-US" sz="1600" u="none" strike="noStrike" dirty="0">
                          <a:effectLst/>
                        </a:rPr>
                        <a:t> </a:t>
                      </a:r>
                      <a:r>
                        <a:rPr lang="en-US" sz="1600" u="none" strike="noStrike" dirty="0" err="1">
                          <a:effectLst/>
                        </a:rPr>
                        <a:t>imtims</a:t>
                      </a:r>
                      <a:endParaRPr lang="en-US"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600" u="none" strike="noStrike">
                          <a:effectLst/>
                        </a:rPr>
                        <a:t>p &gt; 0.05 → Normalu</a:t>
                      </a:r>
                      <a:endParaRPr lang="en-US"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67312067"/>
                  </a:ext>
                </a:extLst>
              </a:tr>
              <a:tr h="344584">
                <a:tc vMerge="1">
                  <a:txBody>
                    <a:bodyPr/>
                    <a:lstStyle/>
                    <a:p>
                      <a:endParaRPr lang="en-US"/>
                    </a:p>
                  </a:txBody>
                  <a:tcPr/>
                </a:tc>
                <a:tc vMerge="1">
                  <a:txBody>
                    <a:bodyPr/>
                    <a:lstStyle/>
                    <a:p>
                      <a:endParaRPr lang="en-US"/>
                    </a:p>
                  </a:txBody>
                  <a:tcPr/>
                </a:tc>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052456891"/>
                  </a:ext>
                </a:extLst>
              </a:tr>
            </a:tbl>
          </a:graphicData>
        </a:graphic>
      </p:graphicFrame>
    </p:spTree>
    <p:extLst>
      <p:ext uri="{BB962C8B-B14F-4D97-AF65-F5344CB8AC3E}">
        <p14:creationId xmlns:p14="http://schemas.microsoft.com/office/powerpoint/2010/main" val="4077744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4A19-EAA4-53DA-77F1-F8CD31D8541C}"/>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82321358-4546-8E8D-ED15-F921473B1C0A}"/>
              </a:ext>
            </a:extLst>
          </p:cNvPr>
          <p:cNvSpPr>
            <a:spLocks noGrp="1"/>
          </p:cNvSpPr>
          <p:nvPr>
            <p:ph type="title"/>
          </p:nvPr>
        </p:nvSpPr>
        <p:spPr/>
        <p:txBody>
          <a:bodyPr/>
          <a:lstStyle/>
          <a:p>
            <a:r>
              <a:rPr lang="en-US" dirty="0"/>
              <a:t>D’Agostino-Pearson </a:t>
            </a:r>
            <a:r>
              <a:rPr lang="en-US" dirty="0" err="1"/>
              <a:t>testas</a:t>
            </a:r>
            <a:endParaRPr lang="lt-LT" dirty="0"/>
          </a:p>
        </p:txBody>
      </p:sp>
      <p:sp>
        <p:nvSpPr>
          <p:cNvPr id="5" name="TextBox 4">
            <a:extLst>
              <a:ext uri="{FF2B5EF4-FFF2-40B4-BE49-F238E27FC236}">
                <a16:creationId xmlns:a16="http://schemas.microsoft.com/office/drawing/2014/main" id="{4C3D163D-4762-A97D-CBEE-F3C8281FD9BF}"/>
              </a:ext>
            </a:extLst>
          </p:cNvPr>
          <p:cNvSpPr txBox="1"/>
          <p:nvPr/>
        </p:nvSpPr>
        <p:spPr>
          <a:xfrm>
            <a:off x="489856" y="1517026"/>
            <a:ext cx="8926285" cy="2585323"/>
          </a:xfrm>
          <a:prstGeom prst="rect">
            <a:avLst/>
          </a:prstGeom>
          <a:noFill/>
        </p:spPr>
        <p:txBody>
          <a:bodyPr wrap="square">
            <a:spAutoFit/>
          </a:bodyPr>
          <a:lstStyle/>
          <a:p>
            <a:r>
              <a:rPr lang="lt-LT" dirty="0" err="1"/>
              <a:t>D’Agostino</a:t>
            </a:r>
            <a:r>
              <a:rPr lang="lt-LT" dirty="0"/>
              <a:t>–</a:t>
            </a:r>
            <a:r>
              <a:rPr lang="lt-LT" dirty="0" err="1"/>
              <a:t>Pearson</a:t>
            </a:r>
            <a:r>
              <a:rPr lang="lt-LT" dirty="0"/>
              <a:t> testas yra statistinis normalumo testas, kuris vertina, ar imties duomenys reikšmingai nukrypsta nuo normaliojo skirstinio.</a:t>
            </a:r>
          </a:p>
          <a:p>
            <a:r>
              <a:rPr lang="lt-LT" dirty="0"/>
              <a:t>Testas remiasi dviem pasiskirstymo savybėmis – asimetrija ir smailumu. Jis tikrina, ar šios charakteristikos atitinka normaliojo skirstinio reikšmes.</a:t>
            </a:r>
          </a:p>
          <a:p>
            <a:r>
              <a:rPr lang="lt-LT" dirty="0"/>
              <a:t>Nulio hipotezė teigia, kad duomenys yra normaliai pasiskirstę. Jei p reikšmė yra mažesnė už pasirinktą reikšmingumo lygį, normalumo prielaida atmetama.</a:t>
            </a:r>
          </a:p>
          <a:p>
            <a:r>
              <a:rPr lang="lt-LT" dirty="0"/>
              <a:t>Duomenų analizėje </a:t>
            </a:r>
            <a:r>
              <a:rPr lang="lt-LT" dirty="0" err="1"/>
              <a:t>D’Agostino</a:t>
            </a:r>
            <a:r>
              <a:rPr lang="lt-LT" dirty="0"/>
              <a:t>–</a:t>
            </a:r>
            <a:r>
              <a:rPr lang="lt-LT" dirty="0" err="1"/>
              <a:t>Pearson</a:t>
            </a:r>
            <a:r>
              <a:rPr lang="lt-LT" dirty="0"/>
              <a:t> testas dažniau taikomas didesnėms imtims ir yra naudingas tada, kai duomenų pasiskirstymo forma gali nukrypti tiek dėl asimetrijos, tiek dėl uodegų savybių.</a:t>
            </a:r>
          </a:p>
        </p:txBody>
      </p:sp>
      <p:graphicFrame>
        <p:nvGraphicFramePr>
          <p:cNvPr id="3" name="Lentelė 2">
            <a:extLst>
              <a:ext uri="{FF2B5EF4-FFF2-40B4-BE49-F238E27FC236}">
                <a16:creationId xmlns:a16="http://schemas.microsoft.com/office/drawing/2014/main" id="{BBB38540-235E-5D9B-CA36-B14EDACDFF8D}"/>
              </a:ext>
            </a:extLst>
          </p:cNvPr>
          <p:cNvGraphicFramePr>
            <a:graphicFrameLocks noGrp="1"/>
          </p:cNvGraphicFramePr>
          <p:nvPr>
            <p:extLst>
              <p:ext uri="{D42A27DB-BD31-4B8C-83A1-F6EECF244321}">
                <p14:modId xmlns:p14="http://schemas.microsoft.com/office/powerpoint/2010/main" val="3229785064"/>
              </p:ext>
            </p:extLst>
          </p:nvPr>
        </p:nvGraphicFramePr>
        <p:xfrm>
          <a:off x="1153886" y="4391918"/>
          <a:ext cx="7180446" cy="1378337"/>
        </p:xfrm>
        <a:graphic>
          <a:graphicData uri="http://schemas.openxmlformats.org/drawingml/2006/table">
            <a:tbl>
              <a:tblPr>
                <a:tableStyleId>{5940675A-B579-460E-94D1-54222C63F5DA}</a:tableStyleId>
              </a:tblPr>
              <a:tblGrid>
                <a:gridCol w="2393482">
                  <a:extLst>
                    <a:ext uri="{9D8B030D-6E8A-4147-A177-3AD203B41FA5}">
                      <a16:colId xmlns:a16="http://schemas.microsoft.com/office/drawing/2014/main" val="1970910996"/>
                    </a:ext>
                  </a:extLst>
                </a:gridCol>
                <a:gridCol w="2393482">
                  <a:extLst>
                    <a:ext uri="{9D8B030D-6E8A-4147-A177-3AD203B41FA5}">
                      <a16:colId xmlns:a16="http://schemas.microsoft.com/office/drawing/2014/main" val="697995091"/>
                    </a:ext>
                  </a:extLst>
                </a:gridCol>
                <a:gridCol w="2393482">
                  <a:extLst>
                    <a:ext uri="{9D8B030D-6E8A-4147-A177-3AD203B41FA5}">
                      <a16:colId xmlns:a16="http://schemas.microsoft.com/office/drawing/2014/main" val="280508849"/>
                    </a:ext>
                  </a:extLst>
                </a:gridCol>
              </a:tblGrid>
              <a:tr h="689169">
                <a:tc>
                  <a:txBody>
                    <a:bodyPr/>
                    <a:lstStyle/>
                    <a:p>
                      <a:pPr algn="ctr" fontAlgn="ctr"/>
                      <a:r>
                        <a:rPr lang="en-US" sz="1600" u="none" strike="noStrike" dirty="0" err="1">
                          <a:effectLst/>
                        </a:rPr>
                        <a:t>Testas</a:t>
                      </a:r>
                      <a:endParaRPr lang="en-US" sz="16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Geriausiai tinka</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Interpretacija</a:t>
                      </a:r>
                      <a:endParaRPr lang="en-US" sz="1600" b="1"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9522921"/>
                  </a:ext>
                </a:extLst>
              </a:tr>
              <a:tr h="344584">
                <a:tc rowSpan="2">
                  <a:txBody>
                    <a:bodyPr/>
                    <a:lstStyle/>
                    <a:p>
                      <a:pPr algn="l" fontAlgn="ctr"/>
                      <a:r>
                        <a:rPr lang="en-US" sz="1600" u="none" strike="noStrike" dirty="0">
                          <a:effectLst/>
                        </a:rPr>
                        <a:t>D’Agostino-Pearson</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l" fontAlgn="ctr"/>
                      <a:r>
                        <a:rPr lang="lt-LT" sz="1600" u="none" strike="noStrike">
                          <a:effectLst/>
                        </a:rPr>
                        <a:t>Didelėms imtims</a:t>
                      </a:r>
                      <a:endParaRPr lang="lt-LT" sz="16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r>
                        <a:rPr lang="en-US" sz="1600" u="none" strike="noStrike" dirty="0">
                          <a:effectLst/>
                        </a:rPr>
                        <a:t>p &gt; 0.05 → </a:t>
                      </a:r>
                      <a:r>
                        <a:rPr lang="en-US" sz="1600" u="none" strike="noStrike" dirty="0" err="1">
                          <a:effectLst/>
                        </a:rPr>
                        <a:t>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51611261"/>
                  </a:ext>
                </a:extLst>
              </a:tr>
              <a:tr h="344584">
                <a:tc vMerge="1">
                  <a:txBody>
                    <a:bodyPr/>
                    <a:lstStyle/>
                    <a:p>
                      <a:endParaRPr lang="en-US"/>
                    </a:p>
                  </a:txBody>
                  <a:tcPr/>
                </a:tc>
                <a:tc vMerge="1">
                  <a:txBody>
                    <a:bodyPr/>
                    <a:lstStyle/>
                    <a:p>
                      <a:endParaRPr lang="en-US"/>
                    </a:p>
                  </a:txBody>
                  <a:tcPr/>
                </a:tc>
                <a:tc>
                  <a:txBody>
                    <a:bodyPr/>
                    <a:lstStyle/>
                    <a:p>
                      <a:pPr algn="l" fontAlgn="ctr"/>
                      <a:r>
                        <a:rPr lang="en-US" sz="1600" u="none" strike="noStrike" dirty="0">
                          <a:effectLst/>
                        </a:rPr>
                        <a:t>p ≤ 0.05 → </a:t>
                      </a:r>
                      <a:r>
                        <a:rPr lang="en-US" sz="1600" u="none" strike="noStrike" dirty="0" err="1">
                          <a:effectLst/>
                        </a:rPr>
                        <a:t>Nenormalu</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493135007"/>
                  </a:ext>
                </a:extLst>
              </a:tr>
            </a:tbl>
          </a:graphicData>
        </a:graphic>
      </p:graphicFrame>
    </p:spTree>
    <p:extLst>
      <p:ext uri="{BB962C8B-B14F-4D97-AF65-F5344CB8AC3E}">
        <p14:creationId xmlns:p14="http://schemas.microsoft.com/office/powerpoint/2010/main" val="3120419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430C7-A25E-0207-23E5-0DE70F8129CA}"/>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7DF57457-7675-0CA4-8B63-BCC29538D4A2}"/>
              </a:ext>
            </a:extLst>
          </p:cNvPr>
          <p:cNvSpPr>
            <a:spLocks noGrp="1"/>
          </p:cNvSpPr>
          <p:nvPr>
            <p:ph type="title"/>
          </p:nvPr>
        </p:nvSpPr>
        <p:spPr/>
        <p:txBody>
          <a:bodyPr/>
          <a:lstStyle/>
          <a:p>
            <a:pPr fontAlgn="ctr"/>
            <a:r>
              <a:rPr lang="en-US" dirty="0"/>
              <a:t>Anderson-Darling </a:t>
            </a:r>
            <a:r>
              <a:rPr lang="en-US" dirty="0" err="1"/>
              <a:t>testas</a:t>
            </a:r>
            <a:endParaRPr lang="en-US" b="1" dirty="0">
              <a:solidFill>
                <a:srgbClr val="000000"/>
              </a:solidFill>
              <a:latin typeface="Aptos Narrow" panose="020B0004020202020204" pitchFamily="34" charset="0"/>
            </a:endParaRPr>
          </a:p>
        </p:txBody>
      </p:sp>
      <p:sp>
        <p:nvSpPr>
          <p:cNvPr id="5" name="TextBox 4">
            <a:extLst>
              <a:ext uri="{FF2B5EF4-FFF2-40B4-BE49-F238E27FC236}">
                <a16:creationId xmlns:a16="http://schemas.microsoft.com/office/drawing/2014/main" id="{B8079FA5-30E1-698D-26BC-7F403B06513B}"/>
              </a:ext>
            </a:extLst>
          </p:cNvPr>
          <p:cNvSpPr txBox="1"/>
          <p:nvPr/>
        </p:nvSpPr>
        <p:spPr>
          <a:xfrm>
            <a:off x="489856" y="1517026"/>
            <a:ext cx="8926285" cy="2308324"/>
          </a:xfrm>
          <a:prstGeom prst="rect">
            <a:avLst/>
          </a:prstGeom>
          <a:noFill/>
        </p:spPr>
        <p:txBody>
          <a:bodyPr wrap="square">
            <a:spAutoFit/>
          </a:bodyPr>
          <a:lstStyle/>
          <a:p>
            <a:r>
              <a:rPr lang="lt-LT" dirty="0" err="1"/>
              <a:t>Anderson</a:t>
            </a:r>
            <a:r>
              <a:rPr lang="lt-LT" dirty="0"/>
              <a:t>–</a:t>
            </a:r>
            <a:r>
              <a:rPr lang="lt-LT" dirty="0" err="1"/>
              <a:t>Darling</a:t>
            </a:r>
            <a:r>
              <a:rPr lang="lt-LT" dirty="0"/>
              <a:t> testas yra statistinis testas, naudojamas įvertinti, ar duomenys atitinka pasirinktą teorinį skirstinį, dažniausiai normalųjį.</a:t>
            </a:r>
          </a:p>
          <a:p>
            <a:r>
              <a:rPr lang="lt-LT" dirty="0"/>
              <a:t>Skirtingai nuo kai kurių kitų normalumo testų, </a:t>
            </a:r>
            <a:r>
              <a:rPr lang="lt-LT" dirty="0" err="1"/>
              <a:t>Anderson</a:t>
            </a:r>
            <a:r>
              <a:rPr lang="lt-LT" dirty="0"/>
              <a:t>–</a:t>
            </a:r>
            <a:r>
              <a:rPr lang="lt-LT" dirty="0" err="1"/>
              <a:t>Darling</a:t>
            </a:r>
            <a:r>
              <a:rPr lang="lt-LT" dirty="0"/>
              <a:t> testas didesnį svorį suteikia skirstinio uodegoms. Dėl to jis yra jautresnis kraštinėms reikšmėms ir nukrypimams nuo normalumo.</a:t>
            </a:r>
          </a:p>
          <a:p>
            <a:r>
              <a:rPr lang="lt-LT" dirty="0"/>
              <a:t>Duomenų analizėje šis testas dažnai naudojamas tada, kai svarbu tiksliai įvertinti ekstremalias reikšmes, pavyzdžiui, rizikos ar kokybės analizėje. Testo rezultatai paprastai interpretuojami lyginant </a:t>
            </a:r>
            <a:r>
              <a:rPr lang="lt-LT" dirty="0" err="1"/>
              <a:t>testinę</a:t>
            </a:r>
            <a:r>
              <a:rPr lang="lt-LT" dirty="0"/>
              <a:t> statistiką su kritinėmis reikšmėmis, o ne per p reikšmę.</a:t>
            </a:r>
          </a:p>
        </p:txBody>
      </p:sp>
      <p:graphicFrame>
        <p:nvGraphicFramePr>
          <p:cNvPr id="7" name="Content Placeholder 3">
            <a:extLst>
              <a:ext uri="{FF2B5EF4-FFF2-40B4-BE49-F238E27FC236}">
                <a16:creationId xmlns:a16="http://schemas.microsoft.com/office/drawing/2014/main" id="{CC8521E3-F1E6-43BB-93DE-E06A778CD780}"/>
              </a:ext>
            </a:extLst>
          </p:cNvPr>
          <p:cNvGraphicFramePr>
            <a:graphicFrameLocks noGrp="1"/>
          </p:cNvGraphicFramePr>
          <p:nvPr>
            <p:ph idx="1"/>
            <p:extLst>
              <p:ext uri="{D42A27DB-BD31-4B8C-83A1-F6EECF244321}">
                <p14:modId xmlns:p14="http://schemas.microsoft.com/office/powerpoint/2010/main" val="1661650740"/>
              </p:ext>
            </p:extLst>
          </p:nvPr>
        </p:nvGraphicFramePr>
        <p:xfrm>
          <a:off x="1146092" y="4425368"/>
          <a:ext cx="7180446" cy="2067507"/>
        </p:xfrm>
        <a:graphic>
          <a:graphicData uri="http://schemas.openxmlformats.org/drawingml/2006/table">
            <a:tbl>
              <a:tblPr>
                <a:tableStyleId>{5940675A-B579-460E-94D1-54222C63F5DA}</a:tableStyleId>
              </a:tblPr>
              <a:tblGrid>
                <a:gridCol w="2393482">
                  <a:extLst>
                    <a:ext uri="{9D8B030D-6E8A-4147-A177-3AD203B41FA5}">
                      <a16:colId xmlns:a16="http://schemas.microsoft.com/office/drawing/2014/main" val="3606423257"/>
                    </a:ext>
                  </a:extLst>
                </a:gridCol>
                <a:gridCol w="2393482">
                  <a:extLst>
                    <a:ext uri="{9D8B030D-6E8A-4147-A177-3AD203B41FA5}">
                      <a16:colId xmlns:a16="http://schemas.microsoft.com/office/drawing/2014/main" val="2160258260"/>
                    </a:ext>
                  </a:extLst>
                </a:gridCol>
                <a:gridCol w="2393482">
                  <a:extLst>
                    <a:ext uri="{9D8B030D-6E8A-4147-A177-3AD203B41FA5}">
                      <a16:colId xmlns:a16="http://schemas.microsoft.com/office/drawing/2014/main" val="3871769694"/>
                    </a:ext>
                  </a:extLst>
                </a:gridCol>
              </a:tblGrid>
              <a:tr h="689169">
                <a:tc>
                  <a:txBody>
                    <a:bodyPr/>
                    <a:lstStyle/>
                    <a:p>
                      <a:pPr algn="ctr" fontAlgn="ctr"/>
                      <a:r>
                        <a:rPr lang="en-US" sz="1600" u="none" strike="noStrike" dirty="0" err="1">
                          <a:effectLst/>
                        </a:rPr>
                        <a:t>Testas</a:t>
                      </a:r>
                      <a:endParaRPr lang="en-US" sz="16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Geriausiai tinka</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r>
                        <a:rPr lang="en-US" sz="1600" u="none" strike="noStrike">
                          <a:effectLst/>
                        </a:rPr>
                        <a:t>Interpretacija</a:t>
                      </a:r>
                      <a:endParaRPr lang="en-US" sz="1600" b="1"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30588892"/>
                  </a:ext>
                </a:extLst>
              </a:tr>
              <a:tr h="689169">
                <a:tc rowSpan="2">
                  <a:txBody>
                    <a:bodyPr/>
                    <a:lstStyle/>
                    <a:p>
                      <a:pPr algn="ctr" fontAlgn="ctr"/>
                      <a:r>
                        <a:rPr lang="en-US" sz="1600" u="none" strike="noStrike" dirty="0">
                          <a:effectLst/>
                        </a:rPr>
                        <a:t>Anderson-Darling</a:t>
                      </a:r>
                      <a:endParaRPr lang="en-US" sz="1600" b="1" i="0" u="none" strike="noStrike" dirty="0">
                        <a:solidFill>
                          <a:srgbClr val="000000"/>
                        </a:solidFill>
                        <a:effectLst/>
                        <a:latin typeface="Aptos Narrow" panose="020B0004020202020204" pitchFamily="34" charset="0"/>
                      </a:endParaRPr>
                    </a:p>
                  </a:txBody>
                  <a:tcPr marL="7620" marR="7620" marT="7620" marB="0" anchor="ctr"/>
                </a:tc>
                <a:tc rowSpan="2">
                  <a:txBody>
                    <a:bodyPr/>
                    <a:lstStyle/>
                    <a:p>
                      <a:pPr algn="ctr" fontAlgn="ctr"/>
                      <a:r>
                        <a:rPr lang="en-US" sz="1600" u="none" strike="noStrike" dirty="0">
                          <a:effectLst/>
                        </a:rPr>
                        <a:t>Bet </a:t>
                      </a:r>
                      <a:r>
                        <a:rPr lang="en-US" sz="1600" u="none" strike="noStrike" dirty="0" err="1">
                          <a:effectLst/>
                        </a:rPr>
                        <a:t>kokiam</a:t>
                      </a:r>
                      <a:r>
                        <a:rPr lang="en-US" sz="1600" u="none" strike="noStrike" dirty="0">
                          <a:effectLst/>
                        </a:rPr>
                        <a:t> </a:t>
                      </a:r>
                      <a:r>
                        <a:rPr lang="en-US" sz="1600" u="none" strike="noStrike" dirty="0" err="1">
                          <a:effectLst/>
                        </a:rPr>
                        <a:t>imtes</a:t>
                      </a:r>
                      <a:r>
                        <a:rPr lang="en-US" sz="1600" u="none" strike="noStrike" dirty="0">
                          <a:effectLst/>
                        </a:rPr>
                        <a:t> </a:t>
                      </a:r>
                      <a:r>
                        <a:rPr lang="en-US" sz="1600" u="none" strike="noStrike" dirty="0" err="1">
                          <a:effectLst/>
                        </a:rPr>
                        <a:t>dydžiui</a:t>
                      </a:r>
                      <a:endParaRPr lang="en-US"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r>
                        <a:rPr lang="lt-LT" sz="1600" u="none" strike="noStrike" dirty="0" err="1">
                          <a:effectLst/>
                        </a:rPr>
                        <a:t>Test</a:t>
                      </a:r>
                      <a:r>
                        <a:rPr lang="lt-LT" sz="1600" u="none" strike="noStrike" dirty="0">
                          <a:effectLst/>
                        </a:rPr>
                        <a:t> </a:t>
                      </a:r>
                      <a:r>
                        <a:rPr lang="lt-LT" sz="1600" u="none" strike="noStrike" dirty="0" err="1">
                          <a:effectLst/>
                        </a:rPr>
                        <a:t>statistic</a:t>
                      </a:r>
                      <a:r>
                        <a:rPr lang="lt-LT" sz="1600" u="none" strike="noStrike" dirty="0">
                          <a:effectLst/>
                        </a:rPr>
                        <a:t> &gt; kritinė reikšmė - nenormalu</a:t>
                      </a:r>
                      <a:endParaRPr lang="lt-LT"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67435632"/>
                  </a:ext>
                </a:extLst>
              </a:tr>
              <a:tr h="689169">
                <a:tc vMerge="1">
                  <a:txBody>
                    <a:bodyPr/>
                    <a:lstStyle/>
                    <a:p>
                      <a:endParaRPr lang="en-US"/>
                    </a:p>
                  </a:txBody>
                  <a:tcPr/>
                </a:tc>
                <a:tc vMerge="1">
                  <a:txBody>
                    <a:bodyPr/>
                    <a:lstStyle/>
                    <a:p>
                      <a:endParaRPr lang="en-US"/>
                    </a:p>
                  </a:txBody>
                  <a:tcPr/>
                </a:tc>
                <a:tc>
                  <a:txBody>
                    <a:bodyPr/>
                    <a:lstStyle/>
                    <a:p>
                      <a:pPr algn="l" fontAlgn="ctr"/>
                      <a:r>
                        <a:rPr lang="lt-LT" sz="1600" u="none" strike="noStrike" dirty="0">
                          <a:effectLst/>
                        </a:rPr>
                        <a:t>Test statistic &lt; kritinė reikšmė - normalu</a:t>
                      </a:r>
                      <a:endParaRPr lang="lt-LT"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247209982"/>
                  </a:ext>
                </a:extLst>
              </a:tr>
            </a:tbl>
          </a:graphicData>
        </a:graphic>
      </p:graphicFrame>
    </p:spTree>
    <p:extLst>
      <p:ext uri="{BB962C8B-B14F-4D97-AF65-F5344CB8AC3E}">
        <p14:creationId xmlns:p14="http://schemas.microsoft.com/office/powerpoint/2010/main" val="2700750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8EB2-DD32-B016-692E-4AA8F3543114}"/>
              </a:ext>
            </a:extLst>
          </p:cNvPr>
          <p:cNvSpPr>
            <a:spLocks noGrp="1"/>
          </p:cNvSpPr>
          <p:nvPr>
            <p:ph type="title"/>
          </p:nvPr>
        </p:nvSpPr>
        <p:spPr/>
        <p:txBody>
          <a:bodyPr/>
          <a:lstStyle/>
          <a:p>
            <a:r>
              <a:rPr lang="lt-LT" dirty="0"/>
              <a:t>Koreliacijos koeficientų tipai</a:t>
            </a:r>
            <a:endParaRPr lang="en-US" dirty="0"/>
          </a:p>
        </p:txBody>
      </p:sp>
      <p:sp>
        <p:nvSpPr>
          <p:cNvPr id="3" name="Content Placeholder 2">
            <a:extLst>
              <a:ext uri="{FF2B5EF4-FFF2-40B4-BE49-F238E27FC236}">
                <a16:creationId xmlns:a16="http://schemas.microsoft.com/office/drawing/2014/main" id="{DDC28803-AB00-60D5-1367-6EAD83624C08}"/>
              </a:ext>
            </a:extLst>
          </p:cNvPr>
          <p:cNvSpPr>
            <a:spLocks noGrp="1"/>
          </p:cNvSpPr>
          <p:nvPr>
            <p:ph idx="1"/>
          </p:nvPr>
        </p:nvSpPr>
        <p:spPr/>
        <p:txBody>
          <a:bodyPr/>
          <a:lstStyle/>
          <a:p>
            <a:r>
              <a:rPr lang="en-US" b="1" dirty="0" err="1"/>
              <a:t>Pearsono</a:t>
            </a:r>
            <a:r>
              <a:rPr lang="en-US" b="1" dirty="0"/>
              <a:t> </a:t>
            </a:r>
            <a:r>
              <a:rPr lang="en-US" b="1" dirty="0" err="1"/>
              <a:t>koreliacijos</a:t>
            </a:r>
            <a:r>
              <a:rPr lang="en-US" b="1" dirty="0"/>
              <a:t> </a:t>
            </a:r>
            <a:r>
              <a:rPr lang="en-US" b="1" dirty="0" err="1"/>
              <a:t>koeficientas</a:t>
            </a:r>
            <a:endParaRPr lang="en-US" b="1" dirty="0"/>
          </a:p>
          <a:p>
            <a:r>
              <a:rPr lang="en-US" b="1" dirty="0" err="1"/>
              <a:t>Spearmano</a:t>
            </a:r>
            <a:r>
              <a:rPr lang="en-US" b="1" dirty="0"/>
              <a:t> </a:t>
            </a:r>
            <a:r>
              <a:rPr lang="en-US" b="1" dirty="0" err="1"/>
              <a:t>koreliacija</a:t>
            </a:r>
            <a:endParaRPr lang="en-US" b="1" dirty="0"/>
          </a:p>
          <a:p>
            <a:r>
              <a:rPr lang="en-US" b="1" dirty="0" err="1"/>
              <a:t>Kendallo</a:t>
            </a:r>
            <a:r>
              <a:rPr lang="en-US" b="1" dirty="0"/>
              <a:t> Tau (</a:t>
            </a:r>
            <a:r>
              <a:rPr lang="el-GR" b="1" dirty="0"/>
              <a:t>τ)</a:t>
            </a:r>
          </a:p>
          <a:p>
            <a:endParaRPr lang="en-US" b="1" dirty="0"/>
          </a:p>
          <a:p>
            <a:endParaRPr lang="en-US" dirty="0"/>
          </a:p>
        </p:txBody>
      </p:sp>
    </p:spTree>
    <p:extLst>
      <p:ext uri="{BB962C8B-B14F-4D97-AF65-F5344CB8AC3E}">
        <p14:creationId xmlns:p14="http://schemas.microsoft.com/office/powerpoint/2010/main" val="26285972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9396B-D638-ECB8-8883-7DFBEA554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8557B-BF68-DC87-B5A8-6FF14006AB7D}"/>
              </a:ext>
            </a:extLst>
          </p:cNvPr>
          <p:cNvSpPr>
            <a:spLocks noGrp="1"/>
          </p:cNvSpPr>
          <p:nvPr>
            <p:ph type="title"/>
          </p:nvPr>
        </p:nvSpPr>
        <p:spPr/>
        <p:txBody>
          <a:bodyPr/>
          <a:lstStyle/>
          <a:p>
            <a:r>
              <a:rPr lang="lt-LT" dirty="0"/>
              <a:t>Koreliacijos koeficientų tipai</a:t>
            </a:r>
            <a:endParaRPr lang="en-US" dirty="0"/>
          </a:p>
        </p:txBody>
      </p:sp>
      <p:sp>
        <p:nvSpPr>
          <p:cNvPr id="3" name="Content Placeholder 2">
            <a:extLst>
              <a:ext uri="{FF2B5EF4-FFF2-40B4-BE49-F238E27FC236}">
                <a16:creationId xmlns:a16="http://schemas.microsoft.com/office/drawing/2014/main" id="{80F0CF39-5808-A6FD-F165-5D687618A8E1}"/>
              </a:ext>
            </a:extLst>
          </p:cNvPr>
          <p:cNvSpPr>
            <a:spLocks noGrp="1"/>
          </p:cNvSpPr>
          <p:nvPr>
            <p:ph idx="1"/>
          </p:nvPr>
        </p:nvSpPr>
        <p:spPr/>
        <p:txBody>
          <a:bodyPr>
            <a:normAutofit lnSpcReduction="10000"/>
          </a:bodyPr>
          <a:lstStyle/>
          <a:p>
            <a:r>
              <a:rPr lang="en-US" b="1" dirty="0" err="1"/>
              <a:t>Pearsono</a:t>
            </a:r>
            <a:r>
              <a:rPr lang="en-US" b="1" dirty="0"/>
              <a:t> </a:t>
            </a:r>
            <a:r>
              <a:rPr lang="en-US" b="1" dirty="0" err="1"/>
              <a:t>koreliacijos</a:t>
            </a:r>
            <a:r>
              <a:rPr lang="en-US" b="1" dirty="0"/>
              <a:t> </a:t>
            </a:r>
            <a:r>
              <a:rPr lang="en-US" b="1" dirty="0" err="1"/>
              <a:t>koeficientas</a:t>
            </a:r>
            <a:endParaRPr lang="en-US" b="1" dirty="0"/>
          </a:p>
          <a:p>
            <a:pPr marL="0" indent="0">
              <a:buNone/>
            </a:pPr>
            <a:br>
              <a:rPr lang="lt-LT" dirty="0"/>
            </a:br>
            <a:r>
              <a:rPr lang="lt-LT" dirty="0" err="1"/>
              <a:t>Pearsono</a:t>
            </a:r>
            <a:r>
              <a:rPr lang="lt-LT" dirty="0"/>
              <a:t> koreliacija matuoja tiesinį ryšį tarp dviejų kiekybinių kintamųjų. Ji parodo, kaip stipriai ir kuria kryptimi kinta vienas kintamasis didėjant kitam, darant prielaidą, kad ryšys yra tiesinis ir duomenys neturi ryškių išskirčių. </a:t>
            </a:r>
            <a:r>
              <a:rPr lang="lt-LT" b="1" dirty="0"/>
              <a:t>Dažniausiai naudojama, kai duomenys yra apytiksliai normaliai pasiskirstę.</a:t>
            </a:r>
          </a:p>
          <a:p>
            <a:pPr marL="0" indent="0">
              <a:buNone/>
            </a:pPr>
            <a:endParaRPr lang="lt-LT" dirty="0"/>
          </a:p>
          <a:p>
            <a:pPr marL="0" indent="0">
              <a:buNone/>
            </a:pPr>
            <a:r>
              <a:rPr lang="lt-LT" dirty="0"/>
              <a:t>Reikšmės nuo −1 iki 1. Kuo arčiau kraštinių reikšmių, tuo ryšys stipresnis.</a:t>
            </a:r>
            <a:br>
              <a:rPr lang="lt-LT" dirty="0"/>
            </a:br>
            <a:r>
              <a:rPr lang="lt-LT" dirty="0"/>
              <a:t>Tinka, kai ryšys tiesinis ir duomenys be ryškių išskirčių.</a:t>
            </a:r>
          </a:p>
          <a:p>
            <a:endParaRPr lang="en-US" b="1" dirty="0"/>
          </a:p>
          <a:p>
            <a:endParaRPr lang="en-US" dirty="0"/>
          </a:p>
        </p:txBody>
      </p:sp>
    </p:spTree>
    <p:extLst>
      <p:ext uri="{BB962C8B-B14F-4D97-AF65-F5344CB8AC3E}">
        <p14:creationId xmlns:p14="http://schemas.microsoft.com/office/powerpoint/2010/main" val="163318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8FCB-791A-A11E-9B35-4891AF6934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C4508-6590-BA81-EAE5-7848A9B21E78}"/>
              </a:ext>
            </a:extLst>
          </p:cNvPr>
          <p:cNvSpPr>
            <a:spLocks noGrp="1"/>
          </p:cNvSpPr>
          <p:nvPr>
            <p:ph type="title"/>
          </p:nvPr>
        </p:nvSpPr>
        <p:spPr/>
        <p:txBody>
          <a:bodyPr/>
          <a:lstStyle/>
          <a:p>
            <a:r>
              <a:rPr lang="lt-LT" dirty="0"/>
              <a:t>Koreliacijos koeficientų tipai</a:t>
            </a:r>
            <a:endParaRPr lang="en-US" dirty="0"/>
          </a:p>
        </p:txBody>
      </p:sp>
      <p:sp>
        <p:nvSpPr>
          <p:cNvPr id="3" name="Content Placeholder 2">
            <a:extLst>
              <a:ext uri="{FF2B5EF4-FFF2-40B4-BE49-F238E27FC236}">
                <a16:creationId xmlns:a16="http://schemas.microsoft.com/office/drawing/2014/main" id="{72F65B28-BCC5-3EF3-E26F-F37B6B46D197}"/>
              </a:ext>
            </a:extLst>
          </p:cNvPr>
          <p:cNvSpPr>
            <a:spLocks noGrp="1"/>
          </p:cNvSpPr>
          <p:nvPr>
            <p:ph idx="1"/>
          </p:nvPr>
        </p:nvSpPr>
        <p:spPr/>
        <p:txBody>
          <a:bodyPr>
            <a:normAutofit/>
          </a:bodyPr>
          <a:lstStyle/>
          <a:p>
            <a:pPr marL="0" indent="0">
              <a:buNone/>
            </a:pPr>
            <a:br>
              <a:rPr lang="lt-LT" dirty="0"/>
            </a:br>
            <a:endParaRPr lang="en-US" dirty="0"/>
          </a:p>
          <a:p>
            <a:endParaRPr lang="en-US" dirty="0"/>
          </a:p>
          <a:p>
            <a:r>
              <a:rPr lang="lt-LT" b="1" dirty="0" err="1"/>
              <a:t>Spearmano</a:t>
            </a:r>
            <a:r>
              <a:rPr lang="lt-LT" b="1" dirty="0"/>
              <a:t> koreliacija </a:t>
            </a:r>
            <a:r>
              <a:rPr lang="lt-LT" dirty="0"/>
              <a:t>matuoja monotoninį ryšį tarp kintamųjų, remiantis jų rangais, o ne faktinėmis reikšmėmis. Ji naudojama tada, kai ryšys nėra tiesinis, duomenys yra asimetriški arba turi išskirtinių reikšmių. Šis koeficientas tinka ir </a:t>
            </a:r>
            <a:r>
              <a:rPr lang="lt-LT" dirty="0" err="1"/>
              <a:t>ranginiams</a:t>
            </a:r>
            <a:r>
              <a:rPr lang="lt-LT" dirty="0"/>
              <a:t> duomenims.</a:t>
            </a:r>
            <a:endParaRPr lang="en-US" b="1" dirty="0"/>
          </a:p>
          <a:p>
            <a:endParaRPr lang="en-US" dirty="0"/>
          </a:p>
        </p:txBody>
      </p:sp>
    </p:spTree>
    <p:extLst>
      <p:ext uri="{BB962C8B-B14F-4D97-AF65-F5344CB8AC3E}">
        <p14:creationId xmlns:p14="http://schemas.microsoft.com/office/powerpoint/2010/main" val="83633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360DF-25C2-5D1D-EA9B-CD9B265EFA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C6BDB-AC3D-8552-D6C9-4F7023429ADC}"/>
              </a:ext>
            </a:extLst>
          </p:cNvPr>
          <p:cNvSpPr>
            <a:spLocks noGrp="1"/>
          </p:cNvSpPr>
          <p:nvPr>
            <p:ph type="title"/>
          </p:nvPr>
        </p:nvSpPr>
        <p:spPr/>
        <p:txBody>
          <a:bodyPr/>
          <a:lstStyle/>
          <a:p>
            <a:r>
              <a:rPr lang="lt-LT" dirty="0"/>
              <a:t>Koreliacijos koeficientų tipai</a:t>
            </a:r>
            <a:endParaRPr lang="en-US" dirty="0"/>
          </a:p>
        </p:txBody>
      </p:sp>
      <p:sp>
        <p:nvSpPr>
          <p:cNvPr id="3" name="Content Placeholder 2">
            <a:extLst>
              <a:ext uri="{FF2B5EF4-FFF2-40B4-BE49-F238E27FC236}">
                <a16:creationId xmlns:a16="http://schemas.microsoft.com/office/drawing/2014/main" id="{C117A001-BE7D-4304-F816-CC57CB0CA402}"/>
              </a:ext>
            </a:extLst>
          </p:cNvPr>
          <p:cNvSpPr>
            <a:spLocks noGrp="1"/>
          </p:cNvSpPr>
          <p:nvPr>
            <p:ph idx="1"/>
          </p:nvPr>
        </p:nvSpPr>
        <p:spPr/>
        <p:txBody>
          <a:bodyPr>
            <a:normAutofit/>
          </a:bodyPr>
          <a:lstStyle/>
          <a:p>
            <a:r>
              <a:rPr lang="lt-LT" b="1" dirty="0" err="1"/>
              <a:t>Kendallo</a:t>
            </a:r>
            <a:r>
              <a:rPr lang="lt-LT" b="1" dirty="0"/>
              <a:t> Tau (</a:t>
            </a:r>
            <a:r>
              <a:rPr lang="el-GR" b="1" dirty="0"/>
              <a:t>τ)</a:t>
            </a:r>
            <a:br>
              <a:rPr lang="el-GR" dirty="0"/>
            </a:br>
            <a:endParaRPr lang="en-US" dirty="0"/>
          </a:p>
          <a:p>
            <a:r>
              <a:rPr lang="lt-LT" dirty="0" err="1"/>
              <a:t>Kendallo</a:t>
            </a:r>
            <a:r>
              <a:rPr lang="lt-LT" dirty="0"/>
              <a:t> Tau koreliacija vertina rangų suderinamumą tarp dviejų kintamųjų. Ji parodo, kiek porų yra suderintos ar nesuderintos pagal jų eiliškumą. Šis koeficientas yra labiau konservatyvus ir stabilesnis mažoms imtims, todėl dažnai naudojamas, kai duomenų kiekis ribotas arba rangai turi daug sutapimų.</a:t>
            </a:r>
            <a:endParaRPr lang="en-US" dirty="0"/>
          </a:p>
        </p:txBody>
      </p:sp>
    </p:spTree>
    <p:extLst>
      <p:ext uri="{BB962C8B-B14F-4D97-AF65-F5344CB8AC3E}">
        <p14:creationId xmlns:p14="http://schemas.microsoft.com/office/powerpoint/2010/main" val="25229444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883FA-FBD4-C52D-371C-0B076B3CF222}"/>
              </a:ext>
            </a:extLst>
          </p:cNvPr>
          <p:cNvSpPr>
            <a:spLocks noGrp="1"/>
          </p:cNvSpPr>
          <p:nvPr>
            <p:ph type="title"/>
          </p:nvPr>
        </p:nvSpPr>
        <p:spPr/>
        <p:txBody>
          <a:bodyPr/>
          <a:lstStyle/>
          <a:p>
            <a:r>
              <a:rPr lang="en-US" dirty="0"/>
              <a:t>Kaip </a:t>
            </a:r>
            <a:r>
              <a:rPr lang="en-US" dirty="0" err="1"/>
              <a:t>išsirinkti</a:t>
            </a:r>
            <a:r>
              <a:rPr lang="en-US" dirty="0"/>
              <a:t> </a:t>
            </a:r>
            <a:r>
              <a:rPr lang="en-US" dirty="0" err="1"/>
              <a:t>kokį</a:t>
            </a:r>
            <a:r>
              <a:rPr lang="en-US" dirty="0"/>
              <a:t> </a:t>
            </a:r>
            <a:r>
              <a:rPr lang="en-US" dirty="0" err="1"/>
              <a:t>koeficientą</a:t>
            </a:r>
            <a:r>
              <a:rPr lang="en-US" dirty="0"/>
              <a:t> </a:t>
            </a:r>
            <a:r>
              <a:rPr lang="en-US" dirty="0" err="1"/>
              <a:t>naudoti</a:t>
            </a:r>
            <a:endParaRPr lang="en-US" dirty="0"/>
          </a:p>
        </p:txBody>
      </p:sp>
      <p:graphicFrame>
        <p:nvGraphicFramePr>
          <p:cNvPr id="4" name="Content Placeholder 3">
            <a:extLst>
              <a:ext uri="{FF2B5EF4-FFF2-40B4-BE49-F238E27FC236}">
                <a16:creationId xmlns:a16="http://schemas.microsoft.com/office/drawing/2014/main" id="{F0176766-BC8D-D2A4-B1CD-8E372B3CAD7A}"/>
              </a:ext>
            </a:extLst>
          </p:cNvPr>
          <p:cNvGraphicFramePr>
            <a:graphicFrameLocks noGrp="1"/>
          </p:cNvGraphicFramePr>
          <p:nvPr>
            <p:ph idx="1"/>
            <p:extLst>
              <p:ext uri="{D42A27DB-BD31-4B8C-83A1-F6EECF244321}">
                <p14:modId xmlns:p14="http://schemas.microsoft.com/office/powerpoint/2010/main" val="3452441679"/>
              </p:ext>
            </p:extLst>
          </p:nvPr>
        </p:nvGraphicFramePr>
        <p:xfrm>
          <a:off x="1876926" y="1973178"/>
          <a:ext cx="8046719" cy="3224465"/>
        </p:xfrm>
        <a:graphic>
          <a:graphicData uri="http://schemas.openxmlformats.org/drawingml/2006/table">
            <a:tbl>
              <a:tblPr>
                <a:tableStyleId>{5940675A-B579-460E-94D1-54222C63F5DA}</a:tableStyleId>
              </a:tblPr>
              <a:tblGrid>
                <a:gridCol w="2126460">
                  <a:extLst>
                    <a:ext uri="{9D8B030D-6E8A-4147-A177-3AD203B41FA5}">
                      <a16:colId xmlns:a16="http://schemas.microsoft.com/office/drawing/2014/main" val="1025821712"/>
                    </a:ext>
                  </a:extLst>
                </a:gridCol>
                <a:gridCol w="2851390">
                  <a:extLst>
                    <a:ext uri="{9D8B030D-6E8A-4147-A177-3AD203B41FA5}">
                      <a16:colId xmlns:a16="http://schemas.microsoft.com/office/drawing/2014/main" val="1026124332"/>
                    </a:ext>
                  </a:extLst>
                </a:gridCol>
                <a:gridCol w="3068869">
                  <a:extLst>
                    <a:ext uri="{9D8B030D-6E8A-4147-A177-3AD203B41FA5}">
                      <a16:colId xmlns:a16="http://schemas.microsoft.com/office/drawing/2014/main" val="21634200"/>
                    </a:ext>
                  </a:extLst>
                </a:gridCol>
              </a:tblGrid>
              <a:tr h="1074821">
                <a:tc>
                  <a:txBody>
                    <a:bodyPr/>
                    <a:lstStyle/>
                    <a:p>
                      <a:pPr algn="ctr" fontAlgn="ctr"/>
                      <a:r>
                        <a:rPr lang="en-US" sz="1600" u="none" strike="noStrike" dirty="0" err="1">
                          <a:effectLst/>
                        </a:rPr>
                        <a:t>Normali</a:t>
                      </a:r>
                      <a:r>
                        <a:rPr lang="en-US" sz="1600" u="none" strike="noStrike" dirty="0">
                          <a:effectLst/>
                        </a:rPr>
                        <a:t> </a:t>
                      </a:r>
                      <a:r>
                        <a:rPr lang="en-US" sz="1600" u="none" strike="noStrike" dirty="0" err="1">
                          <a:effectLst/>
                        </a:rPr>
                        <a:t>skirstinio</a:t>
                      </a:r>
                      <a:r>
                        <a:rPr lang="en-US" sz="1600" u="none" strike="noStrike" dirty="0">
                          <a:effectLst/>
                        </a:rPr>
                        <a:t> forma?</a:t>
                      </a:r>
                      <a:endParaRPr lang="en-US" sz="16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ctr" fontAlgn="b"/>
                      <a:r>
                        <a:rPr lang="lt-LT" sz="1600" u="none" strike="noStrike" dirty="0">
                          <a:effectLst/>
                        </a:rPr>
                        <a:t>Yra nuokrypių</a:t>
                      </a:r>
                      <a:endParaRPr lang="lt-LT"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ctr" fontAlgn="b">
                        <a:lnSpc>
                          <a:spcPct val="200000"/>
                        </a:lnSpc>
                      </a:pPr>
                      <a:r>
                        <a:rPr lang="en-US" sz="1600" u="none" strike="noStrike" dirty="0" err="1">
                          <a:effectLst/>
                        </a:rPr>
                        <a:t>Korealiacijos</a:t>
                      </a:r>
                      <a:r>
                        <a:rPr lang="en-US" sz="1600" u="none" strike="noStrike" dirty="0">
                          <a:effectLst/>
                        </a:rPr>
                        <a:t> </a:t>
                      </a:r>
                      <a:r>
                        <a:rPr lang="en-US" sz="1600" u="none" strike="noStrike" dirty="0" err="1">
                          <a:effectLst/>
                        </a:rPr>
                        <a:t>koeficientas</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809189487"/>
                  </a:ext>
                </a:extLst>
              </a:tr>
              <a:tr h="537411">
                <a:tc>
                  <a:txBody>
                    <a:bodyPr/>
                    <a:lstStyle/>
                    <a:p>
                      <a:pPr algn="ctr" fontAlgn="b"/>
                      <a:r>
                        <a:rPr lang="en-US" sz="1600" u="none" strike="noStrike" dirty="0">
                          <a:effectLst/>
                          <a:highlight>
                            <a:srgbClr val="FFFF00"/>
                          </a:highlight>
                        </a:rPr>
                        <a:t>Taip</a:t>
                      </a:r>
                      <a:endParaRPr lang="en-US" sz="1600" b="0" i="0" u="none" strike="noStrike" dirty="0">
                        <a:solidFill>
                          <a:srgbClr val="000000"/>
                        </a:solidFill>
                        <a:effectLst/>
                        <a:highlight>
                          <a:srgbClr val="FFFF00"/>
                        </a:highlight>
                        <a:latin typeface="Aptos Narrow" panose="020B0004020202020204" pitchFamily="34" charset="0"/>
                      </a:endParaRPr>
                    </a:p>
                  </a:txBody>
                  <a:tcPr marL="7620" marR="7620" marT="7620" marB="0" anchor="b"/>
                </a:tc>
                <a:tc>
                  <a:txBody>
                    <a:bodyPr/>
                    <a:lstStyle/>
                    <a:p>
                      <a:pPr algn="ctr" fontAlgn="b"/>
                      <a:r>
                        <a:rPr lang="en-US" sz="1600" u="none" strike="noStrike" dirty="0">
                          <a:effectLst/>
                          <a:highlight>
                            <a:srgbClr val="FFFF00"/>
                          </a:highlight>
                        </a:rPr>
                        <a:t>Ne</a:t>
                      </a:r>
                      <a:endParaRPr lang="en-US" sz="1600" b="0" i="0" u="none" strike="noStrike" dirty="0">
                        <a:solidFill>
                          <a:srgbClr val="000000"/>
                        </a:solidFill>
                        <a:effectLst/>
                        <a:highlight>
                          <a:srgbClr val="FFFF00"/>
                        </a:highlight>
                        <a:latin typeface="Aptos Narrow" panose="020B0004020202020204" pitchFamily="34" charset="0"/>
                      </a:endParaRPr>
                    </a:p>
                  </a:txBody>
                  <a:tcPr marL="7620" marR="7620" marT="7620" marB="0" anchor="b"/>
                </a:tc>
                <a:tc>
                  <a:txBody>
                    <a:bodyPr/>
                    <a:lstStyle/>
                    <a:p>
                      <a:pPr algn="l" fontAlgn="b"/>
                      <a:r>
                        <a:rPr lang="en-US" sz="1600" u="none" strike="noStrike" dirty="0" err="1">
                          <a:effectLst/>
                          <a:highlight>
                            <a:srgbClr val="FFFF00"/>
                          </a:highlight>
                        </a:rPr>
                        <a:t>Pearsono</a:t>
                      </a:r>
                      <a:endParaRPr lang="en-US" sz="1600" b="0" i="0" u="none" strike="noStrike" dirty="0">
                        <a:solidFill>
                          <a:srgbClr val="000000"/>
                        </a:solidFill>
                        <a:effectLst/>
                        <a:highlight>
                          <a:srgbClr val="FFFF00"/>
                        </a:highlight>
                        <a:latin typeface="Aptos Narrow" panose="020B0004020202020204" pitchFamily="34" charset="0"/>
                      </a:endParaRPr>
                    </a:p>
                  </a:txBody>
                  <a:tcPr marL="7620" marR="7620" marT="7620" marB="0" anchor="b"/>
                </a:tc>
                <a:extLst>
                  <a:ext uri="{0D108BD9-81ED-4DB2-BD59-A6C34878D82A}">
                    <a16:rowId xmlns:a16="http://schemas.microsoft.com/office/drawing/2014/main" val="2961129856"/>
                  </a:ext>
                </a:extLst>
              </a:tr>
              <a:tr h="537411">
                <a:tc>
                  <a:txBody>
                    <a:bodyPr/>
                    <a:lstStyle/>
                    <a:p>
                      <a:pPr algn="ctr" fontAlgn="b"/>
                      <a:r>
                        <a:rPr lang="en-US" sz="1600" u="none" strike="noStrike">
                          <a:effectLst/>
                        </a:rPr>
                        <a:t>Taip</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Taip</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r>
                        <a:rPr lang="en-US" sz="1600" u="none" strike="noStrike" dirty="0">
                          <a:effectLst/>
                        </a:rPr>
                        <a:t> </a:t>
                      </a:r>
                      <a:r>
                        <a:rPr lang="en-US" sz="1600" u="none" strike="noStrike" dirty="0" err="1">
                          <a:effectLst/>
                        </a:rPr>
                        <a:t>Kendallo</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914887824"/>
                  </a:ext>
                </a:extLst>
              </a:tr>
              <a:tr h="537411">
                <a:tc>
                  <a:txBody>
                    <a:bodyPr/>
                    <a:lstStyle/>
                    <a:p>
                      <a:pPr algn="ctr" fontAlgn="b"/>
                      <a:r>
                        <a:rPr lang="en-US" sz="1600" u="none" strike="noStrike">
                          <a:effectLst/>
                        </a:rPr>
                        <a:t>Ne</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Ne</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r>
                        <a:rPr lang="en-US" sz="1600" u="none" strike="noStrike" dirty="0" err="1">
                          <a:effectLst/>
                        </a:rPr>
                        <a:t>Spearmano</a:t>
                      </a:r>
                      <a:r>
                        <a:rPr lang="en-US" sz="1600" u="none" strike="noStrike" dirty="0">
                          <a:effectLst/>
                        </a:rPr>
                        <a:t> </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3673110986"/>
                  </a:ext>
                </a:extLst>
              </a:tr>
              <a:tr h="537411">
                <a:tc>
                  <a:txBody>
                    <a:bodyPr/>
                    <a:lstStyle/>
                    <a:p>
                      <a:pPr algn="ctr" fontAlgn="b"/>
                      <a:r>
                        <a:rPr lang="en-US" sz="1600" u="none" strike="noStrike">
                          <a:effectLst/>
                        </a:rPr>
                        <a:t>Ne</a:t>
                      </a:r>
                      <a:endParaRPr lang="en-US" sz="1600" b="0" i="0" u="none" strike="noStrike">
                        <a:solidFill>
                          <a:srgbClr val="000000"/>
                        </a:solidFill>
                        <a:effectLst/>
                        <a:latin typeface="Aptos Narrow" panose="020B0004020202020204" pitchFamily="34" charset="0"/>
                      </a:endParaRPr>
                    </a:p>
                  </a:txBody>
                  <a:tcPr marL="7620" marR="7620" marT="7620" marB="0" anchor="b"/>
                </a:tc>
                <a:tc>
                  <a:txBody>
                    <a:bodyPr/>
                    <a:lstStyle/>
                    <a:p>
                      <a:pPr algn="ctr" fontAlgn="b"/>
                      <a:r>
                        <a:rPr lang="en-US" sz="1600" u="none" strike="noStrike" dirty="0">
                          <a:effectLst/>
                        </a:rPr>
                        <a:t>Taip</a:t>
                      </a:r>
                      <a:endParaRPr lang="en-US"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r>
                        <a:rPr lang="en-US" sz="1600" u="none" strike="noStrike" dirty="0">
                          <a:effectLst/>
                        </a:rPr>
                        <a:t> </a:t>
                      </a:r>
                      <a:r>
                        <a:rPr lang="en-US" sz="1600" u="none" strike="noStrike" dirty="0" err="1">
                          <a:effectLst/>
                        </a:rPr>
                        <a:t>Kendallo</a:t>
                      </a:r>
                      <a:endParaRPr lang="en-US" sz="1600" b="0" i="0" u="none" strike="noStrike" dirty="0">
                        <a:solidFill>
                          <a:srgbClr val="000000"/>
                        </a:solidFill>
                        <a:effectLst/>
                        <a:latin typeface="Aptos Narrow" panose="020B0004020202020204" pitchFamily="34" charset="0"/>
                      </a:endParaRPr>
                    </a:p>
                  </a:txBody>
                  <a:tcPr marL="7620" marR="7620" marT="7620" marB="0" anchor="b"/>
                </a:tc>
                <a:extLst>
                  <a:ext uri="{0D108BD9-81ED-4DB2-BD59-A6C34878D82A}">
                    <a16:rowId xmlns:a16="http://schemas.microsoft.com/office/drawing/2014/main" val="2949086713"/>
                  </a:ext>
                </a:extLst>
              </a:tr>
            </a:tbl>
          </a:graphicData>
        </a:graphic>
      </p:graphicFrame>
    </p:spTree>
    <p:extLst>
      <p:ext uri="{BB962C8B-B14F-4D97-AF65-F5344CB8AC3E}">
        <p14:creationId xmlns:p14="http://schemas.microsoft.com/office/powerpoint/2010/main" val="28929802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92DEB499-8E94-C72A-EDDF-E7261ED67658}"/>
              </a:ext>
            </a:extLst>
          </p:cNvPr>
          <p:cNvSpPr>
            <a:spLocks noGrp="1"/>
          </p:cNvSpPr>
          <p:nvPr>
            <p:ph type="title"/>
          </p:nvPr>
        </p:nvSpPr>
        <p:spPr/>
        <p:txBody>
          <a:bodyPr/>
          <a:lstStyle/>
          <a:p>
            <a:r>
              <a:rPr lang="pt-BR" dirty="0"/>
              <a:t>Kaip interpretuoti koreliacijos stiprumą (bendros gairės)</a:t>
            </a:r>
            <a:endParaRPr lang="lt-LT" dirty="0"/>
          </a:p>
        </p:txBody>
      </p:sp>
      <p:sp>
        <p:nvSpPr>
          <p:cNvPr id="3" name="Turinio vietos rezervavimo ženklas 2">
            <a:extLst>
              <a:ext uri="{FF2B5EF4-FFF2-40B4-BE49-F238E27FC236}">
                <a16:creationId xmlns:a16="http://schemas.microsoft.com/office/drawing/2014/main" id="{BC263A44-8152-003F-5CCB-E2F6247D1310}"/>
              </a:ext>
            </a:extLst>
          </p:cNvPr>
          <p:cNvSpPr>
            <a:spLocks noGrp="1"/>
          </p:cNvSpPr>
          <p:nvPr>
            <p:ph idx="1"/>
          </p:nvPr>
        </p:nvSpPr>
        <p:spPr/>
        <p:txBody>
          <a:bodyPr/>
          <a:lstStyle/>
          <a:p>
            <a:r>
              <a:rPr lang="lt-LT" dirty="0"/>
              <a:t>|r| &lt; 0.3 – silpnas ryšys</a:t>
            </a:r>
            <a:br>
              <a:rPr lang="lt-LT" dirty="0"/>
            </a:br>
            <a:r>
              <a:rPr lang="lt-LT" dirty="0"/>
              <a:t>0.3 ≤ |r| &lt; 0.7 – vidutinis ryšys</a:t>
            </a:r>
            <a:br>
              <a:rPr lang="lt-LT" dirty="0"/>
            </a:br>
            <a:r>
              <a:rPr lang="lt-LT" dirty="0"/>
              <a:t>|r| ≥ 0.7 – stiprus ryšys</a:t>
            </a:r>
          </a:p>
          <a:p>
            <a:pPr marL="0" indent="0">
              <a:buNone/>
            </a:pPr>
            <a:endParaRPr lang="lt-LT" dirty="0"/>
          </a:p>
          <a:p>
            <a:pPr marL="0" indent="0">
              <a:buNone/>
            </a:pPr>
            <a:r>
              <a:rPr lang="lt-LT" dirty="0"/>
              <a:t>Ribos yra </a:t>
            </a:r>
            <a:r>
              <a:rPr lang="lt-LT" b="1" dirty="0"/>
              <a:t>kontekstinės</a:t>
            </a:r>
            <a:r>
              <a:rPr lang="lt-LT" dirty="0"/>
              <a:t>, o ne griežtos taisyklės.</a:t>
            </a:r>
          </a:p>
          <a:p>
            <a:endParaRPr lang="lt-LT" dirty="0"/>
          </a:p>
        </p:txBody>
      </p:sp>
    </p:spTree>
    <p:extLst>
      <p:ext uri="{BB962C8B-B14F-4D97-AF65-F5344CB8AC3E}">
        <p14:creationId xmlns:p14="http://schemas.microsoft.com/office/powerpoint/2010/main" val="37302252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43FC618A-32C1-0E47-3A43-6968E3CBD30D}"/>
              </a:ext>
            </a:extLst>
          </p:cNvPr>
          <p:cNvSpPr>
            <a:spLocks noGrp="1"/>
          </p:cNvSpPr>
          <p:nvPr>
            <p:ph type="title"/>
          </p:nvPr>
        </p:nvSpPr>
        <p:spPr/>
        <p:txBody>
          <a:bodyPr/>
          <a:lstStyle/>
          <a:p>
            <a:r>
              <a:rPr lang="lt-LT" dirty="0"/>
              <a:t>p reikšmė koreliacijoje</a:t>
            </a:r>
          </a:p>
        </p:txBody>
      </p:sp>
      <p:sp>
        <p:nvSpPr>
          <p:cNvPr id="3" name="Turinio vietos rezervavimo ženklas 2">
            <a:extLst>
              <a:ext uri="{FF2B5EF4-FFF2-40B4-BE49-F238E27FC236}">
                <a16:creationId xmlns:a16="http://schemas.microsoft.com/office/drawing/2014/main" id="{1F6DE998-67CD-4052-B200-D627E6067566}"/>
              </a:ext>
            </a:extLst>
          </p:cNvPr>
          <p:cNvSpPr>
            <a:spLocks noGrp="1"/>
          </p:cNvSpPr>
          <p:nvPr>
            <p:ph idx="1"/>
          </p:nvPr>
        </p:nvSpPr>
        <p:spPr/>
        <p:txBody>
          <a:bodyPr/>
          <a:lstStyle/>
          <a:p>
            <a:pPr marL="0" indent="0">
              <a:buNone/>
            </a:pPr>
            <a:r>
              <a:rPr lang="lt-LT" dirty="0"/>
              <a:t>p reikšmė parodo, </a:t>
            </a:r>
            <a:r>
              <a:rPr lang="lt-LT" b="1" dirty="0"/>
              <a:t>kiek tikėtina gauti tokį koreliacijos koeficientą</a:t>
            </a:r>
            <a:r>
              <a:rPr lang="lt-LT" dirty="0"/>
              <a:t>, jei realiai tarp kintamųjų </a:t>
            </a:r>
            <a:r>
              <a:rPr lang="lt-LT" b="1" dirty="0"/>
              <a:t>nebūtų jokio ryšio</a:t>
            </a:r>
            <a:r>
              <a:rPr lang="lt-LT" dirty="0"/>
              <a:t>.</a:t>
            </a:r>
          </a:p>
          <a:p>
            <a:pPr marL="0" indent="0">
              <a:buNone/>
            </a:pPr>
            <a:r>
              <a:rPr lang="lt-LT" b="1" dirty="0"/>
              <a:t>Maža p reikšmė </a:t>
            </a:r>
            <a:r>
              <a:rPr lang="lt-LT" dirty="0"/>
              <a:t>reiškia, kad stebėtas ryšys greičiausiai nėra atsitiktinis.</a:t>
            </a:r>
            <a:br>
              <a:rPr lang="lt-LT" dirty="0"/>
            </a:br>
            <a:r>
              <a:rPr lang="lt-LT" b="1" dirty="0"/>
              <a:t>Didelė p reikšmė </a:t>
            </a:r>
            <a:r>
              <a:rPr lang="lt-LT" dirty="0"/>
              <a:t>reiškia, kad stebėtas ryšys gali būti atsitiktinumo rezultatas.</a:t>
            </a:r>
          </a:p>
          <a:p>
            <a:pPr marL="0" indent="0">
              <a:buNone/>
            </a:pPr>
            <a:br>
              <a:rPr lang="lt-LT" dirty="0"/>
            </a:br>
            <a:r>
              <a:rPr lang="lt-LT" dirty="0"/>
              <a:t>p reikšmė </a:t>
            </a:r>
            <a:r>
              <a:rPr lang="lt-LT" b="1" dirty="0"/>
              <a:t>nepasako, ar ryšys stiprus</a:t>
            </a:r>
            <a:r>
              <a:rPr lang="lt-LT" dirty="0"/>
              <a:t>, tik ar jis statistiškai reikšmingas.</a:t>
            </a:r>
          </a:p>
          <a:p>
            <a:endParaRPr lang="lt-LT" dirty="0"/>
          </a:p>
        </p:txBody>
      </p:sp>
    </p:spTree>
    <p:extLst>
      <p:ext uri="{BB962C8B-B14F-4D97-AF65-F5344CB8AC3E}">
        <p14:creationId xmlns:p14="http://schemas.microsoft.com/office/powerpoint/2010/main" val="2296636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E38DE6CA-7474-D6BC-9D45-8DF0C338C4F2}"/>
              </a:ext>
            </a:extLst>
          </p:cNvPr>
          <p:cNvSpPr>
            <a:spLocks noGrp="1"/>
          </p:cNvSpPr>
          <p:nvPr>
            <p:ph type="title"/>
          </p:nvPr>
        </p:nvSpPr>
        <p:spPr/>
        <p:txBody>
          <a:bodyPr/>
          <a:lstStyle/>
          <a:p>
            <a:r>
              <a:rPr lang="lt-LT" dirty="0"/>
              <a:t>R² (determinacijos koeficientas)</a:t>
            </a:r>
          </a:p>
        </p:txBody>
      </p:sp>
      <p:sp>
        <p:nvSpPr>
          <p:cNvPr id="3" name="Turinio vietos rezervavimo ženklas 2">
            <a:extLst>
              <a:ext uri="{FF2B5EF4-FFF2-40B4-BE49-F238E27FC236}">
                <a16:creationId xmlns:a16="http://schemas.microsoft.com/office/drawing/2014/main" id="{59F35EE2-EB57-2830-4FF2-03821BA94F50}"/>
              </a:ext>
            </a:extLst>
          </p:cNvPr>
          <p:cNvSpPr>
            <a:spLocks noGrp="1"/>
          </p:cNvSpPr>
          <p:nvPr>
            <p:ph idx="1"/>
          </p:nvPr>
        </p:nvSpPr>
        <p:spPr/>
        <p:txBody>
          <a:bodyPr/>
          <a:lstStyle/>
          <a:p>
            <a:pPr marL="0" indent="0">
              <a:buNone/>
            </a:pPr>
            <a:r>
              <a:rPr lang="lt-LT" dirty="0"/>
              <a:t>R² parodo, </a:t>
            </a:r>
            <a:r>
              <a:rPr lang="lt-LT" b="1" dirty="0"/>
              <a:t>kokią dalį vieno kintamojo variacijos paaiškina kitas kintamasis</a:t>
            </a:r>
            <a:r>
              <a:rPr lang="lt-LT" dirty="0"/>
              <a:t> tiesinio ryšio kontekste.</a:t>
            </a:r>
          </a:p>
          <a:p>
            <a:pPr marL="0" indent="0">
              <a:buNone/>
            </a:pPr>
            <a:r>
              <a:rPr lang="lt-LT" dirty="0"/>
              <a:t>Jis apskaičiuojamas kaip </a:t>
            </a:r>
            <a:r>
              <a:rPr lang="lt-LT" dirty="0" err="1"/>
              <a:t>Pearsono</a:t>
            </a:r>
            <a:r>
              <a:rPr lang="lt-LT" dirty="0"/>
              <a:t> koreliacijos koeficiento kvadratas:</a:t>
            </a:r>
            <a:br>
              <a:rPr lang="lt-LT" dirty="0"/>
            </a:br>
            <a:r>
              <a:rPr lang="lt-LT" dirty="0">
                <a:highlight>
                  <a:srgbClr val="FFFF00"/>
                </a:highlight>
              </a:rPr>
              <a:t>R²</a:t>
            </a:r>
            <a:r>
              <a:rPr lang="lt-LT" dirty="0"/>
              <a:t> = r²</a:t>
            </a:r>
          </a:p>
          <a:p>
            <a:pPr marL="0" indent="0">
              <a:buNone/>
            </a:pPr>
            <a:r>
              <a:rPr lang="lt-LT" dirty="0"/>
              <a:t>Pavyzdys interpretacijai:</a:t>
            </a:r>
            <a:br>
              <a:rPr lang="lt-LT" dirty="0"/>
            </a:br>
            <a:r>
              <a:rPr lang="lt-LT" dirty="0"/>
              <a:t>Jei R² = 0.36, tai reiškia, kad apie 36 % vieno kintamojo variacijos galima paaiškinti kitu kintamuoju, o likusi dalis lieka nepaaiškinta.</a:t>
            </a:r>
          </a:p>
          <a:p>
            <a:pPr marL="0" indent="0">
              <a:buNone/>
            </a:pPr>
            <a:br>
              <a:rPr lang="lt-LT" dirty="0"/>
            </a:br>
            <a:r>
              <a:rPr lang="lt-LT" dirty="0"/>
              <a:t>Didelis R² </a:t>
            </a:r>
            <a:r>
              <a:rPr lang="lt-LT" b="1" dirty="0"/>
              <a:t>nereiškia priežastinio ryšio</a:t>
            </a:r>
            <a:r>
              <a:rPr lang="lt-LT" dirty="0"/>
              <a:t>.</a:t>
            </a:r>
          </a:p>
          <a:p>
            <a:pPr marL="0" indent="0">
              <a:buNone/>
            </a:pPr>
            <a:endParaRPr lang="lt-LT" dirty="0"/>
          </a:p>
        </p:txBody>
      </p:sp>
    </p:spTree>
    <p:extLst>
      <p:ext uri="{BB962C8B-B14F-4D97-AF65-F5344CB8AC3E}">
        <p14:creationId xmlns:p14="http://schemas.microsoft.com/office/powerpoint/2010/main" val="15997869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629009D9-CBF1-316A-A76F-795CD53EC86E}"/>
              </a:ext>
            </a:extLst>
          </p:cNvPr>
          <p:cNvSpPr>
            <a:spLocks noGrp="1"/>
          </p:cNvSpPr>
          <p:nvPr>
            <p:ph type="title"/>
          </p:nvPr>
        </p:nvSpPr>
        <p:spPr/>
        <p:txBody>
          <a:bodyPr/>
          <a:lstStyle/>
          <a:p>
            <a:r>
              <a:rPr lang="lt-LT" dirty="0"/>
              <a:t>„Auksinė taisyklė“</a:t>
            </a:r>
          </a:p>
        </p:txBody>
      </p:sp>
      <p:sp>
        <p:nvSpPr>
          <p:cNvPr id="3" name="Turinio vietos rezervavimo ženklas 2">
            <a:extLst>
              <a:ext uri="{FF2B5EF4-FFF2-40B4-BE49-F238E27FC236}">
                <a16:creationId xmlns:a16="http://schemas.microsoft.com/office/drawing/2014/main" id="{BB352FC8-1ED4-D582-1300-46ACFC457F10}"/>
              </a:ext>
            </a:extLst>
          </p:cNvPr>
          <p:cNvSpPr>
            <a:spLocks noGrp="1"/>
          </p:cNvSpPr>
          <p:nvPr>
            <p:ph idx="1"/>
          </p:nvPr>
        </p:nvSpPr>
        <p:spPr/>
        <p:txBody>
          <a:bodyPr/>
          <a:lstStyle/>
          <a:p>
            <a:pPr marL="0" indent="0">
              <a:buNone/>
            </a:pPr>
            <a:r>
              <a:rPr lang="lt-LT" dirty="0"/>
              <a:t>Koreliacija rodo ryšį,</a:t>
            </a:r>
            <a:br>
              <a:rPr lang="lt-LT" dirty="0"/>
            </a:br>
            <a:r>
              <a:rPr lang="lt-LT" dirty="0"/>
              <a:t>p reikšmė rodo, ar ryšys tikėtinas ne atsitiktinai,</a:t>
            </a:r>
            <a:br>
              <a:rPr lang="lt-LT" dirty="0"/>
            </a:br>
            <a:r>
              <a:rPr lang="lt-LT" dirty="0"/>
              <a:t>R² rodo, kiek daug tas ryšys paaiškina,</a:t>
            </a:r>
            <a:br>
              <a:rPr lang="lt-LT" dirty="0"/>
            </a:br>
            <a:r>
              <a:rPr lang="lt-LT" dirty="0"/>
              <a:t>bet </a:t>
            </a:r>
            <a:r>
              <a:rPr lang="lt-LT" b="1" dirty="0"/>
              <a:t>nei vienas iš jų neįrodo priežasties</a:t>
            </a:r>
            <a:r>
              <a:rPr lang="lt-LT" dirty="0"/>
              <a:t>.</a:t>
            </a:r>
          </a:p>
        </p:txBody>
      </p:sp>
    </p:spTree>
    <p:extLst>
      <p:ext uri="{BB962C8B-B14F-4D97-AF65-F5344CB8AC3E}">
        <p14:creationId xmlns:p14="http://schemas.microsoft.com/office/powerpoint/2010/main" val="32395404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C67AD24-42EF-D4AD-173A-2D6A656A6D88}"/>
              </a:ext>
            </a:extLst>
          </p:cNvPr>
          <p:cNvSpPr>
            <a:spLocks noGrp="1"/>
          </p:cNvSpPr>
          <p:nvPr>
            <p:ph type="title"/>
          </p:nvPr>
        </p:nvSpPr>
        <p:spPr/>
        <p:txBody>
          <a:bodyPr/>
          <a:lstStyle/>
          <a:p>
            <a:r>
              <a:rPr lang="lt-LT" dirty="0" err="1"/>
              <a:t>Python</a:t>
            </a:r>
            <a:r>
              <a:rPr lang="lt-LT" dirty="0"/>
              <a:t> bibliotekos ir funkcijos koreliacijai</a:t>
            </a:r>
          </a:p>
        </p:txBody>
      </p:sp>
      <p:sp>
        <p:nvSpPr>
          <p:cNvPr id="4" name="TextBox 3">
            <a:extLst>
              <a:ext uri="{FF2B5EF4-FFF2-40B4-BE49-F238E27FC236}">
                <a16:creationId xmlns:a16="http://schemas.microsoft.com/office/drawing/2014/main" id="{7886D9C3-EF3D-BE9F-2D0E-36D86038D3E1}"/>
              </a:ext>
            </a:extLst>
          </p:cNvPr>
          <p:cNvSpPr txBox="1"/>
          <p:nvPr/>
        </p:nvSpPr>
        <p:spPr>
          <a:xfrm>
            <a:off x="766916" y="1570222"/>
            <a:ext cx="6096000" cy="2031325"/>
          </a:xfrm>
          <a:prstGeom prst="rect">
            <a:avLst/>
          </a:prstGeom>
          <a:noFill/>
        </p:spPr>
        <p:txBody>
          <a:bodyPr wrap="square">
            <a:spAutoFit/>
          </a:bodyPr>
          <a:lstStyle/>
          <a:p>
            <a:pPr>
              <a:buNone/>
            </a:pPr>
            <a:r>
              <a:rPr lang="lt-LT" b="1" dirty="0" err="1"/>
              <a:t>NumPy</a:t>
            </a:r>
            <a:r>
              <a:rPr lang="lt-LT" b="1" dirty="0"/>
              <a:t> (</a:t>
            </a:r>
            <a:r>
              <a:rPr lang="lt-LT" b="1" dirty="0" err="1">
                <a:latin typeface="Courier New" panose="02070309020205020404" pitchFamily="49" charset="0"/>
              </a:rPr>
              <a:t>numpy</a:t>
            </a:r>
            <a:r>
              <a:rPr lang="lt-LT" b="1" dirty="0"/>
              <a:t>)</a:t>
            </a:r>
            <a:br>
              <a:rPr lang="lt-LT" dirty="0"/>
            </a:br>
            <a:r>
              <a:rPr lang="lt-LT" dirty="0"/>
              <a:t>Naudojama baziniams skaičiavimams ir greitam koreliacijos įvertinimui.</a:t>
            </a:r>
          </a:p>
          <a:p>
            <a:pPr>
              <a:buNone/>
            </a:pPr>
            <a:r>
              <a:rPr lang="lt-LT" dirty="0"/>
              <a:t>Pagrindinės funkcijos:</a:t>
            </a:r>
            <a:br>
              <a:rPr lang="lt-LT" dirty="0"/>
            </a:br>
            <a:r>
              <a:rPr lang="lt-LT" dirty="0" err="1">
                <a:highlight>
                  <a:srgbClr val="FFFF00"/>
                </a:highlight>
                <a:latin typeface="Courier New" panose="02070309020205020404" pitchFamily="49" charset="0"/>
              </a:rPr>
              <a:t>np.corrcoef</a:t>
            </a:r>
            <a:r>
              <a:rPr lang="lt-LT" dirty="0">
                <a:highlight>
                  <a:srgbClr val="FFFF00"/>
                </a:highlight>
              </a:rPr>
              <a:t> </a:t>
            </a:r>
            <a:r>
              <a:rPr lang="lt-LT" dirty="0"/>
              <a:t>– koreliacijos matrica</a:t>
            </a:r>
            <a:br>
              <a:rPr lang="lt-LT" dirty="0"/>
            </a:br>
            <a:r>
              <a:rPr lang="lt-LT" dirty="0"/>
              <a:t>Naudinga greitam patikrinimui, bet </a:t>
            </a:r>
            <a:r>
              <a:rPr lang="lt-LT" b="1" dirty="0"/>
              <a:t>negrąžina p reikšmės</a:t>
            </a:r>
            <a:r>
              <a:rPr lang="lt-LT" dirty="0"/>
              <a:t>, todėl analitinei interpretacijai nepakanka.</a:t>
            </a:r>
          </a:p>
        </p:txBody>
      </p:sp>
    </p:spTree>
    <p:extLst>
      <p:ext uri="{BB962C8B-B14F-4D97-AF65-F5344CB8AC3E}">
        <p14:creationId xmlns:p14="http://schemas.microsoft.com/office/powerpoint/2010/main" val="37861604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4F9EB-1FB4-26A0-3D6C-432AA5E1EA6B}"/>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C9B462B5-2AD3-7A52-8F12-8F747628008A}"/>
              </a:ext>
            </a:extLst>
          </p:cNvPr>
          <p:cNvSpPr>
            <a:spLocks noGrp="1"/>
          </p:cNvSpPr>
          <p:nvPr>
            <p:ph type="title"/>
          </p:nvPr>
        </p:nvSpPr>
        <p:spPr/>
        <p:txBody>
          <a:bodyPr/>
          <a:lstStyle/>
          <a:p>
            <a:r>
              <a:rPr lang="lt-LT" dirty="0" err="1"/>
              <a:t>Python</a:t>
            </a:r>
            <a:r>
              <a:rPr lang="lt-LT" dirty="0"/>
              <a:t> bibliotekos ir funkcijos koreliacijai</a:t>
            </a:r>
          </a:p>
        </p:txBody>
      </p:sp>
      <p:sp>
        <p:nvSpPr>
          <p:cNvPr id="4" name="TextBox 3">
            <a:extLst>
              <a:ext uri="{FF2B5EF4-FFF2-40B4-BE49-F238E27FC236}">
                <a16:creationId xmlns:a16="http://schemas.microsoft.com/office/drawing/2014/main" id="{32DCCB82-ADEE-571B-8A27-77580396D586}"/>
              </a:ext>
            </a:extLst>
          </p:cNvPr>
          <p:cNvSpPr txBox="1"/>
          <p:nvPr/>
        </p:nvSpPr>
        <p:spPr>
          <a:xfrm>
            <a:off x="766916" y="1570222"/>
            <a:ext cx="6096000" cy="2308324"/>
          </a:xfrm>
          <a:prstGeom prst="rect">
            <a:avLst/>
          </a:prstGeom>
          <a:noFill/>
        </p:spPr>
        <p:txBody>
          <a:bodyPr wrap="square">
            <a:spAutoFit/>
          </a:bodyPr>
          <a:lstStyle/>
          <a:p>
            <a:r>
              <a:rPr lang="lt-LT" b="1" dirty="0" err="1">
                <a:highlight>
                  <a:srgbClr val="FFFF00"/>
                </a:highlight>
              </a:rPr>
              <a:t>SciPy</a:t>
            </a:r>
            <a:r>
              <a:rPr lang="lt-LT" b="1" dirty="0">
                <a:highlight>
                  <a:srgbClr val="FFFF00"/>
                </a:highlight>
              </a:rPr>
              <a:t> </a:t>
            </a:r>
            <a:r>
              <a:rPr lang="lt-LT" b="1" dirty="0" err="1">
                <a:highlight>
                  <a:srgbClr val="FFFF00"/>
                </a:highlight>
              </a:rPr>
              <a:t>Stats</a:t>
            </a:r>
            <a:r>
              <a:rPr lang="lt-LT" b="1" dirty="0">
                <a:highlight>
                  <a:srgbClr val="FFFF00"/>
                </a:highlight>
              </a:rPr>
              <a:t> (</a:t>
            </a:r>
            <a:r>
              <a:rPr lang="lt-LT" b="1" dirty="0" err="1">
                <a:highlight>
                  <a:srgbClr val="FFFF00"/>
                </a:highlight>
              </a:rPr>
              <a:t>scipy.stats</a:t>
            </a:r>
            <a:r>
              <a:rPr lang="lt-LT" b="1" dirty="0">
                <a:highlight>
                  <a:srgbClr val="FFFF00"/>
                </a:highlight>
              </a:rPr>
              <a:t>)</a:t>
            </a:r>
            <a:br>
              <a:rPr lang="lt-LT" dirty="0"/>
            </a:br>
            <a:r>
              <a:rPr lang="lt-LT" dirty="0"/>
              <a:t>Pagrindinė biblioteka </a:t>
            </a:r>
            <a:r>
              <a:rPr lang="lt-LT" b="1" dirty="0"/>
              <a:t>statistinei koreliacijos analizei</a:t>
            </a:r>
            <a:r>
              <a:rPr lang="lt-LT" dirty="0"/>
              <a:t>.</a:t>
            </a:r>
          </a:p>
          <a:p>
            <a:r>
              <a:rPr lang="lt-LT" dirty="0"/>
              <a:t>Naudojamos funkcijos:</a:t>
            </a:r>
            <a:br>
              <a:rPr lang="lt-LT" dirty="0"/>
            </a:br>
            <a:r>
              <a:rPr lang="lt-LT" dirty="0" err="1"/>
              <a:t>pearsonr</a:t>
            </a:r>
            <a:r>
              <a:rPr lang="lt-LT" dirty="0"/>
              <a:t> – tiesiniam ryšiui (grąžina r ir p)</a:t>
            </a:r>
            <a:br>
              <a:rPr lang="lt-LT" dirty="0"/>
            </a:br>
            <a:r>
              <a:rPr lang="lt-LT" dirty="0" err="1"/>
              <a:t>spearmanr</a:t>
            </a:r>
            <a:r>
              <a:rPr lang="lt-LT" dirty="0"/>
              <a:t> – monotoniškam ryšiui, atsparesnė </a:t>
            </a:r>
            <a:r>
              <a:rPr lang="lt-LT" dirty="0" err="1"/>
              <a:t>outlier</a:t>
            </a:r>
            <a:br>
              <a:rPr lang="lt-LT" dirty="0"/>
            </a:br>
            <a:r>
              <a:rPr lang="lt-LT" dirty="0" err="1"/>
              <a:t>kendalltau</a:t>
            </a:r>
            <a:r>
              <a:rPr lang="lt-LT" dirty="0"/>
              <a:t> – rangų suderinamumui, ypač mažoms imtims</a:t>
            </a:r>
          </a:p>
          <a:p>
            <a:r>
              <a:rPr lang="lt-LT" dirty="0"/>
              <a:t>Tai </a:t>
            </a:r>
            <a:r>
              <a:rPr lang="lt-LT" b="1" dirty="0"/>
              <a:t>teisingas pasirinkimas</a:t>
            </a:r>
            <a:r>
              <a:rPr lang="lt-LT" dirty="0"/>
              <a:t>, kai reikia ir koreliacijos dydžio, ir statistinio reikšmingumo.</a:t>
            </a:r>
          </a:p>
        </p:txBody>
      </p:sp>
    </p:spTree>
    <p:extLst>
      <p:ext uri="{BB962C8B-B14F-4D97-AF65-F5344CB8AC3E}">
        <p14:creationId xmlns:p14="http://schemas.microsoft.com/office/powerpoint/2010/main" val="1964222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A6A74-5BAB-F4A9-DB61-C41DC3719125}"/>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61811916-67C8-C763-4632-89C4EBDA275E}"/>
              </a:ext>
            </a:extLst>
          </p:cNvPr>
          <p:cNvSpPr>
            <a:spLocks noGrp="1"/>
          </p:cNvSpPr>
          <p:nvPr>
            <p:ph type="title"/>
          </p:nvPr>
        </p:nvSpPr>
        <p:spPr/>
        <p:txBody>
          <a:bodyPr/>
          <a:lstStyle/>
          <a:p>
            <a:r>
              <a:rPr lang="lt-LT" dirty="0" err="1"/>
              <a:t>Python</a:t>
            </a:r>
            <a:r>
              <a:rPr lang="lt-LT" dirty="0"/>
              <a:t> bibliotekos ir funkcijos koreliacijai</a:t>
            </a:r>
          </a:p>
        </p:txBody>
      </p:sp>
      <p:sp>
        <p:nvSpPr>
          <p:cNvPr id="4" name="TextBox 3">
            <a:extLst>
              <a:ext uri="{FF2B5EF4-FFF2-40B4-BE49-F238E27FC236}">
                <a16:creationId xmlns:a16="http://schemas.microsoft.com/office/drawing/2014/main" id="{282E6201-F111-FE94-4606-BE02067D7A4D}"/>
              </a:ext>
            </a:extLst>
          </p:cNvPr>
          <p:cNvSpPr txBox="1"/>
          <p:nvPr/>
        </p:nvSpPr>
        <p:spPr>
          <a:xfrm>
            <a:off x="766916" y="1570222"/>
            <a:ext cx="6096000" cy="2308324"/>
          </a:xfrm>
          <a:prstGeom prst="rect">
            <a:avLst/>
          </a:prstGeom>
          <a:noFill/>
        </p:spPr>
        <p:txBody>
          <a:bodyPr wrap="square">
            <a:spAutoFit/>
          </a:bodyPr>
          <a:lstStyle/>
          <a:p>
            <a:r>
              <a:rPr lang="lt-LT" b="1" dirty="0"/>
              <a:t>Pandas (pandas)</a:t>
            </a:r>
            <a:br>
              <a:rPr lang="lt-LT" dirty="0"/>
            </a:br>
            <a:r>
              <a:rPr lang="lt-LT" dirty="0"/>
              <a:t>Naudojama </a:t>
            </a:r>
            <a:r>
              <a:rPr lang="lt-LT" b="1" dirty="0"/>
              <a:t>koreliacijos matricoms</a:t>
            </a:r>
            <a:r>
              <a:rPr lang="lt-LT" dirty="0"/>
              <a:t> ir darbui su realiais duomenimis.</a:t>
            </a:r>
          </a:p>
          <a:p>
            <a:r>
              <a:rPr lang="lt-LT" dirty="0"/>
              <a:t>Pagrindinės funkcijos:</a:t>
            </a:r>
            <a:br>
              <a:rPr lang="lt-LT" dirty="0"/>
            </a:br>
            <a:r>
              <a:rPr lang="lt-LT" dirty="0" err="1"/>
              <a:t>DataFrame.corr</a:t>
            </a:r>
            <a:r>
              <a:rPr lang="lt-LT" dirty="0"/>
              <a:t>() – koreliacijos matrica (</a:t>
            </a:r>
            <a:r>
              <a:rPr lang="lt-LT" dirty="0" err="1"/>
              <a:t>Pearson</a:t>
            </a:r>
            <a:r>
              <a:rPr lang="lt-LT" dirty="0"/>
              <a:t>, </a:t>
            </a:r>
            <a:r>
              <a:rPr lang="lt-LT" dirty="0" err="1"/>
              <a:t>Spearman</a:t>
            </a:r>
            <a:r>
              <a:rPr lang="lt-LT" dirty="0"/>
              <a:t>, </a:t>
            </a:r>
            <a:r>
              <a:rPr lang="lt-LT" dirty="0" err="1"/>
              <a:t>Kendall</a:t>
            </a:r>
            <a:r>
              <a:rPr lang="lt-LT" dirty="0"/>
              <a:t>)</a:t>
            </a:r>
            <a:br>
              <a:rPr lang="lt-LT" dirty="0"/>
            </a:br>
            <a:r>
              <a:rPr lang="lt-LT" dirty="0"/>
              <a:t>Patogu analizuojant daug kintamųjų vienu metu, bet </a:t>
            </a:r>
            <a:r>
              <a:rPr lang="lt-LT" b="1" dirty="0"/>
              <a:t>p reikšmės negrąžinamos</a:t>
            </a:r>
            <a:r>
              <a:rPr lang="lt-LT" dirty="0"/>
              <a:t>.</a:t>
            </a:r>
          </a:p>
        </p:txBody>
      </p:sp>
    </p:spTree>
    <p:extLst>
      <p:ext uri="{BB962C8B-B14F-4D97-AF65-F5344CB8AC3E}">
        <p14:creationId xmlns:p14="http://schemas.microsoft.com/office/powerpoint/2010/main" val="322326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79579-B581-A8A7-D472-6B661B249C18}"/>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4CA94154-E652-B46E-3BE0-860DBAF575A3}"/>
              </a:ext>
            </a:extLst>
          </p:cNvPr>
          <p:cNvSpPr>
            <a:spLocks noGrp="1"/>
          </p:cNvSpPr>
          <p:nvPr>
            <p:ph type="title"/>
          </p:nvPr>
        </p:nvSpPr>
        <p:spPr/>
        <p:txBody>
          <a:bodyPr/>
          <a:lstStyle/>
          <a:p>
            <a:r>
              <a:rPr lang="lt-LT" dirty="0" err="1"/>
              <a:t>Python</a:t>
            </a:r>
            <a:r>
              <a:rPr lang="lt-LT" dirty="0"/>
              <a:t> bibliotekos ir funkcijos koreliacijai</a:t>
            </a:r>
          </a:p>
        </p:txBody>
      </p:sp>
      <p:sp>
        <p:nvSpPr>
          <p:cNvPr id="4" name="TextBox 3">
            <a:extLst>
              <a:ext uri="{FF2B5EF4-FFF2-40B4-BE49-F238E27FC236}">
                <a16:creationId xmlns:a16="http://schemas.microsoft.com/office/drawing/2014/main" id="{EE96A586-40CC-0A85-6D7F-935A58813DB4}"/>
              </a:ext>
            </a:extLst>
          </p:cNvPr>
          <p:cNvSpPr txBox="1"/>
          <p:nvPr/>
        </p:nvSpPr>
        <p:spPr>
          <a:xfrm>
            <a:off x="766916" y="1570222"/>
            <a:ext cx="6096000" cy="1754326"/>
          </a:xfrm>
          <a:prstGeom prst="rect">
            <a:avLst/>
          </a:prstGeom>
          <a:noFill/>
        </p:spPr>
        <p:txBody>
          <a:bodyPr wrap="square">
            <a:spAutoFit/>
          </a:bodyPr>
          <a:lstStyle/>
          <a:p>
            <a:r>
              <a:rPr lang="lt-LT" b="1" dirty="0" err="1"/>
              <a:t>Matplotlib</a:t>
            </a:r>
            <a:r>
              <a:rPr lang="lt-LT" b="1" dirty="0"/>
              <a:t> (</a:t>
            </a:r>
            <a:r>
              <a:rPr lang="lt-LT" b="1" dirty="0" err="1"/>
              <a:t>matplotlib</a:t>
            </a:r>
            <a:r>
              <a:rPr lang="lt-LT" b="1" dirty="0"/>
              <a:t>)</a:t>
            </a:r>
            <a:br>
              <a:rPr lang="lt-LT" dirty="0"/>
            </a:br>
            <a:r>
              <a:rPr lang="lt-LT" dirty="0"/>
              <a:t>Naudojama </a:t>
            </a:r>
            <a:r>
              <a:rPr lang="lt-LT" b="1" dirty="0"/>
              <a:t>ryšio formai vizualizuoti</a:t>
            </a:r>
            <a:r>
              <a:rPr lang="lt-LT" dirty="0"/>
              <a:t>.</a:t>
            </a:r>
          </a:p>
          <a:p>
            <a:r>
              <a:rPr lang="lt-LT" dirty="0"/>
              <a:t>Pagrindinė vizualizacija:</a:t>
            </a:r>
            <a:br>
              <a:rPr lang="lt-LT" dirty="0"/>
            </a:br>
            <a:r>
              <a:rPr lang="lt-LT" dirty="0" err="1"/>
              <a:t>plt.scatter</a:t>
            </a:r>
            <a:r>
              <a:rPr lang="lt-LT" dirty="0"/>
              <a:t>() – </a:t>
            </a:r>
            <a:r>
              <a:rPr lang="lt-LT" dirty="0" err="1"/>
              <a:t>scatter</a:t>
            </a:r>
            <a:r>
              <a:rPr lang="lt-LT" dirty="0"/>
              <a:t> plot</a:t>
            </a:r>
            <a:br>
              <a:rPr lang="lt-LT" dirty="0"/>
            </a:br>
            <a:r>
              <a:rPr lang="lt-LT" dirty="0"/>
              <a:t>Tai </a:t>
            </a:r>
            <a:r>
              <a:rPr lang="lt-LT" b="1" dirty="0"/>
              <a:t>būtinas pirmas žingsnis</a:t>
            </a:r>
            <a:r>
              <a:rPr lang="lt-LT" dirty="0"/>
              <a:t> prieš interpretuojant koreliacijos skaičių.</a:t>
            </a:r>
          </a:p>
        </p:txBody>
      </p:sp>
    </p:spTree>
    <p:extLst>
      <p:ext uri="{BB962C8B-B14F-4D97-AF65-F5344CB8AC3E}">
        <p14:creationId xmlns:p14="http://schemas.microsoft.com/office/powerpoint/2010/main" val="15999694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05442-EEEF-5BFC-2705-975D35ED3DC1}"/>
            </a:ext>
          </a:extLst>
        </p:cNvPr>
        <p:cNvGrpSpPr/>
        <p:nvPr/>
      </p:nvGrpSpPr>
      <p:grpSpPr>
        <a:xfrm>
          <a:off x="0" y="0"/>
          <a:ext cx="0" cy="0"/>
          <a:chOff x="0" y="0"/>
          <a:chExt cx="0" cy="0"/>
        </a:xfrm>
      </p:grpSpPr>
      <p:sp>
        <p:nvSpPr>
          <p:cNvPr id="2" name="Pavadinimas 1">
            <a:extLst>
              <a:ext uri="{FF2B5EF4-FFF2-40B4-BE49-F238E27FC236}">
                <a16:creationId xmlns:a16="http://schemas.microsoft.com/office/drawing/2014/main" id="{8FBD16CF-B50A-6CAC-86DF-75674F8F0E88}"/>
              </a:ext>
            </a:extLst>
          </p:cNvPr>
          <p:cNvSpPr>
            <a:spLocks noGrp="1"/>
          </p:cNvSpPr>
          <p:nvPr>
            <p:ph type="title"/>
          </p:nvPr>
        </p:nvSpPr>
        <p:spPr/>
        <p:txBody>
          <a:bodyPr/>
          <a:lstStyle/>
          <a:p>
            <a:r>
              <a:rPr lang="lt-LT" dirty="0" err="1"/>
              <a:t>Python</a:t>
            </a:r>
            <a:r>
              <a:rPr lang="lt-LT" dirty="0"/>
              <a:t> bibliotekos ir funkcijos koreliacijai</a:t>
            </a:r>
          </a:p>
        </p:txBody>
      </p:sp>
      <p:sp>
        <p:nvSpPr>
          <p:cNvPr id="4" name="TextBox 3">
            <a:extLst>
              <a:ext uri="{FF2B5EF4-FFF2-40B4-BE49-F238E27FC236}">
                <a16:creationId xmlns:a16="http://schemas.microsoft.com/office/drawing/2014/main" id="{5E587AE9-0CBA-A483-6B30-C57126200BC2}"/>
              </a:ext>
            </a:extLst>
          </p:cNvPr>
          <p:cNvSpPr txBox="1"/>
          <p:nvPr/>
        </p:nvSpPr>
        <p:spPr>
          <a:xfrm>
            <a:off x="766916" y="1570222"/>
            <a:ext cx="6096000" cy="2585323"/>
          </a:xfrm>
          <a:prstGeom prst="rect">
            <a:avLst/>
          </a:prstGeom>
          <a:noFill/>
        </p:spPr>
        <p:txBody>
          <a:bodyPr wrap="square">
            <a:spAutoFit/>
          </a:bodyPr>
          <a:lstStyle/>
          <a:p>
            <a:r>
              <a:rPr lang="lt-LT" b="1" dirty="0" err="1">
                <a:highlight>
                  <a:srgbClr val="FFFF00"/>
                </a:highlight>
              </a:rPr>
              <a:t>Seaborn</a:t>
            </a:r>
            <a:r>
              <a:rPr lang="lt-LT" b="1" dirty="0">
                <a:highlight>
                  <a:srgbClr val="FFFF00"/>
                </a:highlight>
              </a:rPr>
              <a:t> (</a:t>
            </a:r>
            <a:r>
              <a:rPr lang="lt-LT" b="1" dirty="0" err="1">
                <a:highlight>
                  <a:srgbClr val="FFFF00"/>
                </a:highlight>
              </a:rPr>
              <a:t>seaborn</a:t>
            </a:r>
            <a:r>
              <a:rPr lang="lt-LT" b="1" dirty="0">
                <a:highlight>
                  <a:srgbClr val="FFFF00"/>
                </a:highlight>
              </a:rPr>
              <a:t>)</a:t>
            </a:r>
            <a:br>
              <a:rPr lang="lt-LT" dirty="0"/>
            </a:br>
            <a:r>
              <a:rPr lang="lt-LT" dirty="0"/>
              <a:t>Aukšto lygio vizualizacijos koreliacijai.</a:t>
            </a:r>
          </a:p>
          <a:p>
            <a:r>
              <a:rPr lang="lt-LT" dirty="0"/>
              <a:t>Naudojamos funkcijos:</a:t>
            </a:r>
            <a:br>
              <a:rPr lang="lt-LT" dirty="0"/>
            </a:br>
            <a:r>
              <a:rPr lang="lt-LT" dirty="0" err="1"/>
              <a:t>sns.scatterplot</a:t>
            </a:r>
            <a:r>
              <a:rPr lang="lt-LT" dirty="0"/>
              <a:t>() – ryšio vizualizacija</a:t>
            </a:r>
            <a:br>
              <a:rPr lang="lt-LT" dirty="0"/>
            </a:br>
            <a:r>
              <a:rPr lang="lt-LT" dirty="0" err="1"/>
              <a:t>sns.regplot</a:t>
            </a:r>
            <a:r>
              <a:rPr lang="lt-LT" dirty="0"/>
              <a:t>() – ryšys su regresijos linija</a:t>
            </a:r>
            <a:br>
              <a:rPr lang="lt-LT" dirty="0"/>
            </a:br>
            <a:r>
              <a:rPr lang="lt-LT" dirty="0" err="1"/>
              <a:t>sns.heatmap</a:t>
            </a:r>
            <a:r>
              <a:rPr lang="lt-LT" dirty="0"/>
              <a:t>() – koreliacijos matrica</a:t>
            </a:r>
            <a:br>
              <a:rPr lang="lt-LT" dirty="0"/>
            </a:br>
            <a:r>
              <a:rPr lang="lt-LT" dirty="0" err="1"/>
              <a:t>sns.pairplot</a:t>
            </a:r>
            <a:r>
              <a:rPr lang="lt-LT" dirty="0"/>
              <a:t>() – ryšiai tarp visų kintamųjų porų</a:t>
            </a:r>
          </a:p>
          <a:p>
            <a:r>
              <a:rPr lang="lt-LT" dirty="0"/>
              <a:t>Ypač naudinga paskaitose, nes leidžia </a:t>
            </a:r>
            <a:r>
              <a:rPr lang="lt-LT" b="1" dirty="0"/>
              <a:t>vizualiai pamatyti ryšius ir problemas</a:t>
            </a:r>
            <a:r>
              <a:rPr lang="lt-LT" dirty="0"/>
              <a:t>.</a:t>
            </a:r>
          </a:p>
        </p:txBody>
      </p:sp>
    </p:spTree>
    <p:extLst>
      <p:ext uri="{BB962C8B-B14F-4D97-AF65-F5344CB8AC3E}">
        <p14:creationId xmlns:p14="http://schemas.microsoft.com/office/powerpoint/2010/main" val="25696454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vadinimas 1">
            <a:extLst>
              <a:ext uri="{FF2B5EF4-FFF2-40B4-BE49-F238E27FC236}">
                <a16:creationId xmlns:a16="http://schemas.microsoft.com/office/drawing/2014/main" id="{DF5890F0-FA82-21FA-A75B-4CC4240AC32F}"/>
              </a:ext>
            </a:extLst>
          </p:cNvPr>
          <p:cNvSpPr>
            <a:spLocks noGrp="1"/>
          </p:cNvSpPr>
          <p:nvPr>
            <p:ph type="title"/>
          </p:nvPr>
        </p:nvSpPr>
        <p:spPr/>
        <p:txBody>
          <a:bodyPr/>
          <a:lstStyle/>
          <a:p>
            <a:r>
              <a:rPr lang="lt-LT" dirty="0"/>
              <a:t>Geriausia praktika koreliacijos analizei</a:t>
            </a:r>
          </a:p>
        </p:txBody>
      </p:sp>
      <p:sp>
        <p:nvSpPr>
          <p:cNvPr id="4" name="Rectangle 2">
            <a:extLst>
              <a:ext uri="{FF2B5EF4-FFF2-40B4-BE49-F238E27FC236}">
                <a16:creationId xmlns:a16="http://schemas.microsoft.com/office/drawing/2014/main" id="{530EEB6C-F6AB-5E42-B850-DFEB7B09C8F3}"/>
              </a:ext>
            </a:extLst>
          </p:cNvPr>
          <p:cNvSpPr>
            <a:spLocks noChangeArrowheads="1"/>
          </p:cNvSpPr>
          <p:nvPr/>
        </p:nvSpPr>
        <p:spPr bwMode="auto">
          <a:xfrm>
            <a:off x="2762864" y="3429000"/>
            <a:ext cx="737477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lt-LT" altLang="lt-LT" sz="1800" b="0" i="0" u="none" strike="noStrike" cap="none" normalizeH="0" baseline="0" dirty="0">
                <a:ln>
                  <a:noFill/>
                </a:ln>
                <a:solidFill>
                  <a:schemeClr val="tx1"/>
                </a:solidFill>
                <a:effectLst/>
                <a:latin typeface="Arial" panose="020B0604020202020204" pitchFamily="34" charset="0"/>
              </a:rPr>
              <a:t>Pirma – </a:t>
            </a:r>
            <a:r>
              <a:rPr kumimoji="0" lang="lt-LT" altLang="lt-LT" sz="1800" b="0" i="0" u="none" strike="noStrike" cap="none" normalizeH="0" baseline="0" dirty="0" err="1">
                <a:ln>
                  <a:noFill/>
                </a:ln>
                <a:solidFill>
                  <a:schemeClr val="tx1"/>
                </a:solidFill>
                <a:effectLst/>
                <a:latin typeface="Arial" panose="020B0604020202020204" pitchFamily="34" charset="0"/>
              </a:rPr>
              <a:t>scatter</a:t>
            </a:r>
            <a:r>
              <a:rPr kumimoji="0" lang="lt-LT" altLang="lt-LT" sz="1800" b="0" i="0" u="none" strike="noStrike" cap="none" normalizeH="0" baseline="0" dirty="0">
                <a:ln>
                  <a:noFill/>
                </a:ln>
                <a:solidFill>
                  <a:schemeClr val="tx1"/>
                </a:solidFill>
                <a:effectLst/>
                <a:latin typeface="Arial" panose="020B0604020202020204" pitchFamily="34" charset="0"/>
              </a:rPr>
              <a:t> plot</a:t>
            </a:r>
            <a:br>
              <a:rPr kumimoji="0" lang="lt-LT" altLang="lt-LT" sz="1800" b="0" i="0" u="none" strike="noStrike" cap="none" normalizeH="0" baseline="0" dirty="0">
                <a:ln>
                  <a:noFill/>
                </a:ln>
                <a:solidFill>
                  <a:schemeClr val="tx1"/>
                </a:solidFill>
                <a:effectLst/>
                <a:latin typeface="Arial" panose="020B0604020202020204" pitchFamily="34" charset="0"/>
              </a:rPr>
            </a:br>
            <a:r>
              <a:rPr kumimoji="0" lang="lt-LT" altLang="lt-LT" sz="1800" b="0" i="0" u="none" strike="noStrike" cap="none" normalizeH="0" baseline="0" dirty="0">
                <a:ln>
                  <a:noFill/>
                </a:ln>
                <a:solidFill>
                  <a:schemeClr val="tx1"/>
                </a:solidFill>
                <a:effectLst/>
                <a:latin typeface="Arial" panose="020B0604020202020204" pitchFamily="34" charset="0"/>
              </a:rPr>
              <a:t>Vizualiai įvertinama, ar ryšys yra tiesinis, netiesinis, ar jo išvis nėra.</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lt-LT" altLang="lt-LT" b="0" i="0" u="none" strike="noStrike" cap="none" normalizeH="0" baseline="0" dirty="0">
                <a:ln>
                  <a:noFill/>
                </a:ln>
                <a:solidFill>
                  <a:schemeClr val="tx1"/>
                </a:solidFill>
                <a:effectLst/>
                <a:latin typeface="Arial" panose="020B0604020202020204" pitchFamily="34" charset="0"/>
              </a:rPr>
              <a:t>Tada – tinkamas koreliacijos koeficientas</a:t>
            </a:r>
            <a:br>
              <a:rPr kumimoji="0" lang="lt-LT" altLang="lt-LT" b="0" i="0" u="none" strike="noStrike" cap="none" normalizeH="0" baseline="0" dirty="0">
                <a:ln>
                  <a:noFill/>
                </a:ln>
                <a:solidFill>
                  <a:schemeClr val="tx1"/>
                </a:solidFill>
                <a:effectLst/>
                <a:latin typeface="Arial" panose="020B0604020202020204" pitchFamily="34" charset="0"/>
              </a:rPr>
            </a:br>
            <a:r>
              <a:rPr kumimoji="0" lang="lt-LT" altLang="lt-LT" b="0" i="0" u="none" strike="noStrike" cap="none" normalizeH="0" baseline="0" dirty="0">
                <a:ln>
                  <a:noFill/>
                </a:ln>
                <a:solidFill>
                  <a:schemeClr val="tx1"/>
                </a:solidFill>
                <a:effectLst/>
                <a:latin typeface="Arial" panose="020B0604020202020204" pitchFamily="34" charset="0"/>
              </a:rPr>
              <a:t>Tiesinis ryšys → </a:t>
            </a:r>
            <a:r>
              <a:rPr kumimoji="0" lang="lt-LT" altLang="lt-LT" b="0" i="0" u="none" strike="noStrike" cap="none" normalizeH="0" baseline="0" dirty="0" err="1">
                <a:ln>
                  <a:noFill/>
                </a:ln>
                <a:solidFill>
                  <a:schemeClr val="tx1"/>
                </a:solidFill>
                <a:effectLst/>
                <a:latin typeface="Arial" panose="020B0604020202020204" pitchFamily="34" charset="0"/>
              </a:rPr>
              <a:t>Pearson</a:t>
            </a:r>
            <a:br>
              <a:rPr kumimoji="0" lang="lt-LT" altLang="lt-LT" b="0" i="0" u="none" strike="noStrike" cap="none" normalizeH="0" baseline="0" dirty="0">
                <a:ln>
                  <a:noFill/>
                </a:ln>
                <a:solidFill>
                  <a:schemeClr val="tx1"/>
                </a:solidFill>
                <a:effectLst/>
                <a:latin typeface="Arial" panose="020B0604020202020204" pitchFamily="34" charset="0"/>
              </a:rPr>
            </a:br>
            <a:r>
              <a:rPr kumimoji="0" lang="lt-LT" altLang="lt-LT" b="0" i="0" u="none" strike="noStrike" cap="none" normalizeH="0" baseline="0" dirty="0">
                <a:ln>
                  <a:noFill/>
                </a:ln>
                <a:solidFill>
                  <a:schemeClr val="tx1"/>
                </a:solidFill>
                <a:effectLst/>
                <a:latin typeface="Arial" panose="020B0604020202020204" pitchFamily="34" charset="0"/>
              </a:rPr>
              <a:t>Monotoniškas / su </a:t>
            </a:r>
            <a:r>
              <a:rPr kumimoji="0" lang="lt-LT" altLang="lt-LT" b="0" i="0" u="none" strike="noStrike" cap="none" normalizeH="0" baseline="0" dirty="0" err="1">
                <a:ln>
                  <a:noFill/>
                </a:ln>
                <a:solidFill>
                  <a:schemeClr val="tx1"/>
                </a:solidFill>
                <a:effectLst/>
                <a:latin typeface="Arial" panose="020B0604020202020204" pitchFamily="34" charset="0"/>
              </a:rPr>
              <a:t>outlier</a:t>
            </a:r>
            <a:r>
              <a:rPr kumimoji="0" lang="lt-LT" altLang="lt-LT" b="0" i="0" u="none" strike="noStrike" cap="none" normalizeH="0" baseline="0" dirty="0">
                <a:ln>
                  <a:noFill/>
                </a:ln>
                <a:solidFill>
                  <a:schemeClr val="tx1"/>
                </a:solidFill>
                <a:effectLst/>
                <a:latin typeface="Arial" panose="020B0604020202020204" pitchFamily="34" charset="0"/>
              </a:rPr>
              <a:t> → </a:t>
            </a:r>
            <a:r>
              <a:rPr kumimoji="0" lang="lt-LT" altLang="lt-LT" b="0" i="0" u="none" strike="noStrike" cap="none" normalizeH="0" baseline="0" dirty="0" err="1">
                <a:ln>
                  <a:noFill/>
                </a:ln>
                <a:solidFill>
                  <a:schemeClr val="tx1"/>
                </a:solidFill>
                <a:effectLst/>
                <a:latin typeface="Arial" panose="020B0604020202020204" pitchFamily="34" charset="0"/>
              </a:rPr>
              <a:t>Spearman</a:t>
            </a:r>
            <a:r>
              <a:rPr kumimoji="0" lang="lt-LT" altLang="lt-LT" b="0" i="0" u="none" strike="noStrike" cap="none" normalizeH="0" baseline="0" dirty="0">
                <a:ln>
                  <a:noFill/>
                </a:ln>
                <a:solidFill>
                  <a:schemeClr val="tx1"/>
                </a:solidFill>
                <a:effectLst/>
                <a:latin typeface="Arial" panose="020B0604020202020204" pitchFamily="34" charset="0"/>
              </a:rPr>
              <a:t> arba </a:t>
            </a:r>
            <a:r>
              <a:rPr kumimoji="0" lang="lt-LT" altLang="lt-LT" b="0" i="0" u="none" strike="noStrike" cap="none" normalizeH="0" baseline="0" dirty="0" err="1">
                <a:ln>
                  <a:noFill/>
                </a:ln>
                <a:solidFill>
                  <a:schemeClr val="tx1"/>
                </a:solidFill>
                <a:effectLst/>
                <a:latin typeface="Arial" panose="020B0604020202020204" pitchFamily="34" charset="0"/>
              </a:rPr>
              <a:t>Kendall</a:t>
            </a:r>
            <a:endParaRPr kumimoji="0" lang="lt-LT" altLang="lt-LT"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lt-LT" altLang="lt-LT" sz="1800" b="0" i="0" u="none" strike="noStrike" cap="none" normalizeH="0" baseline="0" dirty="0">
                <a:ln>
                  <a:noFill/>
                </a:ln>
                <a:solidFill>
                  <a:schemeClr val="tx1"/>
                </a:solidFill>
                <a:effectLst/>
                <a:latin typeface="Arial" panose="020B0604020202020204" pitchFamily="34" charset="0"/>
              </a:rPr>
              <a:t>Tik po to – koreliacijos matrica</a:t>
            </a:r>
            <a:br>
              <a:rPr kumimoji="0" lang="lt-LT" altLang="lt-LT" sz="1800" b="0" i="0" u="none" strike="noStrike" cap="none" normalizeH="0" baseline="0" dirty="0">
                <a:ln>
                  <a:noFill/>
                </a:ln>
                <a:solidFill>
                  <a:schemeClr val="tx1"/>
                </a:solidFill>
                <a:effectLst/>
                <a:latin typeface="Arial" panose="020B0604020202020204" pitchFamily="34" charset="0"/>
              </a:rPr>
            </a:br>
            <a:r>
              <a:rPr kumimoji="0" lang="lt-LT" altLang="lt-LT" sz="1800" b="0" i="0" u="none" strike="noStrike" cap="none" normalizeH="0" baseline="0" dirty="0">
                <a:ln>
                  <a:noFill/>
                </a:ln>
                <a:solidFill>
                  <a:schemeClr val="tx1"/>
                </a:solidFill>
                <a:effectLst/>
                <a:latin typeface="Arial" panose="020B0604020202020204" pitchFamily="34" charset="0"/>
              </a:rPr>
              <a:t>Naudojama apžvalgai, bet ne galutinėms išvadoms.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lt-LT" altLang="lt-LT" sz="1800" b="0" i="0" u="none" strike="noStrike" cap="none" normalizeH="0" baseline="0" dirty="0">
                <a:ln>
                  <a:noFill/>
                </a:ln>
                <a:solidFill>
                  <a:schemeClr val="tx1"/>
                </a:solidFill>
                <a:effectLst/>
                <a:latin typeface="Arial" panose="020B0604020202020204" pitchFamily="34" charset="0"/>
              </a:rPr>
              <a:t>Visada nurodyti metodą ir p reikšmę</a:t>
            </a:r>
            <a:br>
              <a:rPr kumimoji="0" lang="lt-LT" altLang="lt-LT" sz="1800" b="0" i="0" u="none" strike="noStrike" cap="none" normalizeH="0" baseline="0" dirty="0">
                <a:ln>
                  <a:noFill/>
                </a:ln>
                <a:solidFill>
                  <a:schemeClr val="tx1"/>
                </a:solidFill>
                <a:effectLst/>
                <a:latin typeface="Arial" panose="020B0604020202020204" pitchFamily="34" charset="0"/>
              </a:rPr>
            </a:br>
            <a:r>
              <a:rPr kumimoji="0" lang="lt-LT" altLang="lt-LT" sz="1800" b="0" i="0" u="none" strike="noStrike" cap="none" normalizeH="0" baseline="0" dirty="0">
                <a:ln>
                  <a:noFill/>
                </a:ln>
                <a:solidFill>
                  <a:schemeClr val="tx1"/>
                </a:solidFill>
                <a:effectLst/>
                <a:latin typeface="Arial" panose="020B0604020202020204" pitchFamily="34" charset="0"/>
              </a:rPr>
              <a:t>„r = 0.6, </a:t>
            </a:r>
            <a:r>
              <a:rPr kumimoji="0" lang="lt-LT" altLang="lt-LT" sz="1800" b="0" i="0" u="none" strike="noStrike" cap="none" normalizeH="0" baseline="0" dirty="0" err="1">
                <a:ln>
                  <a:noFill/>
                </a:ln>
                <a:solidFill>
                  <a:schemeClr val="tx1"/>
                </a:solidFill>
                <a:effectLst/>
                <a:latin typeface="Arial" panose="020B0604020202020204" pitchFamily="34" charset="0"/>
              </a:rPr>
              <a:t>Pearson</a:t>
            </a:r>
            <a:r>
              <a:rPr kumimoji="0" lang="lt-LT" altLang="lt-LT" sz="1800" b="0" i="0" u="none" strike="noStrike" cap="none" normalizeH="0" baseline="0" dirty="0">
                <a:ln>
                  <a:noFill/>
                </a:ln>
                <a:solidFill>
                  <a:schemeClr val="tx1"/>
                </a:solidFill>
                <a:effectLst/>
                <a:latin typeface="Arial" panose="020B0604020202020204" pitchFamily="34" charset="0"/>
              </a:rPr>
              <a:t>, p &lt; 0.01“ yra teisinga analitinė formuluotė.</a:t>
            </a:r>
          </a:p>
        </p:txBody>
      </p:sp>
      <p:sp>
        <p:nvSpPr>
          <p:cNvPr id="6" name="TextBox 5">
            <a:extLst>
              <a:ext uri="{FF2B5EF4-FFF2-40B4-BE49-F238E27FC236}">
                <a16:creationId xmlns:a16="http://schemas.microsoft.com/office/drawing/2014/main" id="{B246FEE2-57A8-65AD-D485-32929B952877}"/>
              </a:ext>
            </a:extLst>
          </p:cNvPr>
          <p:cNvSpPr txBox="1"/>
          <p:nvPr/>
        </p:nvSpPr>
        <p:spPr>
          <a:xfrm>
            <a:off x="3313471" y="1966903"/>
            <a:ext cx="6096000" cy="923330"/>
          </a:xfrm>
          <a:prstGeom prst="rect">
            <a:avLst/>
          </a:prstGeom>
          <a:noFill/>
        </p:spPr>
        <p:txBody>
          <a:bodyPr wrap="square">
            <a:spAutoFit/>
          </a:bodyPr>
          <a:lstStyle/>
          <a:p>
            <a:r>
              <a:rPr lang="lt-LT" dirty="0"/>
              <a:t>Pandas – greita apžvalga.</a:t>
            </a:r>
            <a:br>
              <a:rPr lang="lt-LT" dirty="0"/>
            </a:br>
            <a:r>
              <a:rPr lang="lt-LT" dirty="0" err="1"/>
              <a:t>SciPy</a:t>
            </a:r>
            <a:r>
              <a:rPr lang="lt-LT" dirty="0"/>
              <a:t> – statistiškai teisingas skaičiavimas.</a:t>
            </a:r>
            <a:br>
              <a:rPr lang="lt-LT" dirty="0"/>
            </a:br>
            <a:r>
              <a:rPr lang="lt-LT" dirty="0" err="1"/>
              <a:t>Matplotlib</a:t>
            </a:r>
            <a:r>
              <a:rPr lang="lt-LT" dirty="0"/>
              <a:t> / </a:t>
            </a:r>
            <a:r>
              <a:rPr lang="lt-LT" dirty="0" err="1"/>
              <a:t>Seaborn</a:t>
            </a:r>
            <a:r>
              <a:rPr lang="lt-LT" dirty="0"/>
              <a:t> – suprasti, ką rodo skaičiai.</a:t>
            </a:r>
          </a:p>
        </p:txBody>
      </p:sp>
    </p:spTree>
    <p:extLst>
      <p:ext uri="{BB962C8B-B14F-4D97-AF65-F5344CB8AC3E}">
        <p14:creationId xmlns:p14="http://schemas.microsoft.com/office/powerpoint/2010/main" val="3944316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as" ma:contentTypeID="0x010100753C69E30CD2E346B0231A1827D4E953" ma:contentTypeVersion="32" ma:contentTypeDescription="Kurkite naują dokumentą." ma:contentTypeScope="" ma:versionID="809ac949904d02c312bdad0800d9e5ec">
  <xsd:schema xmlns:xsd="http://www.w3.org/2001/XMLSchema" xmlns:xs="http://www.w3.org/2001/XMLSchema" xmlns:p="http://schemas.microsoft.com/office/2006/metadata/properties" xmlns:ns2="662e3587-765d-4918-9d92-5b93275042d2" xmlns:ns3="eb74e56a-683e-4ac4-9917-2810b22b5cab" targetNamespace="http://schemas.microsoft.com/office/2006/metadata/properties" ma:root="true" ma:fieldsID="7810e61893e78777e4b537f36b79e890" ns2:_="" ns3:_="">
    <xsd:import namespace="662e3587-765d-4918-9d92-5b93275042d2"/>
    <xsd:import namespace="eb74e56a-683e-4ac4-9917-2810b22b5ca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2e3587-765d-4918-9d92-5b93275042d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Vaizdų žymės" ma:readOnly="false" ma:fieldId="{5cf76f15-5ced-4ddc-b409-7134ff3c332f}" ma:taxonomyMulti="true" ma:sspId="170f77d6-0e01-4d43-ba48-7d2f3bc0a531"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NotebookType" ma:index="19" nillable="true" ma:displayName="Notebook Type" ma:internalName="NotebookType">
      <xsd:simpleType>
        <xsd:restriction base="dms:Text"/>
      </xsd:simpleType>
    </xsd:element>
    <xsd:element name="FolderType" ma:index="20" nillable="true" ma:displayName="Folder Type" ma:internalName="FolderType">
      <xsd:simpleType>
        <xsd:restriction base="dms:Text"/>
      </xsd:simpleType>
    </xsd:element>
    <xsd:element name="CultureName" ma:index="21" nillable="true" ma:displayName="Culture Name" ma:internalName="CultureName">
      <xsd:simpleType>
        <xsd:restriction base="dms:Text"/>
      </xsd:simpleType>
    </xsd:element>
    <xsd:element name="AppVersion" ma:index="22" nillable="true" ma:displayName="App Version" ma:internalName="AppVersion">
      <xsd:simpleType>
        <xsd:restriction base="dms:Text"/>
      </xsd:simpleType>
    </xsd:element>
    <xsd:element name="TeamsChannelId" ma:index="23" nillable="true" ma:displayName="Teams Channel Id" ma:internalName="TeamsChannelId">
      <xsd:simpleType>
        <xsd:restriction base="dms:Text"/>
      </xsd:simpleType>
    </xsd:element>
    <xsd:element name="Owner" ma:index="24"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5" nillable="true" ma:displayName="Math Settings" ma:internalName="Math_Settings">
      <xsd:simpleType>
        <xsd:restriction base="dms:Text"/>
      </xsd:simpleType>
    </xsd:element>
    <xsd:element name="DefaultSectionNames" ma:index="26" nillable="true" ma:displayName="Default Section Names" ma:internalName="DefaultSectionNames">
      <xsd:simpleType>
        <xsd:restriction base="dms:Note">
          <xsd:maxLength value="255"/>
        </xsd:restriction>
      </xsd:simpleType>
    </xsd:element>
    <xsd:element name="Templates" ma:index="27" nillable="true" ma:displayName="Templates" ma:internalName="Templates">
      <xsd:simpleType>
        <xsd:restriction base="dms:Note">
          <xsd:maxLength value="255"/>
        </xsd:restriction>
      </xsd:simpleType>
    </xsd:element>
    <xsd:element name="Teachers" ma:index="28"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9"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30"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31" nillable="true" ma:displayName="Distribution Groups" ma:internalName="Distribution_Groups">
      <xsd:simpleType>
        <xsd:restriction base="dms:Note">
          <xsd:maxLength value="255"/>
        </xsd:restriction>
      </xsd:simpleType>
    </xsd:element>
    <xsd:element name="LMS_Mappings" ma:index="32" nillable="true" ma:displayName="LMS Mappings" ma:internalName="LMS_Mappings">
      <xsd:simpleType>
        <xsd:restriction base="dms:Note">
          <xsd:maxLength value="255"/>
        </xsd:restriction>
      </xsd:simpleType>
    </xsd:element>
    <xsd:element name="Invited_Teachers" ma:index="33" nillable="true" ma:displayName="Invited Teachers" ma:internalName="Invited_Teachers">
      <xsd:simpleType>
        <xsd:restriction base="dms:Note">
          <xsd:maxLength value="255"/>
        </xsd:restriction>
      </xsd:simpleType>
    </xsd:element>
    <xsd:element name="Invited_Students" ma:index="34" nillable="true" ma:displayName="Invited Students" ma:internalName="Invited_Students">
      <xsd:simpleType>
        <xsd:restriction base="dms:Note">
          <xsd:maxLength value="255"/>
        </xsd:restriction>
      </xsd:simpleType>
    </xsd:element>
    <xsd:element name="Self_Registration_Enabled" ma:index="35" nillable="true" ma:displayName="Self Registration Enabled" ma:internalName="Self_Registration_Enabled">
      <xsd:simpleType>
        <xsd:restriction base="dms:Boolean"/>
      </xsd:simpleType>
    </xsd:element>
    <xsd:element name="Has_Teacher_Only_SectionGroup" ma:index="36" nillable="true" ma:displayName="Has Teacher Only SectionGroup" ma:internalName="Has_Teacher_Only_SectionGroup">
      <xsd:simpleType>
        <xsd:restriction base="dms:Boolean"/>
      </xsd:simpleType>
    </xsd:element>
    <xsd:element name="Is_Collaboration_Space_Locked" ma:index="37" nillable="true" ma:displayName="Is Collaboration Space Locked" ma:internalName="Is_Collaboration_Space_Locked">
      <xsd:simpleType>
        <xsd:restriction base="dms:Boolean"/>
      </xsd:simpleType>
    </xsd:element>
    <xsd:element name="IsNotebookLocked" ma:index="38" nillable="true" ma:displayName="Is Notebook Locked" ma:internalName="IsNotebookLocked">
      <xsd:simpleType>
        <xsd:restriction base="dms:Boolean"/>
      </xsd:simpleType>
    </xsd:element>
    <xsd:element name="Teams_Channel_Section_Location" ma:index="39" nillable="true" ma:displayName="Teams Channel Section Location" ma:internalName="Teams_Channel_Section_Loca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b74e56a-683e-4ac4-9917-2810b22b5ca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668e2cc-9ecf-45c3-8926-07f8ce6bf3d7}" ma:internalName="TaxCatchAll" ma:showField="CatchAllData" ma:web="eb74e56a-683e-4ac4-9917-2810b22b5ca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urinio tipas"/>
        <xsd:element ref="dc:title" minOccurs="0" maxOccurs="1" ma:index="4" ma:displayName="Antraštė"/>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b74e56a-683e-4ac4-9917-2810b22b5cab" xsi:nil="true"/>
    <lcf76f155ced4ddcb4097134ff3c332f xmlns="662e3587-765d-4918-9d92-5b93275042d2">
      <Terms xmlns="http://schemas.microsoft.com/office/infopath/2007/PartnerControls"/>
    </lcf76f155ced4ddcb4097134ff3c332f>
    <Invited_Teachers xmlns="662e3587-765d-4918-9d92-5b93275042d2" xsi:nil="true"/>
    <DefaultSectionNames xmlns="662e3587-765d-4918-9d92-5b93275042d2" xsi:nil="true"/>
    <Teams_Channel_Section_Location xmlns="662e3587-765d-4918-9d92-5b93275042d2" xsi:nil="true"/>
    <Templates xmlns="662e3587-765d-4918-9d92-5b93275042d2" xsi:nil="true"/>
    <NotebookType xmlns="662e3587-765d-4918-9d92-5b93275042d2" xsi:nil="true"/>
    <Distribution_Groups xmlns="662e3587-765d-4918-9d92-5b93275042d2" xsi:nil="true"/>
    <TeamsChannelId xmlns="662e3587-765d-4918-9d92-5b93275042d2" xsi:nil="true"/>
    <Is_Collaboration_Space_Locked xmlns="662e3587-765d-4918-9d92-5b93275042d2" xsi:nil="true"/>
    <Owner xmlns="662e3587-765d-4918-9d92-5b93275042d2">
      <UserInfo>
        <DisplayName/>
        <AccountId xsi:nil="true"/>
        <AccountType/>
      </UserInfo>
    </Owner>
    <LMS_Mappings xmlns="662e3587-765d-4918-9d92-5b93275042d2" xsi:nil="true"/>
    <Invited_Students xmlns="662e3587-765d-4918-9d92-5b93275042d2" xsi:nil="true"/>
    <FolderType xmlns="662e3587-765d-4918-9d92-5b93275042d2" xsi:nil="true"/>
    <CultureName xmlns="662e3587-765d-4918-9d92-5b93275042d2" xsi:nil="true"/>
    <IsNotebookLocked xmlns="662e3587-765d-4918-9d92-5b93275042d2" xsi:nil="true"/>
    <Math_Settings xmlns="662e3587-765d-4918-9d92-5b93275042d2" xsi:nil="true"/>
    <Teachers xmlns="662e3587-765d-4918-9d92-5b93275042d2">
      <UserInfo>
        <DisplayName/>
        <AccountId xsi:nil="true"/>
        <AccountType/>
      </UserInfo>
    </Teachers>
    <Student_Groups xmlns="662e3587-765d-4918-9d92-5b93275042d2">
      <UserInfo>
        <DisplayName/>
        <AccountId xsi:nil="true"/>
        <AccountType/>
      </UserInfo>
    </Student_Groups>
    <AppVersion xmlns="662e3587-765d-4918-9d92-5b93275042d2" xsi:nil="true"/>
    <Self_Registration_Enabled xmlns="662e3587-765d-4918-9d92-5b93275042d2" xsi:nil="true"/>
    <Has_Teacher_Only_SectionGroup xmlns="662e3587-765d-4918-9d92-5b93275042d2" xsi:nil="true"/>
    <Students xmlns="662e3587-765d-4918-9d92-5b93275042d2">
      <UserInfo>
        <DisplayName/>
        <AccountId xsi:nil="true"/>
        <AccountType/>
      </UserInfo>
    </Students>
  </documentManagement>
</p:properties>
</file>

<file path=customXml/itemProps1.xml><?xml version="1.0" encoding="utf-8"?>
<ds:datastoreItem xmlns:ds="http://schemas.openxmlformats.org/officeDocument/2006/customXml" ds:itemID="{C6FCCC9A-BEBB-4D36-8FEC-61F483471610}"/>
</file>

<file path=customXml/itemProps2.xml><?xml version="1.0" encoding="utf-8"?>
<ds:datastoreItem xmlns:ds="http://schemas.openxmlformats.org/officeDocument/2006/customXml" ds:itemID="{94D5206A-D141-492D-8FE8-4FE9E1418332}">
  <ds:schemaRefs>
    <ds:schemaRef ds:uri="http://schemas.microsoft.com/sharepoint/v3/contenttype/forms"/>
  </ds:schemaRefs>
</ds:datastoreItem>
</file>

<file path=customXml/itemProps3.xml><?xml version="1.0" encoding="utf-8"?>
<ds:datastoreItem xmlns:ds="http://schemas.openxmlformats.org/officeDocument/2006/customXml" ds:itemID="{0A9B9D17-96E9-46C9-9F0F-CFC1E7CCDCB0}">
  <ds:schemaRefs>
    <ds:schemaRef ds:uri="http://schemas.microsoft.com/office/2006/metadata/properties"/>
    <ds:schemaRef ds:uri="http://schemas.microsoft.com/office/infopath/2007/PartnerControls"/>
    <ds:schemaRef ds:uri="0e295234-659a-4bb3-b142-918c24d5f8e7"/>
    <ds:schemaRef ds:uri="4ae02279-fc18-408e-b177-1a5508db0a6c"/>
  </ds:schemaRefs>
</ds:datastoreItem>
</file>

<file path=docProps/app.xml><?xml version="1.0" encoding="utf-8"?>
<Properties xmlns="http://schemas.openxmlformats.org/officeDocument/2006/extended-properties" xmlns:vt="http://schemas.openxmlformats.org/officeDocument/2006/docPropsVTypes">
  <TotalTime>2313</TotalTime>
  <Words>4163</Words>
  <Application>Microsoft Office PowerPoint</Application>
  <PresentationFormat>Plačiaekranė</PresentationFormat>
  <Paragraphs>295</Paragraphs>
  <Slides>43</Slides>
  <Notes>6</Notes>
  <HiddenSlides>0</HiddenSlides>
  <MMClips>0</MMClips>
  <ScaleCrop>false</ScaleCrop>
  <HeadingPairs>
    <vt:vector size="6" baseType="variant">
      <vt:variant>
        <vt:lpstr>Naudojami šriftai</vt:lpstr>
      </vt:variant>
      <vt:variant>
        <vt:i4>5</vt:i4>
      </vt:variant>
      <vt:variant>
        <vt:lpstr>Tema</vt:lpstr>
      </vt:variant>
      <vt:variant>
        <vt:i4>1</vt:i4>
      </vt:variant>
      <vt:variant>
        <vt:lpstr>Skaidrių pavadinimai</vt:lpstr>
      </vt:variant>
      <vt:variant>
        <vt:i4>43</vt:i4>
      </vt:variant>
    </vt:vector>
  </HeadingPairs>
  <TitlesOfParts>
    <vt:vector size="49" baseType="lpstr">
      <vt:lpstr>Aptos</vt:lpstr>
      <vt:lpstr>Aptos Display</vt:lpstr>
      <vt:lpstr>Aptos Narrow</vt:lpstr>
      <vt:lpstr>Arial</vt:lpstr>
      <vt:lpstr>Courier New</vt:lpstr>
      <vt:lpstr>Office Theme</vt:lpstr>
      <vt:lpstr>Tikimybės ir tikimybiniai skirstiniai</vt:lpstr>
      <vt:lpstr>Tikimybės </vt:lpstr>
      <vt:lpstr>Pagrindinės tikimybės</vt:lpstr>
      <vt:lpstr>Imtis ir populiacija</vt:lpstr>
      <vt:lpstr>Atrankos metodai</vt:lpstr>
      <vt:lpstr>Verslo praktika</vt:lpstr>
      <vt:lpstr>Statistinė paklaida</vt:lpstr>
      <vt:lpstr>Standartinė paklaida (Standard Error).</vt:lpstr>
      <vt:lpstr>Tikimybinis skirstinys</vt:lpstr>
      <vt:lpstr>Tikimybinis skirstinys</vt:lpstr>
      <vt:lpstr>Normalusis skirstinys</vt:lpstr>
      <vt:lpstr>Studento t skirstinys</vt:lpstr>
      <vt:lpstr>Daugiau skirstinių</vt:lpstr>
      <vt:lpstr>Daugiau skirstinių</vt:lpstr>
      <vt:lpstr>Centrinės Ribos Teorema (CLT)</vt:lpstr>
      <vt:lpstr>Kada CLT veikia? (Sąlygos)</vt:lpstr>
      <vt:lpstr>Python bibliotekos ir funkcijos tikimybių ir tikimybinių skirstinių analizei </vt:lpstr>
      <vt:lpstr>Python bibliotekos ir funkcijos tikimybių ir tikimybinių skirstinių analizei </vt:lpstr>
      <vt:lpstr>Python bibliotekos ir funkcijos tikimybių ir tikimybinių skirstinių analizei </vt:lpstr>
      <vt:lpstr>Python bibliotekos ir funkcijos tikimybių ir tikimybinių skirstinių analizei </vt:lpstr>
      <vt:lpstr>Koreliacinė analizė</vt:lpstr>
      <vt:lpstr>Kas yra koreliacija?</vt:lpstr>
      <vt:lpstr>Correlation != Causation</vt:lpstr>
      <vt:lpstr>Imties normalumo testai</vt:lpstr>
      <vt:lpstr>p value</vt:lpstr>
      <vt:lpstr>Shapiro–Wilk testas</vt:lpstr>
      <vt:lpstr>D’Agostino-Pearson testas</vt:lpstr>
      <vt:lpstr>Anderson-Darling testas</vt:lpstr>
      <vt:lpstr>Koreliacijos koeficientų tipai</vt:lpstr>
      <vt:lpstr>Koreliacijos koeficientų tipai</vt:lpstr>
      <vt:lpstr>Koreliacijos koeficientų tipai</vt:lpstr>
      <vt:lpstr>Koreliacijos koeficientų tipai</vt:lpstr>
      <vt:lpstr>Kaip išsirinkti kokį koeficientą naudoti</vt:lpstr>
      <vt:lpstr>Kaip interpretuoti koreliacijos stiprumą (bendros gairės)</vt:lpstr>
      <vt:lpstr>p reikšmė koreliacijoje</vt:lpstr>
      <vt:lpstr>R² (determinacijos koeficientas)</vt:lpstr>
      <vt:lpstr>„Auksinė taisyklė“</vt:lpstr>
      <vt:lpstr>Python bibliotekos ir funkcijos koreliacijai</vt:lpstr>
      <vt:lpstr>Python bibliotekos ir funkcijos koreliacijai</vt:lpstr>
      <vt:lpstr>Python bibliotekos ir funkcijos koreliacijai</vt:lpstr>
      <vt:lpstr>Python bibliotekos ir funkcijos koreliacijai</vt:lpstr>
      <vt:lpstr>Python bibliotekos ir funkcijos koreliacijai</vt:lpstr>
      <vt:lpstr>Geriausia praktika koreliacijos analizei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Martynas Jokubaitis</dc:creator>
  <cp:lastModifiedBy>Žydrūnė Kelpšaitė</cp:lastModifiedBy>
  <cp:revision>10</cp:revision>
  <dcterms:created xsi:type="dcterms:W3CDTF">2025-03-17T17:05:45Z</dcterms:created>
  <dcterms:modified xsi:type="dcterms:W3CDTF">2026-02-11T12:33:05Z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0x010100753C69E30CD2E346B0231A1827D4E953</vt:lpwstr>
  </property>
</Properties>
</file>