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3" r:id="rId4"/>
  </p:sldMasterIdLst>
  <p:notesMasterIdLst>
    <p:notesMasterId r:id="rId29"/>
  </p:notesMasterIdLst>
  <p:sldIdLst>
    <p:sldId id="279" r:id="rId5"/>
    <p:sldId id="257" r:id="rId6"/>
    <p:sldId id="258" r:id="rId7"/>
    <p:sldId id="280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7559675" cy="10691813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525" autoAdjust="0"/>
  </p:normalViewPr>
  <p:slideViewPr>
    <p:cSldViewPr snapToGrid="0">
      <p:cViewPr varScale="1">
        <p:scale>
          <a:sx n="93" d="100"/>
          <a:sy n="93" d="100"/>
        </p:scale>
        <p:origin x="123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custSel addSld delSld modSld">
      <pc:chgData name="Žydrūnė Kelpšaitė" userId="e943768126acec1d" providerId="LiveId" clId="{31712FD7-FA85-48BA-9D35-5382388CFC74}" dt="2026-01-22T13:38:52.583" v="86" actId="1076"/>
      <pc:docMkLst>
        <pc:docMk/>
      </pc:docMkLst>
      <pc:sldChg chg="modSp mod">
        <pc:chgData name="Žydrūnė Kelpšaitė" userId="e943768126acec1d" providerId="LiveId" clId="{31712FD7-FA85-48BA-9D35-5382388CFC74}" dt="2026-01-22T13:38:52.583" v="86" actId="1076"/>
        <pc:sldMkLst>
          <pc:docMk/>
          <pc:sldMk cId="0" sldId="269"/>
        </pc:sldMkLst>
        <pc:spChg chg="mod">
          <ac:chgData name="Žydrūnė Kelpšaitė" userId="e943768126acec1d" providerId="LiveId" clId="{31712FD7-FA85-48BA-9D35-5382388CFC74}" dt="2026-01-05T09:17:24.909" v="75" actId="20577"/>
          <ac:spMkLst>
            <pc:docMk/>
            <pc:sldMk cId="0" sldId="269"/>
            <ac:spMk id="322" creationId="{00000000-0000-0000-0000-000000000000}"/>
          </ac:spMkLst>
        </pc:spChg>
        <pc:picChg chg="mod">
          <ac:chgData name="Žydrūnė Kelpšaitė" userId="e943768126acec1d" providerId="LiveId" clId="{31712FD7-FA85-48BA-9D35-5382388CFC74}" dt="2026-01-22T13:38:52.583" v="86" actId="1076"/>
          <ac:picMkLst>
            <pc:docMk/>
            <pc:sldMk cId="0" sldId="269"/>
            <ac:picMk id="321" creationId="{00000000-0000-0000-0000-000000000000}"/>
          </ac:picMkLst>
        </pc:picChg>
      </pc:sldChg>
      <pc:sldChg chg="modSp mod">
        <pc:chgData name="Žydrūnė Kelpšaitė" userId="e943768126acec1d" providerId="LiveId" clId="{31712FD7-FA85-48BA-9D35-5382388CFC74}" dt="2026-01-05T09:18:08.001" v="76" actId="1076"/>
        <pc:sldMkLst>
          <pc:docMk/>
          <pc:sldMk cId="0" sldId="270"/>
        </pc:sldMkLst>
        <pc:picChg chg="mod">
          <ac:chgData name="Žydrūnė Kelpšaitė" userId="e943768126acec1d" providerId="LiveId" clId="{31712FD7-FA85-48BA-9D35-5382388CFC74}" dt="2026-01-05T09:18:08.001" v="76" actId="1076"/>
          <ac:picMkLst>
            <pc:docMk/>
            <pc:sldMk cId="0" sldId="270"/>
            <ac:picMk id="324" creationId="{00000000-0000-0000-0000-000000000000}"/>
          </ac:picMkLst>
        </pc:picChg>
      </pc:sldChg>
      <pc:sldChg chg="modSp mod">
        <pc:chgData name="Žydrūnė Kelpšaitė" userId="e943768126acec1d" providerId="LiveId" clId="{31712FD7-FA85-48BA-9D35-5382388CFC74}" dt="2026-01-22T12:50:40.416" v="85" actId="20577"/>
        <pc:sldMkLst>
          <pc:docMk/>
          <pc:sldMk cId="0" sldId="279"/>
        </pc:sldMkLst>
        <pc:spChg chg="mod">
          <ac:chgData name="Žydrūnė Kelpšaitė" userId="e943768126acec1d" providerId="LiveId" clId="{31712FD7-FA85-48BA-9D35-5382388CFC74}" dt="2026-01-22T12:50:32.640" v="83" actId="20577"/>
          <ac:spMkLst>
            <pc:docMk/>
            <pc:sldMk cId="0" sldId="279"/>
            <ac:spMk id="260" creationId="{00000000-0000-0000-0000-000000000000}"/>
          </ac:spMkLst>
        </pc:spChg>
        <pc:spChg chg="mod">
          <ac:chgData name="Žydrūnė Kelpšaitė" userId="e943768126acec1d" providerId="LiveId" clId="{31712FD7-FA85-48BA-9D35-5382388CFC74}" dt="2026-01-22T12:50:40.416" v="85" actId="20577"/>
          <ac:spMkLst>
            <pc:docMk/>
            <pc:sldMk cId="0" sldId="279"/>
            <ac:spMk id="262" creationId="{00000000-0000-0000-0000-000000000000}"/>
          </ac:spMkLst>
        </pc:spChg>
      </pc:sldChg>
      <pc:sldChg chg="addSp modSp new mod">
        <pc:chgData name="Žydrūnė Kelpšaitė" userId="e943768126acec1d" providerId="LiveId" clId="{31712FD7-FA85-48BA-9D35-5382388CFC74}" dt="2026-01-05T07:12:35.995" v="5" actId="962"/>
        <pc:sldMkLst>
          <pc:docMk/>
          <pc:sldMk cId="3555587643" sldId="280"/>
        </pc:sldMkLst>
        <pc:picChg chg="add mod">
          <ac:chgData name="Žydrūnė Kelpšaitė" userId="e943768126acec1d" providerId="LiveId" clId="{31712FD7-FA85-48BA-9D35-5382388CFC74}" dt="2026-01-05T07:12:35.995" v="5" actId="962"/>
          <ac:picMkLst>
            <pc:docMk/>
            <pc:sldMk cId="3555587643" sldId="280"/>
            <ac:picMk id="3" creationId="{E0BF4174-6719-035A-4404-D78619B24B6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4E83D-5EE6-4F6F-A0A1-3E607611B5C2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3A33B-E2E2-4037-B860-D694E8D27CA9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143505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0 – nepirko</a:t>
            </a:r>
          </a:p>
          <a:p>
            <a:r>
              <a:rPr lang="lt-LT" dirty="0"/>
              <a:t>1 – pirko</a:t>
            </a:r>
          </a:p>
          <a:p>
            <a:r>
              <a:rPr lang="en-US" dirty="0"/>
              <a:t>Kaip flag – True = 1, False = 0</a:t>
            </a:r>
            <a:endParaRPr lang="lt-L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3A33B-E2E2-4037-B860-D694E8D27CA9}" type="slidenum">
              <a:rPr lang="lt-LT" smtClean="0"/>
              <a:t>3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025916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t-LT" dirty="0"/>
              <a:t>Import datetime </a:t>
            </a:r>
          </a:p>
          <a:p>
            <a:r>
              <a:rPr lang="lt-LT" dirty="0"/>
              <a:t>biblioteka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3A33B-E2E2-4037-B860-D694E8D27CA9}" type="slidenum">
              <a:rPr lang="lt-LT" smtClean="0"/>
              <a:t>7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73495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5C9C-218F-D214-4400-8D2608EED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93488-9733-A1A5-DA99-297113CB4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705FE-5E7A-E6D2-C025-CB0648F0C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ADFA4-3AA4-9A60-82B4-620518F71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767DF-3B66-3DDA-37E2-CA3227FE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5F0228F1-A421-4308-ADA1-EE57DBE447A2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939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F80D6-585C-5B14-C2B2-133D441A8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5AEB9-E520-68D0-22B2-4F7BAF9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1630A-65B4-EF59-78D4-D4212E370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E8CC1-7A99-32E6-21C3-CD802FD7D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118EA-7726-F09D-4841-A6E1F3C4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5F0228F1-A421-4308-ADA1-EE57DBE447A2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663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E2A75-842E-F3AF-3CA0-2CD318C79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48E68-1676-BAF2-D097-5487FD5B4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88E10-5538-1B4D-F2B8-9D4F4BB27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2E23-3DDE-55FC-12AE-710FD1717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67E96-2464-096F-6F52-FE1176D2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5F0228F1-A421-4308-ADA1-EE57DBE447A2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5233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5D07-666F-1D9B-39C3-9929E6AC1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9B2A-06D8-61D2-BB8E-9546B97FA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E2FFB-E105-6EAE-239E-CD87B2FE4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A409B-99A6-3826-8BA2-2EED05F8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4181D-3475-FC7F-0740-69CD0BE5C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3ACBF-93E5-15B0-EA86-47DEF1BF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5F0228F1-A421-4308-ADA1-EE57DBE447A2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211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15CD9-5B36-96DB-2DFC-67FC12CD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FF1D0-8540-E0DB-3BAF-F7F3899D3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9FE9B-C34D-0B36-6FFE-7B359BDA2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1933E-6B77-5721-BDCE-915CC2E2C4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12CC64-9082-4801-E6E0-9A82B97C59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19BA2-1CC6-62B8-60C6-7E3A2630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36F258-5B7B-04DF-85DB-B8B7F9C5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3273A-B894-1EC9-6112-73B2C974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5F0228F1-A421-4308-ADA1-EE57DBE447A2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515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AF84-DF8C-9F5E-EF02-5443A9F98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45D43C-8C3B-13BB-3174-58C45237B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70F7F-995C-D297-6837-B507C653F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2F59D-F413-3057-A2B7-64B0860E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D39F1-729A-4289-8F18-E13615DA9D5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82299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3552F-67CC-C290-3888-AB85BBB75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570E41-B693-2B89-14F5-B5FF76C1C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5B238-1216-913E-B614-C8BBEFEF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5F0228F1-A421-4308-ADA1-EE57DBE447A2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598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68A10-0D26-8CC5-CF06-D903B8056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13E2D-EB33-B50B-F160-7D4FB405A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83845-1BE1-25E9-97CA-E0EB19E4B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11C2B-469B-0BC6-8A79-43F8EE10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1A386-64DD-510D-4AA0-CBBD7E86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B858F-4E72-BBDE-1DE7-A724F7D5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5F0228F1-A421-4308-ADA1-EE57DBE447A2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383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DEAB-18EA-E1C5-8476-67F6957C6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F9C3F0-83A6-4059-FD56-2734CBFF3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C42A5-8512-744C-2439-37EDD0E08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3120A-3ED4-B60D-069B-42CFFB8E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78D17-3757-8A52-7982-8E4C33A5B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930E6-0B21-3A9C-1AE4-CACF662D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5F0228F1-A421-4308-ADA1-EE57DBE447A2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19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2F439-C26E-8DA7-FEDB-9D2136637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260BD-3751-B071-312E-0108689E5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7FDF0-DC56-C478-4654-FCE9AA57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46BB9-E10B-5744-B900-1CEC23111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256D1-E65D-988B-802B-1E79237D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5F0228F1-A421-4308-ADA1-EE57DBE447A2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91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F9D123-91BB-B987-7773-74B0083A88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0DF00-2A14-7760-C725-1D520A966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2F832-AE60-10DC-1C20-82A49260E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D87EB-EA59-D272-E86E-F6B1C6764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2CC01-2A49-98A9-554F-23DD1601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5F0228F1-A421-4308-ADA1-EE57DBE447A2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7495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80240" y="5032080"/>
            <a:ext cx="2343240" cy="13647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lt-L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480240" y="459360"/>
            <a:ext cx="5615280" cy="4561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lt-LT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5495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80240" y="5032080"/>
            <a:ext cx="2343240" cy="13647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lt-L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80240" y="460800"/>
            <a:ext cx="5615280" cy="453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932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628490-F921-4978-D6FF-59BD1ED62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t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53216-7286-A60D-76CE-E24866007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t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7211B-56E9-0D1F-EE9D-A5167DBFD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B6037-37EC-4B08-A6CB-61932A68902B}" type="datetimeFigureOut">
              <a:rPr lang="lt-LT" smtClean="0"/>
              <a:t>2026-01-22</a:t>
            </a:fld>
            <a:endParaRPr lang="lt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054CE-E1A9-7090-50A4-FDEEEB6C3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48DDC-1B3E-BACA-478B-B99BE2EF5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5F0228F1-A421-4308-ADA1-EE57DBE447A2}" type="slidenum">
              <a:rPr lang="lt-LT" sz="1600" b="1" strike="noStrike" spc="-1" smtClean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lt-LT" sz="16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401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datetime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ython_datetime.asp" TargetMode="External"/><Relationship Id="rId2" Type="http://schemas.openxmlformats.org/officeDocument/2006/relationships/hyperlink" Target="https://docs.python.org/3/library/exceptions.html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w3schools.com/python/python_booleans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Shape 1"/>
          <p:cNvSpPr txBox="1"/>
          <p:nvPr/>
        </p:nvSpPr>
        <p:spPr>
          <a:xfrm>
            <a:off x="1959429" y="590620"/>
            <a:ext cx="8608718" cy="23871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lt-LT" sz="4400" b="1" spc="-1" dirty="0">
                <a:solidFill>
                  <a:srgbClr val="000000"/>
                </a:solidFill>
                <a:latin typeface="Arial"/>
              </a:rPr>
              <a:t>Python Intro: </a:t>
            </a:r>
            <a:r>
              <a:rPr lang="lt-LT" sz="4400" b="1" spc="-1" dirty="0">
                <a:solidFill>
                  <a:srgbClr val="000000"/>
                </a:solidFill>
                <a:latin typeface="Arial"/>
                <a:ea typeface="Arial"/>
              </a:rPr>
              <a:t>Boolean, d</a:t>
            </a:r>
            <a:r>
              <a:rPr lang="en-US" sz="4400" b="1" spc="-1" dirty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lt-LT" sz="4400" b="1" spc="-1" dirty="0">
                <a:solidFill>
                  <a:srgbClr val="000000"/>
                </a:solidFill>
                <a:latin typeface="Arial"/>
                <a:ea typeface="Arial"/>
              </a:rPr>
              <a:t>t</a:t>
            </a:r>
            <a:r>
              <a:rPr lang="en-US" sz="4400" b="1" spc="-1" dirty="0">
                <a:solidFill>
                  <a:srgbClr val="000000"/>
                </a:solidFill>
                <a:latin typeface="Arial"/>
                <a:ea typeface="Arial"/>
              </a:rPr>
              <a:t>es</a:t>
            </a:r>
            <a:r>
              <a:rPr lang="lt-LT" sz="4400" b="1" spc="-1" dirty="0">
                <a:solidFill>
                  <a:srgbClr val="000000"/>
                </a:solidFill>
                <a:latin typeface="Arial"/>
                <a:ea typeface="Arial"/>
              </a:rPr>
              <a:t>, laikas, išimtys</a:t>
            </a:r>
            <a:endParaRPr lang="lt-LT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495720" y="5930280"/>
            <a:ext cx="2267280" cy="3371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lt-LT" sz="1600" b="1" spc="-1" dirty="0">
                <a:solidFill>
                  <a:srgbClr val="000000"/>
                </a:solidFill>
                <a:latin typeface="Arial"/>
              </a:rPr>
              <a:t>202</a:t>
            </a:r>
            <a:r>
              <a:rPr lang="en-US" sz="1600" b="1" spc="-1" dirty="0">
                <a:solidFill>
                  <a:srgbClr val="000000"/>
                </a:solidFill>
                <a:latin typeface="Arial"/>
              </a:rPr>
              <a:t>6</a:t>
            </a:r>
            <a:endParaRPr lang="lt-LT" sz="1600" b="0" strike="noStrike" spc="-1" dirty="0"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B26A47-51CC-CF1B-509D-83E41E67F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285" y="5327197"/>
            <a:ext cx="2429214" cy="7716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27917E-3A2A-1790-9474-79B106E9DFA1}"/>
              </a:ext>
            </a:extLst>
          </p:cNvPr>
          <p:cNvSpPr txBox="1"/>
          <p:nvPr/>
        </p:nvSpPr>
        <p:spPr>
          <a:xfrm>
            <a:off x="3080658" y="3567713"/>
            <a:ext cx="662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t-LT" sz="3200" dirty="0"/>
              <a:t>Žydrūnė Kelpšaitė,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000000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Shape 2"/>
          <p:cNvSpPr txBox="1"/>
          <p:nvPr/>
        </p:nvSpPr>
        <p:spPr>
          <a:xfrm>
            <a:off x="480240" y="1371600"/>
            <a:ext cx="5153400" cy="13647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Šiandien išmoksite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Shape 3"/>
          <p:cNvSpPr txBox="1"/>
          <p:nvPr/>
        </p:nvSpPr>
        <p:spPr>
          <a:xfrm>
            <a:off x="1398600" y="3329280"/>
            <a:ext cx="4235400" cy="4593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Boolean kintamuosius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Shape 4"/>
          <p:cNvSpPr txBox="1"/>
          <p:nvPr/>
        </p:nvSpPr>
        <p:spPr>
          <a:xfrm>
            <a:off x="1398600" y="4563720"/>
            <a:ext cx="4235400" cy="3434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Veiksmus su data ir laiku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Shape 5"/>
          <p:cNvSpPr txBox="1"/>
          <p:nvPr/>
        </p:nvSpPr>
        <p:spPr>
          <a:xfrm>
            <a:off x="1398600" y="5697000"/>
            <a:ext cx="4456440" cy="3308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Sugaudyti programos klaidas ir atlikti veiksmus 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3" name="Group 6"/>
          <p:cNvGrpSpPr/>
          <p:nvPr/>
        </p:nvGrpSpPr>
        <p:grpSpPr>
          <a:xfrm>
            <a:off x="480240" y="3193560"/>
            <a:ext cx="731160" cy="731160"/>
            <a:chOff x="480240" y="3193560"/>
            <a:chExt cx="731160" cy="731160"/>
          </a:xfrm>
        </p:grpSpPr>
        <p:sp>
          <p:nvSpPr>
            <p:cNvPr id="274" name="CustomShape 7"/>
            <p:cNvSpPr/>
            <p:nvPr/>
          </p:nvSpPr>
          <p:spPr>
            <a:xfrm>
              <a:off x="480240" y="319356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75" name="CustomShape 8"/>
            <p:cNvSpPr/>
            <p:nvPr/>
          </p:nvSpPr>
          <p:spPr>
            <a:xfrm>
              <a:off x="633240" y="336096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01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276" name="Group 9"/>
          <p:cNvGrpSpPr/>
          <p:nvPr/>
        </p:nvGrpSpPr>
        <p:grpSpPr>
          <a:xfrm>
            <a:off x="480240" y="4369680"/>
            <a:ext cx="731160" cy="731160"/>
            <a:chOff x="480240" y="4369680"/>
            <a:chExt cx="731160" cy="731160"/>
          </a:xfrm>
        </p:grpSpPr>
        <p:sp>
          <p:nvSpPr>
            <p:cNvPr id="277" name="CustomShape 10"/>
            <p:cNvSpPr/>
            <p:nvPr/>
          </p:nvSpPr>
          <p:spPr>
            <a:xfrm>
              <a:off x="480240" y="436968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78" name="CustomShape 11"/>
            <p:cNvSpPr/>
            <p:nvPr/>
          </p:nvSpPr>
          <p:spPr>
            <a:xfrm>
              <a:off x="633240" y="453744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02</a:t>
              </a:r>
              <a:endParaRPr lang="lt-LT" sz="2000" b="0" strike="noStrike" spc="-1">
                <a:latin typeface="Arial"/>
              </a:endParaRPr>
            </a:p>
          </p:txBody>
        </p:sp>
      </p:grpSp>
      <p:grpSp>
        <p:nvGrpSpPr>
          <p:cNvPr id="279" name="Group 12"/>
          <p:cNvGrpSpPr/>
          <p:nvPr/>
        </p:nvGrpSpPr>
        <p:grpSpPr>
          <a:xfrm>
            <a:off x="480240" y="5496840"/>
            <a:ext cx="731160" cy="731160"/>
            <a:chOff x="480240" y="5496840"/>
            <a:chExt cx="731160" cy="731160"/>
          </a:xfrm>
        </p:grpSpPr>
        <p:sp>
          <p:nvSpPr>
            <p:cNvPr id="280" name="CustomShape 13"/>
            <p:cNvSpPr/>
            <p:nvPr/>
          </p:nvSpPr>
          <p:spPr>
            <a:xfrm>
              <a:off x="480240" y="5496840"/>
              <a:ext cx="731160" cy="731160"/>
            </a:xfrm>
            <a:prstGeom prst="ellipse">
              <a:avLst/>
            </a:prstGeom>
            <a:solidFill>
              <a:srgbClr val="191919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281" name="CustomShape 14"/>
            <p:cNvSpPr/>
            <p:nvPr/>
          </p:nvSpPr>
          <p:spPr>
            <a:xfrm>
              <a:off x="633240" y="5664600"/>
              <a:ext cx="425520" cy="39564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2000" b="0" strike="noStrike" spc="-1">
                  <a:solidFill>
                    <a:srgbClr val="FEFFFF"/>
                  </a:solidFill>
                  <a:latin typeface="Arial"/>
                  <a:ea typeface="Arial"/>
                </a:rPr>
                <a:t>03</a:t>
              </a:r>
              <a:endParaRPr lang="lt-LT" sz="20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Shape 2"/>
          <p:cNvSpPr txBox="1"/>
          <p:nvPr/>
        </p:nvSpPr>
        <p:spPr>
          <a:xfrm>
            <a:off x="6217920" y="3485520"/>
            <a:ext cx="5833080" cy="5407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Loginis kintamasis (Boolean)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Shape 3"/>
          <p:cNvSpPr txBox="1"/>
          <p:nvPr/>
        </p:nvSpPr>
        <p:spPr>
          <a:xfrm>
            <a:off x="6217920" y="4315320"/>
            <a:ext cx="4995000" cy="4593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Dvi reikšmės = True (tiesa) arba False (klaidinga)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" name="Picture 2"/>
          <p:cNvPicPr/>
          <p:nvPr/>
        </p:nvPicPr>
        <p:blipFill>
          <a:blip r:embed="rId3"/>
          <a:stretch/>
        </p:blipFill>
        <p:spPr>
          <a:xfrm>
            <a:off x="979079" y="687420"/>
            <a:ext cx="3521001" cy="5896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veikslėlis 2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E0BF4174-6719-035A-4404-D78619B24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9" y="280548"/>
            <a:ext cx="11831701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87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Shape 2"/>
          <p:cNvSpPr txBox="1"/>
          <p:nvPr/>
        </p:nvSpPr>
        <p:spPr>
          <a:xfrm>
            <a:off x="6217920" y="3034080"/>
            <a:ext cx="5833080" cy="13910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Kaip patikrinti kintamojo tipą (funkcija type)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Picture 3"/>
          <p:cNvPicPr/>
          <p:nvPr/>
        </p:nvPicPr>
        <p:blipFill>
          <a:blip r:embed="rId2"/>
          <a:stretch/>
        </p:blipFill>
        <p:spPr>
          <a:xfrm>
            <a:off x="1032480" y="1567440"/>
            <a:ext cx="3228480" cy="1238040"/>
          </a:xfrm>
          <a:prstGeom prst="rect">
            <a:avLst/>
          </a:prstGeom>
          <a:ln>
            <a:noFill/>
          </a:ln>
        </p:spPr>
      </p:pic>
      <p:pic>
        <p:nvPicPr>
          <p:cNvPr id="289" name="Picture 4"/>
          <p:cNvPicPr/>
          <p:nvPr/>
        </p:nvPicPr>
        <p:blipFill>
          <a:blip r:embed="rId3"/>
          <a:stretch/>
        </p:blipFill>
        <p:spPr>
          <a:xfrm>
            <a:off x="1396136" y="3236040"/>
            <a:ext cx="2583360" cy="3161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Shape 2"/>
          <p:cNvSpPr txBox="1"/>
          <p:nvPr/>
        </p:nvSpPr>
        <p:spPr>
          <a:xfrm>
            <a:off x="6217920" y="3241800"/>
            <a:ext cx="5833080" cy="15192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Programa, kuri paskaičiuoja ir atspausdina sąrašo skaičių (sveikų) sumą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2" name="Picture 2"/>
          <p:cNvPicPr/>
          <p:nvPr/>
        </p:nvPicPr>
        <p:blipFill>
          <a:blip r:embed="rId2"/>
          <a:stretch/>
        </p:blipFill>
        <p:spPr>
          <a:xfrm>
            <a:off x="480240" y="2500560"/>
            <a:ext cx="4951080" cy="3001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Shape 2"/>
          <p:cNvSpPr txBox="1"/>
          <p:nvPr/>
        </p:nvSpPr>
        <p:spPr>
          <a:xfrm>
            <a:off x="6217920" y="286776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Data, laikas (Datetime)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Picture 2"/>
          <p:cNvPicPr/>
          <p:nvPr/>
        </p:nvPicPr>
        <p:blipFill>
          <a:blip r:embed="rId3"/>
          <a:stretch/>
        </p:blipFill>
        <p:spPr>
          <a:xfrm>
            <a:off x="169920" y="2522520"/>
            <a:ext cx="5316120" cy="2674800"/>
          </a:xfrm>
          <a:prstGeom prst="rect">
            <a:avLst/>
          </a:prstGeom>
          <a:ln>
            <a:noFill/>
          </a:ln>
        </p:spPr>
      </p:pic>
      <p:sp>
        <p:nvSpPr>
          <p:cNvPr id="296" name="TextShape 3"/>
          <p:cNvSpPr txBox="1"/>
          <p:nvPr/>
        </p:nvSpPr>
        <p:spPr>
          <a:xfrm>
            <a:off x="6217920" y="3697920"/>
            <a:ext cx="4995000" cy="12348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Datetime kintamasis gali išsaugoti datą ir/arba laiką. Jis importuojamas per </a:t>
            </a:r>
            <a:r>
              <a:rPr lang="lt-LT" sz="1600" b="0" i="1" strike="noStrike" spc="-1" dirty="0">
                <a:solidFill>
                  <a:srgbClr val="000000"/>
                </a:solidFill>
                <a:latin typeface="Arial"/>
                <a:ea typeface="Arial"/>
              </a:rPr>
              <a:t>import datetime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Dabartinė data ir laikas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rmAutofit/>
          </a:bodyPr>
          <a:lstStyle/>
          <a:p>
            <a:pPr>
              <a:lnSpc>
                <a:spcPct val="90000"/>
              </a:lnSpc>
            </a:pPr>
            <a:r>
              <a:rPr lang="lt-LT" sz="30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today</a:t>
            </a:r>
            <a:r>
              <a:rPr lang="lt-LT" sz="30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() - Tik data</a:t>
            </a:r>
            <a:br>
              <a:rPr dirty="0"/>
            </a:b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Picture 2"/>
          <p:cNvPicPr/>
          <p:nvPr/>
        </p:nvPicPr>
        <p:blipFill>
          <a:blip r:embed="rId2"/>
          <a:stretch/>
        </p:blipFill>
        <p:spPr>
          <a:xfrm>
            <a:off x="480240" y="2454840"/>
            <a:ext cx="4594680" cy="2742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0" strike="noStrike" spc="-1">
                <a:solidFill>
                  <a:srgbClr val="000000"/>
                </a:solidFill>
                <a:latin typeface="Arial"/>
                <a:ea typeface="Arial"/>
              </a:rPr>
              <a:t>time() - Tik laikas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2" name="Picture 2"/>
          <p:cNvPicPr/>
          <p:nvPr/>
        </p:nvPicPr>
        <p:blipFill>
          <a:blip r:embed="rId2"/>
          <a:stretch/>
        </p:blipFill>
        <p:spPr>
          <a:xfrm>
            <a:off x="480240" y="2795400"/>
            <a:ext cx="4843800" cy="2140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Datos formatavimas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Picture 2"/>
          <p:cNvPicPr/>
          <p:nvPr/>
        </p:nvPicPr>
        <p:blipFill>
          <a:blip r:embed="rId2"/>
          <a:stretch/>
        </p:blipFill>
        <p:spPr>
          <a:xfrm>
            <a:off x="123840" y="2891880"/>
            <a:ext cx="5331960" cy="2273400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DE6DB1-7CB2-44FC-918A-EC435C82597D}"/>
              </a:ext>
            </a:extLst>
          </p:cNvPr>
          <p:cNvSpPr txBox="1"/>
          <p:nvPr/>
        </p:nvSpPr>
        <p:spPr>
          <a:xfrm>
            <a:off x="6194926" y="4196347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>
                <a:ea typeface="+mn-lt"/>
                <a:cs typeface="+mn-lt"/>
                <a:hlinkClick r:id="rId3"/>
              </a:rPr>
              <a:t>https://docs.python.org/3/library/datetime.html</a:t>
            </a:r>
            <a:endParaRPr 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Shape 2"/>
          <p:cNvSpPr txBox="1"/>
          <p:nvPr/>
        </p:nvSpPr>
        <p:spPr>
          <a:xfrm>
            <a:off x="7715415" y="1508650"/>
            <a:ext cx="4357315" cy="651454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 fontScale="83000" lnSpcReduction="20000"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Kaip pridėti ar atimti laiką</a:t>
            </a:r>
            <a:br>
              <a:rPr dirty="0"/>
            </a:br>
            <a:endParaRPr lang="lt-LT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8" name="Picture 2"/>
          <p:cNvPicPr/>
          <p:nvPr/>
        </p:nvPicPr>
        <p:blipFill>
          <a:blip r:embed="rId2"/>
          <a:stretch/>
        </p:blipFill>
        <p:spPr>
          <a:xfrm>
            <a:off x="583559" y="1643270"/>
            <a:ext cx="6387083" cy="351553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Shape 2"/>
          <p:cNvSpPr txBox="1"/>
          <p:nvPr/>
        </p:nvSpPr>
        <p:spPr>
          <a:xfrm>
            <a:off x="2046514" y="573120"/>
            <a:ext cx="6781800" cy="340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Autofit/>
          </a:bodyPr>
          <a:lstStyle/>
          <a:p>
            <a:pPr>
              <a:lnSpc>
                <a:spcPct val="90000"/>
              </a:lnSpc>
            </a:pPr>
            <a:r>
              <a:rPr lang="lt-LT" b="1" strike="noStrike" spc="-1" dirty="0">
                <a:solidFill>
                  <a:srgbClr val="000000"/>
                </a:solidFill>
                <a:latin typeface="Arial"/>
                <a:ea typeface="Arial"/>
              </a:rPr>
              <a:t>Kaip įvesti datą/laiką</a:t>
            </a:r>
            <a:br>
              <a:rPr dirty="0"/>
            </a:br>
            <a:endParaRPr lang="lt-LT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1" name="Picture 3"/>
          <p:cNvPicPr/>
          <p:nvPr/>
        </p:nvPicPr>
        <p:blipFill>
          <a:blip r:embed="rId2"/>
          <a:stretch/>
        </p:blipFill>
        <p:spPr>
          <a:xfrm>
            <a:off x="480240" y="1069102"/>
            <a:ext cx="8424274" cy="437375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Shape 2"/>
          <p:cNvSpPr txBox="1"/>
          <p:nvPr/>
        </p:nvSpPr>
        <p:spPr>
          <a:xfrm>
            <a:off x="6217920" y="3442320"/>
            <a:ext cx="5833080" cy="13356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 fontScale="91500"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Kaip iš datetime atskirai ištraukti metus, mėnesį, valandas</a:t>
            </a:r>
            <a:br/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4" name="Picture 2"/>
          <p:cNvPicPr/>
          <p:nvPr/>
        </p:nvPicPr>
        <p:blipFill>
          <a:blip r:embed="rId2"/>
          <a:stretch/>
        </p:blipFill>
        <p:spPr>
          <a:xfrm>
            <a:off x="1100160" y="914040"/>
            <a:ext cx="3935666" cy="558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latin typeface="Arial"/>
            </a:endParaRPr>
          </a:p>
        </p:txBody>
      </p:sp>
      <p:sp>
        <p:nvSpPr>
          <p:cNvPr id="316" name="TextShape 2"/>
          <p:cNvSpPr txBox="1"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 dirty="0">
                <a:latin typeface="Arial"/>
                <a:ea typeface="Arial"/>
              </a:rPr>
              <a:t>Išimtys, jų suvaldymas (su try/except/finally)</a:t>
            </a:r>
            <a:br>
              <a:rPr dirty="0"/>
            </a:br>
            <a:endParaRPr lang="lt-LT" sz="3000" b="0" strike="noStrike" spc="-1" dirty="0">
              <a:latin typeface="Arial"/>
            </a:endParaRPr>
          </a:p>
        </p:txBody>
      </p:sp>
      <p:pic>
        <p:nvPicPr>
          <p:cNvPr id="317" name="Picture 2"/>
          <p:cNvPicPr/>
          <p:nvPr/>
        </p:nvPicPr>
        <p:blipFill>
          <a:blip r:embed="rId2"/>
          <a:stretch/>
        </p:blipFill>
        <p:spPr>
          <a:xfrm>
            <a:off x="367920" y="1183680"/>
            <a:ext cx="5230080" cy="1945800"/>
          </a:xfrm>
          <a:prstGeom prst="rect">
            <a:avLst/>
          </a:prstGeom>
          <a:ln>
            <a:noFill/>
          </a:ln>
        </p:spPr>
      </p:pic>
      <p:pic>
        <p:nvPicPr>
          <p:cNvPr id="318" name="Picture 3"/>
          <p:cNvPicPr/>
          <p:nvPr/>
        </p:nvPicPr>
        <p:blipFill>
          <a:blip r:embed="rId3"/>
          <a:stretch/>
        </p:blipFill>
        <p:spPr>
          <a:xfrm>
            <a:off x="713160" y="3632400"/>
            <a:ext cx="4353120" cy="2770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Shape 2"/>
          <p:cNvSpPr txBox="1"/>
          <p:nvPr/>
        </p:nvSpPr>
        <p:spPr>
          <a:xfrm>
            <a:off x="6217920" y="2176920"/>
            <a:ext cx="5833080" cy="1033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Klaidų suvaldymas naudojant try/except</a:t>
            </a:r>
            <a:br/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1" name="Picture 2"/>
          <p:cNvPicPr/>
          <p:nvPr/>
        </p:nvPicPr>
        <p:blipFill>
          <a:blip r:embed="rId2"/>
          <a:stretch/>
        </p:blipFill>
        <p:spPr>
          <a:xfrm>
            <a:off x="979080" y="614572"/>
            <a:ext cx="3991060" cy="5045174"/>
          </a:xfrm>
          <a:prstGeom prst="rect">
            <a:avLst/>
          </a:prstGeom>
          <a:ln>
            <a:noFill/>
          </a:ln>
        </p:spPr>
      </p:pic>
      <p:sp>
        <p:nvSpPr>
          <p:cNvPr id="322" name="TextShape 3"/>
          <p:cNvSpPr txBox="1"/>
          <p:nvPr/>
        </p:nvSpPr>
        <p:spPr>
          <a:xfrm>
            <a:off x="6217920" y="3697920"/>
            <a:ext cx="4995000" cy="21117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 fontScale="92500"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Kuo naudingas </a:t>
            </a:r>
            <a:r>
              <a:rPr lang="lt-LT" sz="16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try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/</a:t>
            </a:r>
            <a:r>
              <a:rPr lang="lt-LT" sz="16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except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/</a:t>
            </a:r>
            <a:r>
              <a:rPr lang="lt-LT" sz="16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finally</a:t>
            </a: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naudojimas: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Leidžia pakeisti klaidų pranešimus įspėjimu vartotojui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Įvykus klaidai, programa nesustoja (apsaugo nuo lūžimo). Po neįvykdyto kodo, programa vykdoma toliau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6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Leidžia nuspręsti, ką daryti, atsiradus klaidai (pvz., išmesti tam tikrą pranešimą, paleisti kitą funkciją ir t.t</a:t>
            </a: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4" name="Picture 2"/>
          <p:cNvPicPr/>
          <p:nvPr/>
        </p:nvPicPr>
        <p:blipFill>
          <a:blip r:embed="rId2"/>
          <a:stretch/>
        </p:blipFill>
        <p:spPr>
          <a:xfrm>
            <a:off x="1219140" y="999720"/>
            <a:ext cx="4137480" cy="4858560"/>
          </a:xfrm>
          <a:prstGeom prst="rect">
            <a:avLst/>
          </a:prstGeom>
          <a:ln>
            <a:noFill/>
          </a:ln>
        </p:spPr>
      </p:pic>
      <p:sp>
        <p:nvSpPr>
          <p:cNvPr id="325" name="TextShape 2"/>
          <p:cNvSpPr txBox="1"/>
          <p:nvPr/>
        </p:nvSpPr>
        <p:spPr>
          <a:xfrm>
            <a:off x="6557760" y="3193560"/>
            <a:ext cx="5154480" cy="9014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Kaip suvaldyti kelias išimtis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7" name="Picture 2"/>
          <p:cNvPicPr/>
          <p:nvPr/>
        </p:nvPicPr>
        <p:blipFill>
          <a:blip r:embed="rId2"/>
          <a:stretch/>
        </p:blipFill>
        <p:spPr>
          <a:xfrm>
            <a:off x="669960" y="1715760"/>
            <a:ext cx="4798800" cy="4259880"/>
          </a:xfrm>
          <a:prstGeom prst="rect">
            <a:avLst/>
          </a:prstGeom>
          <a:ln>
            <a:noFill/>
          </a:ln>
        </p:spPr>
      </p:pic>
      <p:sp>
        <p:nvSpPr>
          <p:cNvPr id="328" name="CustomShape 2"/>
          <p:cNvSpPr/>
          <p:nvPr/>
        </p:nvSpPr>
        <p:spPr>
          <a:xfrm>
            <a:off x="6217920" y="3485520"/>
            <a:ext cx="5833080" cy="10335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Finally blokas</a:t>
            </a:r>
            <a:endParaRPr lang="lt-LT" sz="3000" b="0" strike="noStrike" spc="-1">
              <a:latin typeface="Arial"/>
            </a:endParaRPr>
          </a:p>
          <a:p>
            <a:pPr>
              <a:lnSpc>
                <a:spcPct val="90000"/>
              </a:lnSpc>
            </a:pPr>
            <a:endParaRPr lang="lt-LT" sz="3000" b="0" strike="noStrike" spc="-1">
              <a:latin typeface="Arial"/>
            </a:endParaRPr>
          </a:p>
        </p:txBody>
      </p:sp>
      <p:sp>
        <p:nvSpPr>
          <p:cNvPr id="329" name="CustomShape 3"/>
          <p:cNvSpPr/>
          <p:nvPr/>
        </p:nvSpPr>
        <p:spPr>
          <a:xfrm>
            <a:off x="6217920" y="4301640"/>
            <a:ext cx="4995000" cy="8035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Kodas, vykdomas nepaisant to, kas įvyksta try/except blokuose</a:t>
            </a:r>
            <a:endParaRPr lang="lt-LT" sz="1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Shape 2"/>
          <p:cNvSpPr txBox="1"/>
          <p:nvPr/>
        </p:nvSpPr>
        <p:spPr>
          <a:xfrm>
            <a:off x="7543800" y="1663801"/>
            <a:ext cx="4507200" cy="2855279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Kaip panaudoti try/except įvedant duomenis</a:t>
            </a:r>
            <a:br/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2" name="Picture 2"/>
          <p:cNvPicPr/>
          <p:nvPr/>
        </p:nvPicPr>
        <p:blipFill>
          <a:blip r:embed="rId2"/>
          <a:stretch/>
        </p:blipFill>
        <p:spPr>
          <a:xfrm>
            <a:off x="268202" y="1663801"/>
            <a:ext cx="7046998" cy="30388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4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335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36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1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37" name="Picture Placeholder 2"/>
          <p:cNvPicPr/>
          <p:nvPr/>
        </p:nvPicPr>
        <p:blipFill>
          <a:blip r:embed="rId2"/>
          <a:stretch/>
        </p:blipFill>
        <p:spPr>
          <a:xfrm>
            <a:off x="480240" y="1163412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338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Parašyti programą, kuri: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Leistų vartotojui įvesti sveiką skaičių.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Atspausdinti True, jei skaičius teigiamas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Atspausdinti False, jei skaičius neigiamas ar lygus 0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True/False reikšmei išsaugoti naudoti boolean tipo kintamąjį ar_skaicius_teigiamas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Patarimas: naudoti input, boolean, if/else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0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341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42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 2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43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344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Parašyti programą, kuri: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Atspausdintų dabartinę datą ir laiką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Atimtų iš dabartinės datos ir laiko 5 dienas ir juos atspausdintų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Pridėti prie dabartinės datos ir laiko 8 valandas ir juos atspausdintų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Atspausdintų dabartinę datą ir laiką tokiu formatu: 2019 03 08, 09:57:17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Patarimas: naudoti </a:t>
            </a:r>
            <a:r>
              <a:rPr lang="lt-LT" sz="1400" b="0" strike="noStrike" spc="-1" err="1">
                <a:solidFill>
                  <a:srgbClr val="000000"/>
                </a:solidFill>
                <a:latin typeface="Arial"/>
                <a:ea typeface="Arial"/>
              </a:rPr>
              <a:t>datetime</a:t>
            </a: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, </a:t>
            </a:r>
            <a:r>
              <a:rPr lang="lt-LT" sz="1400" b="0" strike="noStrike" spc="-1" err="1">
                <a:solidFill>
                  <a:srgbClr val="000000"/>
                </a:solidFill>
                <a:latin typeface="Arial"/>
                <a:ea typeface="Arial"/>
              </a:rPr>
              <a:t>timedelta</a:t>
            </a: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 (</a:t>
            </a:r>
            <a:r>
              <a:rPr lang="lt-LT" sz="1400" b="0" strike="noStrike" spc="-1" err="1">
                <a:solidFill>
                  <a:srgbClr val="000000"/>
                </a:solidFill>
                <a:latin typeface="Arial"/>
                <a:ea typeface="Arial"/>
              </a:rPr>
              <a:t>from</a:t>
            </a: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lt-LT" sz="1400" b="0" strike="noStrike" spc="-1" err="1">
                <a:solidFill>
                  <a:srgbClr val="000000"/>
                </a:solidFill>
                <a:latin typeface="Arial"/>
                <a:ea typeface="Arial"/>
              </a:rPr>
              <a:t>datetime</a:t>
            </a: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lt-LT" sz="1400" b="0" strike="noStrike" spc="-1" err="1">
                <a:solidFill>
                  <a:srgbClr val="000000"/>
                </a:solidFill>
                <a:latin typeface="Arial"/>
                <a:ea typeface="Arial"/>
              </a:rPr>
              <a:t>import</a:t>
            </a: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lang="lt-LT" sz="1400" b="0" strike="noStrike" spc="-1" err="1">
                <a:solidFill>
                  <a:srgbClr val="000000"/>
                </a:solidFill>
                <a:latin typeface="Arial"/>
                <a:ea typeface="Arial"/>
              </a:rPr>
              <a:t>timedelta</a:t>
            </a: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)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6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347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48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 3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49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350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Parašyti programą, kuri: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Leistų vartotojui įvesti norimą datą ir laiką (pvz. gimtadienį)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Paskaičiuotų ir atspausdintų, kiek nuo įvestos datos ir laiko praėjo: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Metų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Mėnesių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Dienų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Valandų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Minučių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Sekundžių</a:t>
            </a:r>
            <a:endParaRPr lang="lt-LT" sz="1400" b="0" strike="noStrike" spc="-1">
              <a:latin typeface="Arial"/>
            </a:endParaRPr>
          </a:p>
          <a:p>
            <a:pPr marL="285840" indent="-2854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Kadangi tiksliai galima paskaičiuoti tik dienas ir sekundes, metus, mėnesius ir t.t. paskaičiuokite apytiksliai.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Patarimas: naudoti datetime, .days, .total_seconds()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Skaičių suapvalinimo pavyzdys (kurio gali prireikti šioje užduotyje):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</p:txBody>
      </p:sp>
      <p:pic>
        <p:nvPicPr>
          <p:cNvPr id="351" name="Picture 2"/>
          <p:cNvPicPr/>
          <p:nvPr/>
        </p:nvPicPr>
        <p:blipFill>
          <a:blip r:embed="rId3"/>
          <a:stretch/>
        </p:blipFill>
        <p:spPr>
          <a:xfrm>
            <a:off x="764640" y="5688000"/>
            <a:ext cx="1971360" cy="628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3" name="Group 2"/>
          <p:cNvGrpSpPr/>
          <p:nvPr/>
        </p:nvGrpSpPr>
        <p:grpSpPr>
          <a:xfrm>
            <a:off x="479880" y="898200"/>
            <a:ext cx="1834920" cy="464040"/>
            <a:chOff x="479880" y="898200"/>
            <a:chExt cx="1834920" cy="464040"/>
          </a:xfrm>
        </p:grpSpPr>
        <p:sp>
          <p:nvSpPr>
            <p:cNvPr id="354" name="CustomShape 3"/>
            <p:cNvSpPr/>
            <p:nvPr/>
          </p:nvSpPr>
          <p:spPr>
            <a:xfrm>
              <a:off x="479880" y="8982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55" name="CustomShape 4"/>
            <p:cNvSpPr/>
            <p:nvPr/>
          </p:nvSpPr>
          <p:spPr>
            <a:xfrm>
              <a:off x="593640" y="9622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FEFFFF"/>
                  </a:solidFill>
                  <a:latin typeface="Arial"/>
                  <a:ea typeface="Arial"/>
                </a:rPr>
                <a:t>Užduotis nr. 4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56" name="Picture Placeholder 2"/>
          <p:cNvPicPr/>
          <p:nvPr/>
        </p:nvPicPr>
        <p:blipFill>
          <a:blip r:embed="rId2"/>
          <a:stretch/>
        </p:blipFill>
        <p:spPr>
          <a:xfrm>
            <a:off x="48024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357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Pakeisti 1 ir 3 užduotis taip, kad neteisingai įvedus duomenis ar įvykus klaidoms, programos mestų norimas klaidas lietuvių kalba (panaudoti try/except)</a:t>
            </a: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FEFFFF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9" name="Group 2"/>
          <p:cNvGrpSpPr/>
          <p:nvPr/>
        </p:nvGrpSpPr>
        <p:grpSpPr>
          <a:xfrm>
            <a:off x="480240" y="914400"/>
            <a:ext cx="1834920" cy="464040"/>
            <a:chOff x="480240" y="914400"/>
            <a:chExt cx="1834920" cy="464040"/>
          </a:xfrm>
        </p:grpSpPr>
        <p:sp>
          <p:nvSpPr>
            <p:cNvPr id="360" name="CustomShape 3"/>
            <p:cNvSpPr/>
            <p:nvPr/>
          </p:nvSpPr>
          <p:spPr>
            <a:xfrm>
              <a:off x="480240" y="914400"/>
              <a:ext cx="1834920" cy="46404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lt-LT"/>
            </a:p>
          </p:txBody>
        </p:sp>
        <p:sp>
          <p:nvSpPr>
            <p:cNvPr id="361" name="CustomShape 4"/>
            <p:cNvSpPr/>
            <p:nvPr/>
          </p:nvSpPr>
          <p:spPr>
            <a:xfrm>
              <a:off x="594000" y="978480"/>
              <a:ext cx="1607400" cy="3355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5720" rIns="4572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lt-LT" sz="1600" b="1" strike="noStrike" spc="-1">
                  <a:solidFill>
                    <a:srgbClr val="000000"/>
                  </a:solidFill>
                  <a:latin typeface="Arial"/>
                  <a:ea typeface="Arial"/>
                </a:rPr>
                <a:t>Namų darbas</a:t>
              </a:r>
              <a:endParaRPr lang="lt-LT" sz="1600" b="0" strike="noStrike" spc="-1">
                <a:latin typeface="Arial"/>
              </a:endParaRPr>
            </a:p>
          </p:txBody>
        </p:sp>
      </p:grpSp>
      <p:pic>
        <p:nvPicPr>
          <p:cNvPr id="362" name="Picture Placeholder 2"/>
          <p:cNvPicPr/>
          <p:nvPr/>
        </p:nvPicPr>
        <p:blipFill>
          <a:blip r:embed="rId2"/>
          <a:stretch/>
        </p:blipFill>
        <p:spPr>
          <a:xfrm>
            <a:off x="479880" y="1441440"/>
            <a:ext cx="11231640" cy="5227920"/>
          </a:xfrm>
          <a:prstGeom prst="rect">
            <a:avLst/>
          </a:prstGeom>
          <a:ln w="12600">
            <a:noFill/>
          </a:ln>
        </p:spPr>
      </p:pic>
      <p:sp>
        <p:nvSpPr>
          <p:cNvPr id="363" name="CustomShape 5"/>
          <p:cNvSpPr/>
          <p:nvPr/>
        </p:nvSpPr>
        <p:spPr>
          <a:xfrm>
            <a:off x="594000" y="1832400"/>
            <a:ext cx="10719000" cy="456444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45000" bIns="45000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400" b="0" strike="noStrike" spc="-1">
                <a:solidFill>
                  <a:srgbClr val="000000"/>
                </a:solidFill>
                <a:latin typeface="Arial"/>
                <a:ea typeface="Arial"/>
              </a:rPr>
              <a:t>Užbaigti klasėje nepadarytas užduotis</a:t>
            </a:r>
            <a:endParaRPr lang="lt-LT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Shape 1"/>
          <p:cNvSpPr txBox="1"/>
          <p:nvPr/>
        </p:nvSpPr>
        <p:spPr>
          <a:xfrm>
            <a:off x="480240" y="460800"/>
            <a:ext cx="5615280" cy="4532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300" b="0" strike="noStrike" spc="-1">
                <a:solidFill>
                  <a:srgbClr val="000000"/>
                </a:solidFill>
                <a:latin typeface="Arial"/>
                <a:ea typeface="Arial"/>
              </a:rPr>
              <a:t>3 paskaita. Boolean, data, laikas, išimtys</a:t>
            </a: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lt-LT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Shape 2"/>
          <p:cNvSpPr txBox="1"/>
          <p:nvPr/>
        </p:nvSpPr>
        <p:spPr>
          <a:xfrm>
            <a:off x="3281760" y="1821960"/>
            <a:ext cx="3750480" cy="3294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strike="noStrike" spc="-1">
                <a:solidFill>
                  <a:srgbClr val="000000"/>
                </a:solidFill>
                <a:latin typeface="Arial"/>
                <a:ea typeface="Arial"/>
              </a:rPr>
              <a:t>Exception list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Shape 3"/>
          <p:cNvSpPr txBox="1"/>
          <p:nvPr/>
        </p:nvSpPr>
        <p:spPr>
          <a:xfrm>
            <a:off x="3281760" y="2171520"/>
            <a:ext cx="3750480" cy="504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Galimų klaidų sąrašas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Shape 4"/>
          <p:cNvSpPr txBox="1"/>
          <p:nvPr/>
        </p:nvSpPr>
        <p:spPr>
          <a:xfrm>
            <a:off x="480240" y="5032080"/>
            <a:ext cx="2343240" cy="13647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lt-LT" sz="3000" b="1" strike="noStrike" spc="-1">
                <a:solidFill>
                  <a:srgbClr val="000000"/>
                </a:solidFill>
                <a:latin typeface="Arial"/>
                <a:ea typeface="Arial"/>
              </a:rPr>
              <a:t>Naudinga informacija</a:t>
            </a:r>
            <a:endParaRPr lang="lt-LT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Shape 5"/>
          <p:cNvSpPr txBox="1"/>
          <p:nvPr/>
        </p:nvSpPr>
        <p:spPr>
          <a:xfrm>
            <a:off x="7503480" y="1821960"/>
            <a:ext cx="4207680" cy="790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u="sng" strike="noStrike" spc="-1">
                <a:solidFill>
                  <a:srgbClr val="0000FF"/>
                </a:solidFill>
                <a:uFillTx/>
                <a:latin typeface="Arial"/>
                <a:ea typeface="Arial"/>
                <a:hlinkClick r:id="rId2"/>
              </a:rPr>
              <a:t>https://docs.python.org/3/library/exceptions.html</a:t>
            </a:r>
            <a:endParaRPr lang="lt-LT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CustomShape 6"/>
          <p:cNvSpPr/>
          <p:nvPr/>
        </p:nvSpPr>
        <p:spPr>
          <a:xfrm>
            <a:off x="3276000" y="2736360"/>
            <a:ext cx="3750480" cy="329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strike="noStrike" spc="-1">
                <a:solidFill>
                  <a:srgbClr val="000000"/>
                </a:solidFill>
                <a:latin typeface="Arial"/>
                <a:ea typeface="Arial"/>
              </a:rPr>
              <a:t>Datetime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370" name="CustomShape 7"/>
          <p:cNvSpPr/>
          <p:nvPr/>
        </p:nvSpPr>
        <p:spPr>
          <a:xfrm>
            <a:off x="3276000" y="3085920"/>
            <a:ext cx="3750480" cy="5040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Plačiau apie datetime biblioteką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371" name="CustomShape 8"/>
          <p:cNvSpPr/>
          <p:nvPr/>
        </p:nvSpPr>
        <p:spPr>
          <a:xfrm>
            <a:off x="7497720" y="2736360"/>
            <a:ext cx="4207680" cy="790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u="sng" strike="noStrike" spc="-1">
                <a:solidFill>
                  <a:srgbClr val="0000FF"/>
                </a:solidFill>
                <a:uFillTx/>
                <a:latin typeface="Arial"/>
                <a:ea typeface="Arial"/>
                <a:hlinkClick r:id="rId3"/>
              </a:rPr>
              <a:t>https://www.w3schools.com/python/python_datetime.asp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372" name="CustomShape 9"/>
          <p:cNvSpPr/>
          <p:nvPr/>
        </p:nvSpPr>
        <p:spPr>
          <a:xfrm>
            <a:off x="3261600" y="3699360"/>
            <a:ext cx="3750480" cy="329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strike="noStrike" spc="-1">
                <a:solidFill>
                  <a:srgbClr val="000000"/>
                </a:solidFill>
                <a:latin typeface="Arial"/>
                <a:ea typeface="Arial"/>
              </a:rPr>
              <a:t>Boolean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373" name="CustomShape 10"/>
          <p:cNvSpPr/>
          <p:nvPr/>
        </p:nvSpPr>
        <p:spPr>
          <a:xfrm>
            <a:off x="3261600" y="4049280"/>
            <a:ext cx="3750480" cy="5040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0" strike="noStrike" spc="-1">
                <a:solidFill>
                  <a:srgbClr val="000000"/>
                </a:solidFill>
                <a:latin typeface="Arial"/>
                <a:ea typeface="Arial"/>
              </a:rPr>
              <a:t>Plačiau apie boolean duomenų tipą</a:t>
            </a:r>
            <a:endParaRPr lang="lt-LT" sz="1600" b="0" strike="noStrike" spc="-1">
              <a:latin typeface="Arial"/>
            </a:endParaRPr>
          </a:p>
        </p:txBody>
      </p:sp>
      <p:sp>
        <p:nvSpPr>
          <p:cNvPr id="374" name="CustomShape 11"/>
          <p:cNvSpPr/>
          <p:nvPr/>
        </p:nvSpPr>
        <p:spPr>
          <a:xfrm>
            <a:off x="7483320" y="3699360"/>
            <a:ext cx="4207680" cy="7909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lt-LT" sz="1600" b="1" u="sng" strike="noStrike" spc="-1">
                <a:solidFill>
                  <a:srgbClr val="0000FF"/>
                </a:solidFill>
                <a:uFillTx/>
                <a:latin typeface="Arial"/>
                <a:ea typeface="Arial"/>
                <a:hlinkClick r:id="rId4"/>
              </a:rPr>
              <a:t>https://www.w3schools.com/python/python_booleans.asp</a:t>
            </a:r>
            <a:endParaRPr lang="lt-LT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2e3587-765d-4918-9d92-5b93275042d2">
      <Terms xmlns="http://schemas.microsoft.com/office/infopath/2007/PartnerControls"/>
    </lcf76f155ced4ddcb4097134ff3c332f>
    <TaxCatchAll xmlns="eb74e56a-683e-4ac4-9917-2810b22b5cab" xsi:nil="true"/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AppVersion xmlns="662e3587-765d-4918-9d92-5b93275042d2">16.0000</AppVersion>
    <Self_Registration_Enabled xmlns="662e3587-765d-4918-9d92-5b93275042d2" xsi:nil="true"/>
    <Has_Teacher_Only_SectionGroup xmlns="662e3587-765d-4918-9d92-5b93275042d2" xsi:nil="true"/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D36254C1-2170-4A79-A013-A7B01322EC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F2B785-6E3E-4714-816E-DFB6F4864275}"/>
</file>

<file path=customXml/itemProps3.xml><?xml version="1.0" encoding="utf-8"?>
<ds:datastoreItem xmlns:ds="http://schemas.openxmlformats.org/officeDocument/2006/customXml" ds:itemID="{0AC0B6F6-FC45-464F-A2B0-31E9877ED533}">
  <ds:schemaRefs>
    <ds:schemaRef ds:uri="2c031f6a-1ceb-40a9-a6f7-98255c09e471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c7f19ac9-9829-4b61-9f34-52c1422b3962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1800</TotalTime>
  <Words>790</Words>
  <Application>Microsoft Office PowerPoint</Application>
  <PresentationFormat>Plačiaekranė</PresentationFormat>
  <Paragraphs>106</Paragraphs>
  <Slides>24</Slides>
  <Notes>2</Notes>
  <HiddenSlides>0</HiddenSlides>
  <MMClips>0</MMClips>
  <ScaleCrop>false</ScaleCrop>
  <HeadingPairs>
    <vt:vector size="6" baseType="variant">
      <vt:variant>
        <vt:lpstr>Naudojami šriftai</vt:lpstr>
      </vt:variant>
      <vt:variant>
        <vt:i4>4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Times New Roman</vt:lpstr>
      <vt:lpstr>Office Theme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  <vt:lpstr>„PowerPoint“ pateiktis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Gediminas Anza</dc:creator>
  <dc:description/>
  <cp:lastModifiedBy>Žydrūnė Kelpšaitė</cp:lastModifiedBy>
  <cp:revision>4</cp:revision>
  <dcterms:modified xsi:type="dcterms:W3CDTF">2026-01-22T13:39:03Z</dcterms:modified>
  <dc:language>lt-LT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23</vt:i4>
  </property>
  <property fmtid="{D5CDD505-2E9C-101B-9397-08002B2CF9AE}" pid="12" name="ContentTypeId">
    <vt:lpwstr>0x010100753C69E30CD2E346B0231A1827D4E953</vt:lpwstr>
  </property>
  <property fmtid="{D5CDD505-2E9C-101B-9397-08002B2CF9AE}" pid="13" name="MediaServiceImageTags">
    <vt:lpwstr/>
  </property>
</Properties>
</file>