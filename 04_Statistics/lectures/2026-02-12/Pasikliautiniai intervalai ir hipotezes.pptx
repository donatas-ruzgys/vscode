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69" r:id="rId7"/>
    <p:sldId id="297" r:id="rId8"/>
    <p:sldId id="292" r:id="rId9"/>
    <p:sldId id="293" r:id="rId10"/>
    <p:sldId id="294" r:id="rId11"/>
    <p:sldId id="295" r:id="rId12"/>
    <p:sldId id="296" r:id="rId13"/>
    <p:sldId id="270" r:id="rId14"/>
    <p:sldId id="268" r:id="rId15"/>
    <p:sldId id="258" r:id="rId16"/>
    <p:sldId id="259" r:id="rId17"/>
    <p:sldId id="271" r:id="rId18"/>
    <p:sldId id="273" r:id="rId19"/>
    <p:sldId id="274" r:id="rId20"/>
    <p:sldId id="275" r:id="rId21"/>
    <p:sldId id="260" r:id="rId22"/>
    <p:sldId id="272" r:id="rId23"/>
    <p:sldId id="276" r:id="rId24"/>
    <p:sldId id="278" r:id="rId25"/>
    <p:sldId id="262" r:id="rId26"/>
    <p:sldId id="279" r:id="rId27"/>
    <p:sldId id="280" r:id="rId28"/>
    <p:sldId id="263" r:id="rId29"/>
    <p:sldId id="264" r:id="rId30"/>
    <p:sldId id="281" r:id="rId31"/>
    <p:sldId id="282" r:id="rId32"/>
    <p:sldId id="283" r:id="rId33"/>
    <p:sldId id="265" r:id="rId34"/>
    <p:sldId id="298" r:id="rId35"/>
    <p:sldId id="284" r:id="rId36"/>
    <p:sldId id="266" r:id="rId37"/>
    <p:sldId id="285" r:id="rId38"/>
    <p:sldId id="267" r:id="rId39"/>
    <p:sldId id="286" r:id="rId40"/>
    <p:sldId id="287" r:id="rId41"/>
    <p:sldId id="289" r:id="rId42"/>
    <p:sldId id="290" r:id="rId43"/>
    <p:sldId id="288" r:id="rId44"/>
    <p:sldId id="29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73" autoAdjust="0"/>
  </p:normalViewPr>
  <p:slideViewPr>
    <p:cSldViewPr snapToGrid="0">
      <p:cViewPr>
        <p:scale>
          <a:sx n="100" d="100"/>
          <a:sy n="100" d="100"/>
        </p:scale>
        <p:origin x="95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undo custSel addSld delSld modSld sldOrd">
      <pc:chgData name="Žydrūnė Kelpšaitė" userId="e943768126acec1d" providerId="LiveId" clId="{31712FD7-FA85-48BA-9D35-5382388CFC74}" dt="2026-02-12T12:11:31.110" v="469" actId="13926"/>
      <pc:docMkLst>
        <pc:docMk/>
      </pc:docMkLst>
      <pc:sldChg chg="addSp delSp modSp mod modAnim">
        <pc:chgData name="Žydrūnė Kelpšaitė" userId="e943768126acec1d" providerId="LiveId" clId="{31712FD7-FA85-48BA-9D35-5382388CFC74}" dt="2026-01-21T18:16:13.414" v="1" actId="1076"/>
        <pc:sldMkLst>
          <pc:docMk/>
          <pc:sldMk cId="3222251591" sldId="256"/>
        </pc:sldMkLst>
        <pc:spChg chg="mod">
          <ac:chgData name="Žydrūnė Kelpšaitė" userId="e943768126acec1d" providerId="LiveId" clId="{31712FD7-FA85-48BA-9D35-5382388CFC74}" dt="2026-01-21T18:16:13.414" v="1" actId="1076"/>
          <ac:spMkLst>
            <pc:docMk/>
            <pc:sldMk cId="3222251591" sldId="256"/>
            <ac:spMk id="2" creationId="{E41649FB-3E78-AE7A-CD93-1943C308DE8F}"/>
          </ac:spMkLst>
        </pc:spChg>
        <pc:spChg chg="add mod">
          <ac:chgData name="Žydrūnė Kelpšaitė" userId="e943768126acec1d" providerId="LiveId" clId="{31712FD7-FA85-48BA-9D35-5382388CFC74}" dt="2026-01-21T18:16:08.845" v="0"/>
          <ac:spMkLst>
            <pc:docMk/>
            <pc:sldMk cId="3222251591" sldId="256"/>
            <ac:spMk id="4" creationId="{863FAC0E-8B65-E06F-4BFB-8AFDCF044124}"/>
          </ac:spMkLst>
        </pc:spChg>
      </pc:sldChg>
      <pc:sldChg chg="modSp mod">
        <pc:chgData name="Žydrūnė Kelpšaitė" userId="e943768126acec1d" providerId="LiveId" clId="{31712FD7-FA85-48BA-9D35-5382388CFC74}" dt="2026-02-12T11:39:10.147" v="465" actId="13926"/>
        <pc:sldMkLst>
          <pc:docMk/>
          <pc:sldMk cId="2037165156" sldId="257"/>
        </pc:sldMkLst>
        <pc:spChg chg="mod">
          <ac:chgData name="Žydrūnė Kelpšaitė" userId="e943768126acec1d" providerId="LiveId" clId="{31712FD7-FA85-48BA-9D35-5382388CFC74}" dt="2026-01-21T18:37:54.197" v="28"/>
          <ac:spMkLst>
            <pc:docMk/>
            <pc:sldMk cId="2037165156" sldId="257"/>
            <ac:spMk id="2" creationId="{556EB4FB-5D1F-8128-A55D-CCB63042ABCE}"/>
          </ac:spMkLst>
        </pc:spChg>
        <pc:spChg chg="mod">
          <ac:chgData name="Žydrūnė Kelpšaitė" userId="e943768126acec1d" providerId="LiveId" clId="{31712FD7-FA85-48BA-9D35-5382388CFC74}" dt="2026-02-12T11:39:10.147" v="465" actId="13926"/>
          <ac:spMkLst>
            <pc:docMk/>
            <pc:sldMk cId="2037165156" sldId="257"/>
            <ac:spMk id="3" creationId="{0C3E8D72-7F75-8B75-CE77-2FD3CDE53670}"/>
          </ac:spMkLst>
        </pc:spChg>
      </pc:sldChg>
      <pc:sldChg chg="addSp modSp mod modNotesTx">
        <pc:chgData name="Žydrūnė Kelpšaitė" userId="e943768126acec1d" providerId="LiveId" clId="{31712FD7-FA85-48BA-9D35-5382388CFC74}" dt="2026-01-22T08:13:16.644" v="419" actId="20577"/>
        <pc:sldMkLst>
          <pc:docMk/>
          <pc:sldMk cId="2334318286" sldId="258"/>
        </pc:sldMkLst>
        <pc:spChg chg="mod">
          <ac:chgData name="Žydrūnė Kelpšaitė" userId="e943768126acec1d" providerId="LiveId" clId="{31712FD7-FA85-48BA-9D35-5382388CFC74}" dt="2026-01-21T18:43:11.895" v="63"/>
          <ac:spMkLst>
            <pc:docMk/>
            <pc:sldMk cId="2334318286" sldId="258"/>
            <ac:spMk id="3" creationId="{A7370FAE-94F1-3E92-F179-1D5C973AB485}"/>
          </ac:spMkLst>
        </pc:spChg>
        <pc:spChg chg="add mod">
          <ac:chgData name="Žydrūnė Kelpšaitė" userId="e943768126acec1d" providerId="LiveId" clId="{31712FD7-FA85-48BA-9D35-5382388CFC74}" dt="2026-01-21T18:43:16.585" v="65" actId="1076"/>
          <ac:spMkLst>
            <pc:docMk/>
            <pc:sldMk cId="2334318286" sldId="258"/>
            <ac:spMk id="5" creationId="{3A2454E0-0494-B3D8-E4A4-B4CEF33F2BC2}"/>
          </ac:spMkLst>
        </pc:spChg>
        <pc:spChg chg="add mod">
          <ac:chgData name="Žydrūnė Kelpšaitė" userId="e943768126acec1d" providerId="LiveId" clId="{31712FD7-FA85-48BA-9D35-5382388CFC74}" dt="2026-01-21T18:44:20.827" v="68" actId="1076"/>
          <ac:spMkLst>
            <pc:docMk/>
            <pc:sldMk cId="2334318286" sldId="258"/>
            <ac:spMk id="8" creationId="{6B057251-F5F3-3BBD-6608-7BFB6FE4426C}"/>
          </ac:spMkLst>
        </pc:spChg>
        <pc:picChg chg="mod">
          <ac:chgData name="Žydrūnė Kelpšaitė" userId="e943768126acec1d" providerId="LiveId" clId="{31712FD7-FA85-48BA-9D35-5382388CFC74}" dt="2026-01-21T18:43:19.837" v="66" actId="1076"/>
          <ac:picMkLst>
            <pc:docMk/>
            <pc:sldMk cId="2334318286" sldId="258"/>
            <ac:picMk id="7" creationId="{88D72CAA-9DE1-9C6E-FEC1-A410B4F048A5}"/>
          </ac:picMkLst>
        </pc:picChg>
      </pc:sldChg>
      <pc:sldChg chg="addSp modSp mod">
        <pc:chgData name="Žydrūnė Kelpšaitė" userId="e943768126acec1d" providerId="LiveId" clId="{31712FD7-FA85-48BA-9D35-5382388CFC74}" dt="2026-02-12T11:49:47.220" v="466" actId="13926"/>
        <pc:sldMkLst>
          <pc:docMk/>
          <pc:sldMk cId="3881874149" sldId="259"/>
        </pc:sldMkLst>
        <pc:spChg chg="mod">
          <ac:chgData name="Žydrūnė Kelpšaitė" userId="e943768126acec1d" providerId="LiveId" clId="{31712FD7-FA85-48BA-9D35-5382388CFC74}" dt="2026-01-21T18:46:42.347" v="70" actId="1076"/>
          <ac:spMkLst>
            <pc:docMk/>
            <pc:sldMk cId="3881874149" sldId="259"/>
            <ac:spMk id="2" creationId="{D86CB5A7-BBF4-8231-0B55-61193E7167BA}"/>
          </ac:spMkLst>
        </pc:spChg>
        <pc:spChg chg="mod">
          <ac:chgData name="Žydrūnė Kelpšaitė" userId="e943768126acec1d" providerId="LiveId" clId="{31712FD7-FA85-48BA-9D35-5382388CFC74}" dt="2026-01-21T18:48:09.384" v="72" actId="27636"/>
          <ac:spMkLst>
            <pc:docMk/>
            <pc:sldMk cId="3881874149" sldId="259"/>
            <ac:spMk id="3" creationId="{FB47A638-25CC-BFAE-1929-B575D8B1CF5C}"/>
          </ac:spMkLst>
        </pc:spChg>
        <pc:spChg chg="add mod">
          <ac:chgData name="Žydrūnė Kelpšaitė" userId="e943768126acec1d" providerId="LiveId" clId="{31712FD7-FA85-48BA-9D35-5382388CFC74}" dt="2026-02-12T11:49:47.220" v="466" actId="13926"/>
          <ac:spMkLst>
            <pc:docMk/>
            <pc:sldMk cId="3881874149" sldId="259"/>
            <ac:spMk id="7" creationId="{2A53A8E3-894E-E82D-8755-6360771F1F31}"/>
          </ac:spMkLst>
        </pc:spChg>
        <pc:spChg chg="mod">
          <ac:chgData name="Žydrūnė Kelpšaitė" userId="e943768126acec1d" providerId="LiveId" clId="{31712FD7-FA85-48BA-9D35-5382388CFC74}" dt="2026-01-21T18:48:28.417" v="74" actId="27636"/>
          <ac:spMkLst>
            <pc:docMk/>
            <pc:sldMk cId="3881874149" sldId="259"/>
            <ac:spMk id="8" creationId="{F8BA02BF-D93C-ABD9-8E0A-DB2CA7F2A974}"/>
          </ac:spMkLst>
        </pc:spChg>
        <pc:picChg chg="mod">
          <ac:chgData name="Žydrūnė Kelpšaitė" userId="e943768126acec1d" providerId="LiveId" clId="{31712FD7-FA85-48BA-9D35-5382388CFC74}" dt="2026-01-21T18:51:11.754" v="80" actId="1076"/>
          <ac:picMkLst>
            <pc:docMk/>
            <pc:sldMk cId="3881874149" sldId="259"/>
            <ac:picMk id="5" creationId="{61EC7E1C-96F3-7931-7FDA-4F1D35BBBA75}"/>
          </ac:picMkLst>
        </pc:picChg>
        <pc:picChg chg="mod">
          <ac:chgData name="Žydrūnė Kelpšaitė" userId="e943768126acec1d" providerId="LiveId" clId="{31712FD7-FA85-48BA-9D35-5382388CFC74}" dt="2026-01-22T08:14:05.999" v="420" actId="1076"/>
          <ac:picMkLst>
            <pc:docMk/>
            <pc:sldMk cId="3881874149" sldId="259"/>
            <ac:picMk id="6" creationId="{9A75F1F1-0E56-5955-DA47-DB2A909DBF15}"/>
          </ac:picMkLst>
        </pc:picChg>
      </pc:sldChg>
      <pc:sldChg chg="modSp mod ord">
        <pc:chgData name="Žydrūnė Kelpšaitė" userId="e943768126acec1d" providerId="LiveId" clId="{31712FD7-FA85-48BA-9D35-5382388CFC74}" dt="2026-01-21T19:04:06.844" v="213" actId="27636"/>
        <pc:sldMkLst>
          <pc:docMk/>
          <pc:sldMk cId="1314880797" sldId="260"/>
        </pc:sldMkLst>
        <pc:spChg chg="mod">
          <ac:chgData name="Žydrūnė Kelpšaitė" userId="e943768126acec1d" providerId="LiveId" clId="{31712FD7-FA85-48BA-9D35-5382388CFC74}" dt="2026-01-21T18:51:55.602" v="101" actId="20577"/>
          <ac:spMkLst>
            <pc:docMk/>
            <pc:sldMk cId="1314880797" sldId="260"/>
            <ac:spMk id="2" creationId="{0CC2EFD2-EE4A-A274-00D3-C6DF622D46DA}"/>
          </ac:spMkLst>
        </pc:spChg>
        <pc:spChg chg="mod">
          <ac:chgData name="Žydrūnė Kelpšaitė" userId="e943768126acec1d" providerId="LiveId" clId="{31712FD7-FA85-48BA-9D35-5382388CFC74}" dt="2026-01-21T19:04:06.844" v="213" actId="27636"/>
          <ac:spMkLst>
            <pc:docMk/>
            <pc:sldMk cId="1314880797" sldId="260"/>
            <ac:spMk id="3" creationId="{AC1A9F4F-F520-216E-8A41-7DFEA83081DA}"/>
          </ac:spMkLst>
        </pc:spChg>
      </pc:sldChg>
      <pc:sldChg chg="delSp mod">
        <pc:chgData name="Žydrūnė Kelpšaitė" userId="e943768126acec1d" providerId="LiveId" clId="{31712FD7-FA85-48BA-9D35-5382388CFC74}" dt="2026-01-21T19:15:57.401" v="226" actId="478"/>
        <pc:sldMkLst>
          <pc:docMk/>
          <pc:sldMk cId="2569419156" sldId="262"/>
        </pc:sldMkLst>
      </pc:sldChg>
      <pc:sldChg chg="modSp mod">
        <pc:chgData name="Žydrūnė Kelpšaitė" userId="e943768126acec1d" providerId="LiveId" clId="{31712FD7-FA85-48BA-9D35-5382388CFC74}" dt="2026-01-21T19:18:31.926" v="241" actId="20577"/>
        <pc:sldMkLst>
          <pc:docMk/>
          <pc:sldMk cId="2659272304" sldId="263"/>
        </pc:sldMkLst>
        <pc:spChg chg="mod">
          <ac:chgData name="Žydrūnė Kelpšaitė" userId="e943768126acec1d" providerId="LiveId" clId="{31712FD7-FA85-48BA-9D35-5382388CFC74}" dt="2026-01-21T19:18:31.926" v="241" actId="20577"/>
          <ac:spMkLst>
            <pc:docMk/>
            <pc:sldMk cId="2659272304" sldId="263"/>
            <ac:spMk id="3" creationId="{DEF42C18-2FA2-CF4F-6978-2219B9076320}"/>
          </ac:spMkLst>
        </pc:spChg>
      </pc:sldChg>
      <pc:sldChg chg="addSp delSp modSp mod">
        <pc:chgData name="Žydrūnė Kelpšaitė" userId="e943768126acec1d" providerId="LiveId" clId="{31712FD7-FA85-48BA-9D35-5382388CFC74}" dt="2026-01-21T19:31:35.132" v="298" actId="20577"/>
        <pc:sldMkLst>
          <pc:docMk/>
          <pc:sldMk cId="2222081502" sldId="265"/>
        </pc:sldMkLst>
        <pc:spChg chg="add mod">
          <ac:chgData name="Žydrūnė Kelpšaitė" userId="e943768126acec1d" providerId="LiveId" clId="{31712FD7-FA85-48BA-9D35-5382388CFC74}" dt="2026-01-21T19:31:35.132" v="298" actId="20577"/>
          <ac:spMkLst>
            <pc:docMk/>
            <pc:sldMk cId="2222081502" sldId="265"/>
            <ac:spMk id="7" creationId="{F4F5B7BA-C6A2-84A4-8920-754F7A738D73}"/>
          </ac:spMkLst>
        </pc:spChg>
      </pc:sldChg>
      <pc:sldChg chg="addSp delSp modSp mod">
        <pc:chgData name="Žydrūnė Kelpšaitė" userId="e943768126acec1d" providerId="LiveId" clId="{31712FD7-FA85-48BA-9D35-5382388CFC74}" dt="2026-01-22T09:25:55.431" v="441" actId="20577"/>
        <pc:sldMkLst>
          <pc:docMk/>
          <pc:sldMk cId="3628522546" sldId="266"/>
        </pc:sldMkLst>
        <pc:spChg chg="add mod">
          <ac:chgData name="Žydrūnė Kelpšaitė" userId="e943768126acec1d" providerId="LiveId" clId="{31712FD7-FA85-48BA-9D35-5382388CFC74}" dt="2026-01-22T09:25:55.431" v="441" actId="20577"/>
          <ac:spMkLst>
            <pc:docMk/>
            <pc:sldMk cId="3628522546" sldId="266"/>
            <ac:spMk id="7" creationId="{DF1BA461-894F-F38F-01A2-7E6356F52D0B}"/>
          </ac:spMkLst>
        </pc:spChg>
      </pc:sldChg>
      <pc:sldChg chg="addSp delSp modSp mod">
        <pc:chgData name="Žydrūnė Kelpšaitė" userId="e943768126acec1d" providerId="LiveId" clId="{31712FD7-FA85-48BA-9D35-5382388CFC74}" dt="2026-01-21T19:35:33.112" v="330" actId="113"/>
        <pc:sldMkLst>
          <pc:docMk/>
          <pc:sldMk cId="2254581346" sldId="267"/>
        </pc:sldMkLst>
        <pc:spChg chg="add mod">
          <ac:chgData name="Žydrūnė Kelpšaitė" userId="e943768126acec1d" providerId="LiveId" clId="{31712FD7-FA85-48BA-9D35-5382388CFC74}" dt="2026-01-21T19:35:33.112" v="330" actId="113"/>
          <ac:spMkLst>
            <pc:docMk/>
            <pc:sldMk cId="2254581346" sldId="267"/>
            <ac:spMk id="7" creationId="{9CC138C0-B973-52EA-CC13-EDD1BB695A70}"/>
          </ac:spMkLst>
        </pc:spChg>
      </pc:sldChg>
      <pc:sldChg chg="addSp modSp new mod ord">
        <pc:chgData name="Žydrūnė Kelpšaitė" userId="e943768126acec1d" providerId="LiveId" clId="{31712FD7-FA85-48BA-9D35-5382388CFC74}" dt="2026-01-22T08:12:27.151" v="418" actId="13926"/>
        <pc:sldMkLst>
          <pc:docMk/>
          <pc:sldMk cId="1778719467" sldId="268"/>
        </pc:sldMkLst>
        <pc:spChg chg="mod">
          <ac:chgData name="Žydrūnė Kelpšaitė" userId="e943768126acec1d" providerId="LiveId" clId="{31712FD7-FA85-48BA-9D35-5382388CFC74}" dt="2026-01-21T18:30:33.780" v="7"/>
          <ac:spMkLst>
            <pc:docMk/>
            <pc:sldMk cId="1778719467" sldId="268"/>
            <ac:spMk id="2" creationId="{35F9784E-A7A9-8740-CF15-85AA91B38171}"/>
          </ac:spMkLst>
        </pc:spChg>
        <pc:spChg chg="add mod">
          <ac:chgData name="Žydrūnė Kelpšaitė" userId="e943768126acec1d" providerId="LiveId" clId="{31712FD7-FA85-48BA-9D35-5382388CFC74}" dt="2026-01-22T08:12:27.151" v="418" actId="13926"/>
          <ac:spMkLst>
            <pc:docMk/>
            <pc:sldMk cId="1778719467" sldId="268"/>
            <ac:spMk id="4" creationId="{B2E0F211-94C2-D446-CE60-9AF8A474B821}"/>
          </ac:spMkLst>
        </pc:spChg>
      </pc:sldChg>
      <pc:sldChg chg="modSp add mod">
        <pc:chgData name="Žydrūnė Kelpšaitė" userId="e943768126acec1d" providerId="LiveId" clId="{31712FD7-FA85-48BA-9D35-5382388CFC74}" dt="2026-01-22T07:59:08.992" v="417" actId="13926"/>
        <pc:sldMkLst>
          <pc:docMk/>
          <pc:sldMk cId="1441329933" sldId="269"/>
        </pc:sldMkLst>
        <pc:spChg chg="mod">
          <ac:chgData name="Žydrūnė Kelpšaitė" userId="e943768126acec1d" providerId="LiveId" clId="{31712FD7-FA85-48BA-9D35-5382388CFC74}" dt="2026-01-22T07:59:08.992" v="417" actId="13926"/>
          <ac:spMkLst>
            <pc:docMk/>
            <pc:sldMk cId="1441329933" sldId="269"/>
            <ac:spMk id="3" creationId="{6B8229A9-953E-45B4-BA64-3844F198737C}"/>
          </ac:spMkLst>
        </pc:spChg>
      </pc:sldChg>
      <pc:sldChg chg="addSp delSp modSp new mod">
        <pc:chgData name="Žydrūnė Kelpšaitė" userId="e943768126acec1d" providerId="LiveId" clId="{31712FD7-FA85-48BA-9D35-5382388CFC74}" dt="2026-01-21T18:41:02.941" v="52" actId="113"/>
        <pc:sldMkLst>
          <pc:docMk/>
          <pc:sldMk cId="2923949671" sldId="270"/>
        </pc:sldMkLst>
        <pc:spChg chg="mod">
          <ac:chgData name="Žydrūnė Kelpšaitė" userId="e943768126acec1d" providerId="LiveId" clId="{31712FD7-FA85-48BA-9D35-5382388CFC74}" dt="2026-01-21T18:40:33.982" v="45"/>
          <ac:spMkLst>
            <pc:docMk/>
            <pc:sldMk cId="2923949671" sldId="270"/>
            <ac:spMk id="2" creationId="{3DD3FB1D-3AF5-1901-D5A5-FD6E56AC7F59}"/>
          </ac:spMkLst>
        </pc:spChg>
        <pc:spChg chg="add mod">
          <ac:chgData name="Žydrūnė Kelpšaitė" userId="e943768126acec1d" providerId="LiveId" clId="{31712FD7-FA85-48BA-9D35-5382388CFC74}" dt="2026-01-21T18:41:02.941" v="52" actId="113"/>
          <ac:spMkLst>
            <pc:docMk/>
            <pc:sldMk cId="2923949671" sldId="270"/>
            <ac:spMk id="5" creationId="{63205D1E-2640-3AFB-9C0C-84E429609DB1}"/>
          </ac:spMkLst>
        </pc:spChg>
      </pc:sldChg>
      <pc:sldChg chg="addSp delSp modSp new mod">
        <pc:chgData name="Žydrūnė Kelpšaitė" userId="e943768126acec1d" providerId="LiveId" clId="{31712FD7-FA85-48BA-9D35-5382388CFC74}" dt="2026-01-21T18:55:41.759" v="129" actId="21"/>
        <pc:sldMkLst>
          <pc:docMk/>
          <pc:sldMk cId="307606080" sldId="271"/>
        </pc:sldMkLst>
        <pc:spChg chg="mod">
          <ac:chgData name="Žydrūnė Kelpšaitė" userId="e943768126acec1d" providerId="LiveId" clId="{31712FD7-FA85-48BA-9D35-5382388CFC74}" dt="2026-01-21T18:54:14.720" v="120" actId="255"/>
          <ac:spMkLst>
            <pc:docMk/>
            <pc:sldMk cId="307606080" sldId="271"/>
            <ac:spMk id="2" creationId="{84B0B75D-2F8A-9B68-98D7-806CA2500B4D}"/>
          </ac:spMkLst>
        </pc:spChg>
        <pc:spChg chg="add mod">
          <ac:chgData name="Žydrūnė Kelpšaitė" userId="e943768126acec1d" providerId="LiveId" clId="{31712FD7-FA85-48BA-9D35-5382388CFC74}" dt="2026-01-21T18:55:41.759" v="129" actId="21"/>
          <ac:spMkLst>
            <pc:docMk/>
            <pc:sldMk cId="307606080" sldId="271"/>
            <ac:spMk id="5" creationId="{8B6844F6-CC3A-6C2D-D650-17846628E600}"/>
          </ac:spMkLst>
        </pc:spChg>
      </pc:sldChg>
      <pc:sldChg chg="addSp delSp modSp new mod">
        <pc:chgData name="Žydrūnė Kelpšaitė" userId="e943768126acec1d" providerId="LiveId" clId="{31712FD7-FA85-48BA-9D35-5382388CFC74}" dt="2026-02-12T11:53:25.888" v="467" actId="13926"/>
        <pc:sldMkLst>
          <pc:docMk/>
          <pc:sldMk cId="3924882686" sldId="272"/>
        </pc:sldMkLst>
        <pc:spChg chg="mod">
          <ac:chgData name="Žydrūnė Kelpšaitė" userId="e943768126acec1d" providerId="LiveId" clId="{31712FD7-FA85-48BA-9D35-5382388CFC74}" dt="2026-01-21T19:05:52.710" v="214"/>
          <ac:spMkLst>
            <pc:docMk/>
            <pc:sldMk cId="3924882686" sldId="272"/>
            <ac:spMk id="2" creationId="{75372E10-16C7-EEA4-7947-CE25A430020B}"/>
          </ac:spMkLst>
        </pc:spChg>
        <pc:spChg chg="add mod">
          <ac:chgData name="Žydrūnė Kelpšaitė" userId="e943768126acec1d" providerId="LiveId" clId="{31712FD7-FA85-48BA-9D35-5382388CFC74}" dt="2026-02-12T11:53:25.888" v="467" actId="13926"/>
          <ac:spMkLst>
            <pc:docMk/>
            <pc:sldMk cId="3924882686" sldId="272"/>
            <ac:spMk id="5" creationId="{B22779DF-B5C4-7AF9-338E-4127E4FEA1E1}"/>
          </ac:spMkLst>
        </pc:spChg>
        <pc:spChg chg="add mod">
          <ac:chgData name="Žydrūnė Kelpšaitė" userId="e943768126acec1d" providerId="LiveId" clId="{31712FD7-FA85-48BA-9D35-5382388CFC74}" dt="2026-01-21T19:07:04.451" v="224" actId="1076"/>
          <ac:spMkLst>
            <pc:docMk/>
            <pc:sldMk cId="3924882686" sldId="272"/>
            <ac:spMk id="7" creationId="{E6FE781F-5E0E-2838-E306-561D760D75CA}"/>
          </ac:spMkLst>
        </pc:spChg>
      </pc:sldChg>
      <pc:sldChg chg="modSp add mod">
        <pc:chgData name="Žydrūnė Kelpšaitė" userId="e943768126acec1d" providerId="LiveId" clId="{31712FD7-FA85-48BA-9D35-5382388CFC74}" dt="2026-01-21T18:58:12.215" v="141" actId="20577"/>
        <pc:sldMkLst>
          <pc:docMk/>
          <pc:sldMk cId="781299016" sldId="273"/>
        </pc:sldMkLst>
        <pc:spChg chg="mod">
          <ac:chgData name="Žydrūnė Kelpšaitė" userId="e943768126acec1d" providerId="LiveId" clId="{31712FD7-FA85-48BA-9D35-5382388CFC74}" dt="2026-01-21T18:58:12.215" v="141" actId="20577"/>
          <ac:spMkLst>
            <pc:docMk/>
            <pc:sldMk cId="781299016" sldId="273"/>
            <ac:spMk id="5" creationId="{DC7BE284-A9AC-FF21-FDA5-30D98A619B0E}"/>
          </ac:spMkLst>
        </pc:spChg>
      </pc:sldChg>
      <pc:sldChg chg="addSp delSp modSp new mod">
        <pc:chgData name="Žydrūnė Kelpšaitė" userId="e943768126acec1d" providerId="LiveId" clId="{31712FD7-FA85-48BA-9D35-5382388CFC74}" dt="2026-01-21T18:59:35.840" v="165" actId="20577"/>
        <pc:sldMkLst>
          <pc:docMk/>
          <pc:sldMk cId="190448260" sldId="274"/>
        </pc:sldMkLst>
        <pc:spChg chg="mod">
          <ac:chgData name="Žydrūnė Kelpšaitė" userId="e943768126acec1d" providerId="LiveId" clId="{31712FD7-FA85-48BA-9D35-5382388CFC74}" dt="2026-01-21T18:58:44.741" v="158"/>
          <ac:spMkLst>
            <pc:docMk/>
            <pc:sldMk cId="190448260" sldId="274"/>
            <ac:spMk id="2" creationId="{5B641FFD-663A-88DC-0989-1C83599D27AF}"/>
          </ac:spMkLst>
        </pc:spChg>
        <pc:spChg chg="add mod">
          <ac:chgData name="Žydrūnė Kelpšaitė" userId="e943768126acec1d" providerId="LiveId" clId="{31712FD7-FA85-48BA-9D35-5382388CFC74}" dt="2026-01-21T18:59:35.840" v="165" actId="20577"/>
          <ac:spMkLst>
            <pc:docMk/>
            <pc:sldMk cId="190448260" sldId="274"/>
            <ac:spMk id="5" creationId="{0A4458E7-54A4-FC93-89EF-70CB0AD7E84B}"/>
          </ac:spMkLst>
        </pc:spChg>
      </pc:sldChg>
      <pc:sldChg chg="modSp add mod">
        <pc:chgData name="Žydrūnė Kelpšaitė" userId="e943768126acec1d" providerId="LiveId" clId="{31712FD7-FA85-48BA-9D35-5382388CFC74}" dt="2026-01-22T08:20:23.731" v="421" actId="13926"/>
        <pc:sldMkLst>
          <pc:docMk/>
          <pc:sldMk cId="3066542109" sldId="275"/>
        </pc:sldMkLst>
        <pc:spChg chg="mod">
          <ac:chgData name="Žydrūnė Kelpšaitė" userId="e943768126acec1d" providerId="LiveId" clId="{31712FD7-FA85-48BA-9D35-5382388CFC74}" dt="2026-01-22T08:20:23.731" v="421" actId="13926"/>
          <ac:spMkLst>
            <pc:docMk/>
            <pc:sldMk cId="3066542109" sldId="275"/>
            <ac:spMk id="5" creationId="{66AB8EA8-A575-9134-30C2-56256300AD14}"/>
          </ac:spMkLst>
        </pc:spChg>
      </pc:sldChg>
      <pc:sldChg chg="modSp add mod">
        <pc:chgData name="Žydrūnė Kelpšaitė" userId="e943768126acec1d" providerId="LiveId" clId="{31712FD7-FA85-48BA-9D35-5382388CFC74}" dt="2026-01-22T08:22:21.440" v="424" actId="13926"/>
        <pc:sldMkLst>
          <pc:docMk/>
          <pc:sldMk cId="4163706049" sldId="276"/>
        </pc:sldMkLst>
        <pc:spChg chg="mod">
          <ac:chgData name="Žydrūnė Kelpšaitė" userId="e943768126acec1d" providerId="LiveId" clId="{31712FD7-FA85-48BA-9D35-5382388CFC74}" dt="2026-01-22T08:22:21.440" v="424" actId="13926"/>
          <ac:spMkLst>
            <pc:docMk/>
            <pc:sldMk cId="4163706049" sldId="276"/>
            <ac:spMk id="5" creationId="{8C049159-E260-5A5F-5107-132FE65D3999}"/>
          </ac:spMkLst>
        </pc:spChg>
      </pc:sldChg>
      <pc:sldChg chg="modSp add mod">
        <pc:chgData name="Žydrūnė Kelpšaitė" userId="e943768126acec1d" providerId="LiveId" clId="{31712FD7-FA85-48BA-9D35-5382388CFC74}" dt="2026-01-22T08:22:46.874" v="427" actId="20577"/>
        <pc:sldMkLst>
          <pc:docMk/>
          <pc:sldMk cId="4118055064" sldId="278"/>
        </pc:sldMkLst>
        <pc:spChg chg="mod">
          <ac:chgData name="Žydrūnė Kelpšaitė" userId="e943768126acec1d" providerId="LiveId" clId="{31712FD7-FA85-48BA-9D35-5382388CFC74}" dt="2026-01-22T08:22:46.874" v="427" actId="20577"/>
          <ac:spMkLst>
            <pc:docMk/>
            <pc:sldMk cId="4118055064" sldId="278"/>
            <ac:spMk id="5" creationId="{7F0BA2DB-EF69-DD3B-7B82-C646C513FF2D}"/>
          </ac:spMkLst>
        </pc:spChg>
      </pc:sldChg>
      <pc:sldChg chg="addSp delSp modSp new mod">
        <pc:chgData name="Žydrūnė Kelpšaitė" userId="e943768126acec1d" providerId="LiveId" clId="{31712FD7-FA85-48BA-9D35-5382388CFC74}" dt="2026-01-22T09:06:50.153" v="428" actId="20577"/>
        <pc:sldMkLst>
          <pc:docMk/>
          <pc:sldMk cId="3768579367" sldId="279"/>
        </pc:sldMkLst>
        <pc:spChg chg="mod">
          <ac:chgData name="Žydrūnė Kelpšaitė" userId="e943768126acec1d" providerId="LiveId" clId="{31712FD7-FA85-48BA-9D35-5382388CFC74}" dt="2026-01-21T19:16:40.028" v="228"/>
          <ac:spMkLst>
            <pc:docMk/>
            <pc:sldMk cId="3768579367" sldId="279"/>
            <ac:spMk id="2" creationId="{4E2FCB95-76E0-575C-896C-71B253FFC5B8}"/>
          </ac:spMkLst>
        </pc:spChg>
        <pc:spChg chg="add mod">
          <ac:chgData name="Žydrūnė Kelpšaitė" userId="e943768126acec1d" providerId="LiveId" clId="{31712FD7-FA85-48BA-9D35-5382388CFC74}" dt="2026-01-22T09:06:50.153" v="428" actId="20577"/>
          <ac:spMkLst>
            <pc:docMk/>
            <pc:sldMk cId="3768579367" sldId="279"/>
            <ac:spMk id="5" creationId="{70A9A5C4-0359-02D4-B366-E7C87FCE215E}"/>
          </ac:spMkLst>
        </pc:spChg>
      </pc:sldChg>
      <pc:sldChg chg="addSp delSp modSp add mod">
        <pc:chgData name="Žydrūnė Kelpšaitė" userId="e943768126acec1d" providerId="LiveId" clId="{31712FD7-FA85-48BA-9D35-5382388CFC74}" dt="2026-01-22T09:09:32.894" v="433" actId="20577"/>
        <pc:sldMkLst>
          <pc:docMk/>
          <pc:sldMk cId="1813383559" sldId="280"/>
        </pc:sldMkLst>
        <pc:spChg chg="mod">
          <ac:chgData name="Žydrūnė Kelpšaitė" userId="e943768126acec1d" providerId="LiveId" clId="{31712FD7-FA85-48BA-9D35-5382388CFC74}" dt="2026-01-21T19:17:23.551" v="234"/>
          <ac:spMkLst>
            <pc:docMk/>
            <pc:sldMk cId="1813383559" sldId="280"/>
            <ac:spMk id="2" creationId="{0B923328-CF40-36B5-D727-DF7F38C8945F}"/>
          </ac:spMkLst>
        </pc:spChg>
        <pc:spChg chg="mod">
          <ac:chgData name="Žydrūnė Kelpšaitė" userId="e943768126acec1d" providerId="LiveId" clId="{31712FD7-FA85-48BA-9D35-5382388CFC74}" dt="2026-01-22T09:09:32.894" v="433" actId="20577"/>
          <ac:spMkLst>
            <pc:docMk/>
            <pc:sldMk cId="1813383559" sldId="280"/>
            <ac:spMk id="5" creationId="{76C611DF-7E9A-C179-DD00-1E769824B0FF}"/>
          </ac:spMkLst>
        </pc:spChg>
      </pc:sldChg>
      <pc:sldChg chg="modSp new mod">
        <pc:chgData name="Žydrūnė Kelpšaitė" userId="e943768126acec1d" providerId="LiveId" clId="{31712FD7-FA85-48BA-9D35-5382388CFC74}" dt="2026-02-12T12:02:17.121" v="468" actId="13926"/>
        <pc:sldMkLst>
          <pc:docMk/>
          <pc:sldMk cId="2876035273" sldId="281"/>
        </pc:sldMkLst>
        <pc:spChg chg="mod">
          <ac:chgData name="Žydrūnė Kelpšaitė" userId="e943768126acec1d" providerId="LiveId" clId="{31712FD7-FA85-48BA-9D35-5382388CFC74}" dt="2026-01-21T19:25:54.879" v="256"/>
          <ac:spMkLst>
            <pc:docMk/>
            <pc:sldMk cId="2876035273" sldId="281"/>
            <ac:spMk id="2" creationId="{12971BA2-B62F-A469-5CF9-37358B9DD8CB}"/>
          </ac:spMkLst>
        </pc:spChg>
        <pc:spChg chg="mod">
          <ac:chgData name="Žydrūnė Kelpšaitė" userId="e943768126acec1d" providerId="LiveId" clId="{31712FD7-FA85-48BA-9D35-5382388CFC74}" dt="2026-02-12T12:02:17.121" v="468" actId="13926"/>
          <ac:spMkLst>
            <pc:docMk/>
            <pc:sldMk cId="2876035273" sldId="281"/>
            <ac:spMk id="3" creationId="{90F565A8-8373-65E8-8E3F-496C91C223D4}"/>
          </ac:spMkLst>
        </pc:spChg>
      </pc:sldChg>
      <pc:sldChg chg="addSp delSp modSp new mod">
        <pc:chgData name="Žydrūnė Kelpšaitė" userId="e943768126acec1d" providerId="LiveId" clId="{31712FD7-FA85-48BA-9D35-5382388CFC74}" dt="2026-01-22T09:17:44.852" v="437" actId="113"/>
        <pc:sldMkLst>
          <pc:docMk/>
          <pc:sldMk cId="1466921100" sldId="282"/>
        </pc:sldMkLst>
        <pc:spChg chg="mod">
          <ac:chgData name="Žydrūnė Kelpšaitė" userId="e943768126acec1d" providerId="LiveId" clId="{31712FD7-FA85-48BA-9D35-5382388CFC74}" dt="2026-01-21T19:27:28.633" v="281" actId="20577"/>
          <ac:spMkLst>
            <pc:docMk/>
            <pc:sldMk cId="1466921100" sldId="282"/>
            <ac:spMk id="2" creationId="{1B5D6A60-9965-9101-E77F-3E50A6323CBB}"/>
          </ac:spMkLst>
        </pc:spChg>
        <pc:spChg chg="add mod">
          <ac:chgData name="Žydrūnė Kelpšaitė" userId="e943768126acec1d" providerId="LiveId" clId="{31712FD7-FA85-48BA-9D35-5382388CFC74}" dt="2026-01-22T09:17:44.852" v="437" actId="113"/>
          <ac:spMkLst>
            <pc:docMk/>
            <pc:sldMk cId="1466921100" sldId="282"/>
            <ac:spMk id="5" creationId="{8DF6418E-5A9E-21AA-9542-A1AF96A41384}"/>
          </ac:spMkLst>
        </pc:spChg>
      </pc:sldChg>
      <pc:sldChg chg="addSp delSp modSp new mod">
        <pc:chgData name="Žydrūnė Kelpšaitė" userId="e943768126acec1d" providerId="LiveId" clId="{31712FD7-FA85-48BA-9D35-5382388CFC74}" dt="2026-01-22T09:18:40.289" v="439" actId="14100"/>
        <pc:sldMkLst>
          <pc:docMk/>
          <pc:sldMk cId="4028934154" sldId="283"/>
        </pc:sldMkLst>
        <pc:spChg chg="mod">
          <ac:chgData name="Žydrūnė Kelpšaitė" userId="e943768126acec1d" providerId="LiveId" clId="{31712FD7-FA85-48BA-9D35-5382388CFC74}" dt="2026-01-21T19:28:24.569" v="292"/>
          <ac:spMkLst>
            <pc:docMk/>
            <pc:sldMk cId="4028934154" sldId="283"/>
            <ac:spMk id="2" creationId="{3E42EB43-002A-70BC-BBCA-CE585633C6D0}"/>
          </ac:spMkLst>
        </pc:spChg>
        <pc:spChg chg="add mod">
          <ac:chgData name="Žydrūnė Kelpšaitė" userId="e943768126acec1d" providerId="LiveId" clId="{31712FD7-FA85-48BA-9D35-5382388CFC74}" dt="2026-01-22T09:18:40.289" v="439" actId="14100"/>
          <ac:spMkLst>
            <pc:docMk/>
            <pc:sldMk cId="4028934154" sldId="283"/>
            <ac:spMk id="7" creationId="{368158A4-9A9C-CAAC-12DC-06B6CEAE5AD0}"/>
          </ac:spMkLst>
        </pc:spChg>
      </pc:sldChg>
      <pc:sldChg chg="addSp delSp modSp new mod">
        <pc:chgData name="Žydrūnė Kelpšaitė" userId="e943768126acec1d" providerId="LiveId" clId="{31712FD7-FA85-48BA-9D35-5382388CFC74}" dt="2026-01-21T19:32:29.123" v="307" actId="113"/>
        <pc:sldMkLst>
          <pc:docMk/>
          <pc:sldMk cId="3238264610" sldId="284"/>
        </pc:sldMkLst>
        <pc:spChg chg="mod">
          <ac:chgData name="Žydrūnė Kelpšaitė" userId="e943768126acec1d" providerId="LiveId" clId="{31712FD7-FA85-48BA-9D35-5382388CFC74}" dt="2026-01-21T19:31:47.645" v="300"/>
          <ac:spMkLst>
            <pc:docMk/>
            <pc:sldMk cId="3238264610" sldId="284"/>
            <ac:spMk id="2" creationId="{29DA1C87-7CA8-7D37-25EC-563C89813142}"/>
          </ac:spMkLst>
        </pc:spChg>
        <pc:spChg chg="add mod">
          <ac:chgData name="Žydrūnė Kelpšaitė" userId="e943768126acec1d" providerId="LiveId" clId="{31712FD7-FA85-48BA-9D35-5382388CFC74}" dt="2026-01-21T19:32:29.123" v="307" actId="113"/>
          <ac:spMkLst>
            <pc:docMk/>
            <pc:sldMk cId="3238264610" sldId="284"/>
            <ac:spMk id="5" creationId="{4C246B55-D8A9-3E52-7A4D-5F97A67B5D3E}"/>
          </ac:spMkLst>
        </pc:spChg>
      </pc:sldChg>
      <pc:sldChg chg="modSp add mod">
        <pc:chgData name="Žydrūnė Kelpšaitė" userId="e943768126acec1d" providerId="LiveId" clId="{31712FD7-FA85-48BA-9D35-5382388CFC74}" dt="2026-01-21T19:34:21.022" v="321" actId="20577"/>
        <pc:sldMkLst>
          <pc:docMk/>
          <pc:sldMk cId="2096487255" sldId="285"/>
        </pc:sldMkLst>
        <pc:spChg chg="mod">
          <ac:chgData name="Žydrūnė Kelpšaitė" userId="e943768126acec1d" providerId="LiveId" clId="{31712FD7-FA85-48BA-9D35-5382388CFC74}" dt="2026-01-21T19:34:21.022" v="321" actId="20577"/>
          <ac:spMkLst>
            <pc:docMk/>
            <pc:sldMk cId="2096487255" sldId="285"/>
            <ac:spMk id="7" creationId="{A80C8ACD-CD6F-EE69-F49D-895E46E864D3}"/>
          </ac:spMkLst>
        </pc:spChg>
      </pc:sldChg>
      <pc:sldChg chg="addSp delSp modSp add mod">
        <pc:chgData name="Žydrūnė Kelpšaitė" userId="e943768126acec1d" providerId="LiveId" clId="{31712FD7-FA85-48BA-9D35-5382388CFC74}" dt="2026-01-21T19:37:00.514" v="346" actId="478"/>
        <pc:sldMkLst>
          <pc:docMk/>
          <pc:sldMk cId="1246378733" sldId="286"/>
        </pc:sldMkLst>
        <pc:spChg chg="mod">
          <ac:chgData name="Žydrūnė Kelpšaitė" userId="e943768126acec1d" providerId="LiveId" clId="{31712FD7-FA85-48BA-9D35-5382388CFC74}" dt="2026-01-21T19:36:09.215" v="334" actId="20577"/>
          <ac:spMkLst>
            <pc:docMk/>
            <pc:sldMk cId="1246378733" sldId="286"/>
            <ac:spMk id="7" creationId="{72737B77-8273-8C23-1C44-1D1A1489939E}"/>
          </ac:spMkLst>
        </pc:spChg>
      </pc:sldChg>
      <pc:sldChg chg="modSp new">
        <pc:chgData name="Žydrūnė Kelpšaitė" userId="e943768126acec1d" providerId="LiveId" clId="{31712FD7-FA85-48BA-9D35-5382388CFC74}" dt="2026-01-21T19:37:08.499" v="347"/>
        <pc:sldMkLst>
          <pc:docMk/>
          <pc:sldMk cId="468007327" sldId="287"/>
        </pc:sldMkLst>
        <pc:spChg chg="mod">
          <ac:chgData name="Žydrūnė Kelpšaitė" userId="e943768126acec1d" providerId="LiveId" clId="{31712FD7-FA85-48BA-9D35-5382388CFC74}" dt="2026-01-21T19:37:08.499" v="347"/>
          <ac:spMkLst>
            <pc:docMk/>
            <pc:sldMk cId="468007327" sldId="287"/>
            <ac:spMk id="2" creationId="{E0326605-17AF-AAA6-55D6-90863B73B518}"/>
          </ac:spMkLst>
        </pc:spChg>
        <pc:spChg chg="mod">
          <ac:chgData name="Žydrūnė Kelpšaitė" userId="e943768126acec1d" providerId="LiveId" clId="{31712FD7-FA85-48BA-9D35-5382388CFC74}" dt="2026-01-21T19:36:52.600" v="345"/>
          <ac:spMkLst>
            <pc:docMk/>
            <pc:sldMk cId="468007327" sldId="287"/>
            <ac:spMk id="3" creationId="{74D37E21-67A4-2D78-A025-0FF2283E4454}"/>
          </ac:spMkLst>
        </pc:spChg>
      </pc:sldChg>
      <pc:sldChg chg="addSp delSp modSp new mod">
        <pc:chgData name="Žydrūnė Kelpšaitė" userId="e943768126acec1d" providerId="LiveId" clId="{31712FD7-FA85-48BA-9D35-5382388CFC74}" dt="2026-02-12T12:11:31.110" v="469" actId="13926"/>
        <pc:sldMkLst>
          <pc:docMk/>
          <pc:sldMk cId="860433827" sldId="288"/>
        </pc:sldMkLst>
        <pc:spChg chg="mod">
          <ac:chgData name="Žydrūnė Kelpšaitė" userId="e943768126acec1d" providerId="LiveId" clId="{31712FD7-FA85-48BA-9D35-5382388CFC74}" dt="2026-01-21T19:40:10.673" v="350" actId="20577"/>
          <ac:spMkLst>
            <pc:docMk/>
            <pc:sldMk cId="860433827" sldId="288"/>
            <ac:spMk id="2" creationId="{4C976763-B922-C10F-7D3B-30C68C9C8606}"/>
          </ac:spMkLst>
        </pc:spChg>
        <pc:spChg chg="add mod">
          <ac:chgData name="Žydrūnė Kelpšaitė" userId="e943768126acec1d" providerId="LiveId" clId="{31712FD7-FA85-48BA-9D35-5382388CFC74}" dt="2026-02-12T12:11:31.110" v="469" actId="13926"/>
          <ac:spMkLst>
            <pc:docMk/>
            <pc:sldMk cId="860433827" sldId="288"/>
            <ac:spMk id="5" creationId="{6DDFF747-C7E0-088C-D462-B35A3D058C61}"/>
          </ac:spMkLst>
        </pc:spChg>
      </pc:sldChg>
      <pc:sldChg chg="modSp add mod ord">
        <pc:chgData name="Žydrūnė Kelpšaitė" userId="e943768126acec1d" providerId="LiveId" clId="{31712FD7-FA85-48BA-9D35-5382388CFC74}" dt="2026-01-21T19:41:27.373" v="365"/>
        <pc:sldMkLst>
          <pc:docMk/>
          <pc:sldMk cId="4104658881" sldId="289"/>
        </pc:sldMkLst>
        <pc:spChg chg="mod">
          <ac:chgData name="Žydrūnė Kelpšaitė" userId="e943768126acec1d" providerId="LiveId" clId="{31712FD7-FA85-48BA-9D35-5382388CFC74}" dt="2026-01-21T19:41:21.693" v="363" actId="20577"/>
          <ac:spMkLst>
            <pc:docMk/>
            <pc:sldMk cId="4104658881" sldId="289"/>
            <ac:spMk id="5" creationId="{AD656DBF-DFD8-34AB-D5DD-D210D3648A8C}"/>
          </ac:spMkLst>
        </pc:spChg>
      </pc:sldChg>
      <pc:sldChg chg="modSp add mod ord">
        <pc:chgData name="Žydrūnė Kelpšaitė" userId="e943768126acec1d" providerId="LiveId" clId="{31712FD7-FA85-48BA-9D35-5382388CFC74}" dt="2026-01-21T19:42:02.670" v="373"/>
        <pc:sldMkLst>
          <pc:docMk/>
          <pc:sldMk cId="2594958078" sldId="290"/>
        </pc:sldMkLst>
        <pc:spChg chg="mod">
          <ac:chgData name="Žydrūnė Kelpšaitė" userId="e943768126acec1d" providerId="LiveId" clId="{31712FD7-FA85-48BA-9D35-5382388CFC74}" dt="2026-01-21T19:42:00.147" v="371" actId="113"/>
          <ac:spMkLst>
            <pc:docMk/>
            <pc:sldMk cId="2594958078" sldId="290"/>
            <ac:spMk id="5" creationId="{8A5E3E3D-01ED-E3A8-A2F8-30981A9F5052}"/>
          </ac:spMkLst>
        </pc:spChg>
      </pc:sldChg>
      <pc:sldChg chg="modSp add mod">
        <pc:chgData name="Žydrūnė Kelpšaitė" userId="e943768126acec1d" providerId="LiveId" clId="{31712FD7-FA85-48BA-9D35-5382388CFC74}" dt="2026-01-21T19:42:31.921" v="378" actId="113"/>
        <pc:sldMkLst>
          <pc:docMk/>
          <pc:sldMk cId="586344099" sldId="291"/>
        </pc:sldMkLst>
        <pc:spChg chg="mod">
          <ac:chgData name="Žydrūnė Kelpšaitė" userId="e943768126acec1d" providerId="LiveId" clId="{31712FD7-FA85-48BA-9D35-5382388CFC74}" dt="2026-01-21T19:42:31.921" v="378" actId="113"/>
          <ac:spMkLst>
            <pc:docMk/>
            <pc:sldMk cId="586344099" sldId="291"/>
            <ac:spMk id="5" creationId="{75B77BB7-90DF-DDF5-37D6-39D23C3D3793}"/>
          </ac:spMkLst>
        </pc:spChg>
      </pc:sldChg>
      <pc:sldChg chg="modSp new">
        <pc:chgData name="Žydrūnė Kelpšaitė" userId="e943768126acec1d" providerId="LiveId" clId="{31712FD7-FA85-48BA-9D35-5382388CFC74}" dt="2026-01-22T07:19:54.500" v="383"/>
        <pc:sldMkLst>
          <pc:docMk/>
          <pc:sldMk cId="3194700474" sldId="292"/>
        </pc:sldMkLst>
        <pc:spChg chg="mod">
          <ac:chgData name="Žydrūnė Kelpšaitė" userId="e943768126acec1d" providerId="LiveId" clId="{31712FD7-FA85-48BA-9D35-5382388CFC74}" dt="2026-01-22T07:19:47.019" v="382"/>
          <ac:spMkLst>
            <pc:docMk/>
            <pc:sldMk cId="3194700474" sldId="292"/>
            <ac:spMk id="2" creationId="{AE0DBB2D-304A-96AE-1C79-818FA62961D7}"/>
          </ac:spMkLst>
        </pc:spChg>
        <pc:spChg chg="mod">
          <ac:chgData name="Žydrūnė Kelpšaitė" userId="e943768126acec1d" providerId="LiveId" clId="{31712FD7-FA85-48BA-9D35-5382388CFC74}" dt="2026-01-22T07:19:54.500" v="383"/>
          <ac:spMkLst>
            <pc:docMk/>
            <pc:sldMk cId="3194700474" sldId="292"/>
            <ac:spMk id="3" creationId="{A4B2F312-275C-B148-2536-70C90D75E78D}"/>
          </ac:spMkLst>
        </pc:spChg>
      </pc:sldChg>
      <pc:sldChg chg="modSp new mod">
        <pc:chgData name="Žydrūnė Kelpšaitė" userId="e943768126acec1d" providerId="LiveId" clId="{31712FD7-FA85-48BA-9D35-5382388CFC74}" dt="2026-01-22T07:20:20.427" v="387"/>
        <pc:sldMkLst>
          <pc:docMk/>
          <pc:sldMk cId="1658349466" sldId="293"/>
        </pc:sldMkLst>
        <pc:spChg chg="mod">
          <ac:chgData name="Žydrūnė Kelpšaitė" userId="e943768126acec1d" providerId="LiveId" clId="{31712FD7-FA85-48BA-9D35-5382388CFC74}" dt="2026-01-22T07:20:20.427" v="387"/>
          <ac:spMkLst>
            <pc:docMk/>
            <pc:sldMk cId="1658349466" sldId="293"/>
            <ac:spMk id="2" creationId="{37C6D642-0A2D-28DB-30DE-24EB0D83671B}"/>
          </ac:spMkLst>
        </pc:spChg>
        <pc:spChg chg="mod">
          <ac:chgData name="Žydrūnė Kelpšaitė" userId="e943768126acec1d" providerId="LiveId" clId="{31712FD7-FA85-48BA-9D35-5382388CFC74}" dt="2026-01-22T07:20:18.632" v="386" actId="21"/>
          <ac:spMkLst>
            <pc:docMk/>
            <pc:sldMk cId="1658349466" sldId="293"/>
            <ac:spMk id="3" creationId="{C5B41ADC-652F-1F58-37F6-C6980B473244}"/>
          </ac:spMkLst>
        </pc:spChg>
      </pc:sldChg>
      <pc:sldChg chg="modSp new mod">
        <pc:chgData name="Žydrūnė Kelpšaitė" userId="e943768126acec1d" providerId="LiveId" clId="{31712FD7-FA85-48BA-9D35-5382388CFC74}" dt="2026-01-22T07:20:41.366" v="394" actId="27636"/>
        <pc:sldMkLst>
          <pc:docMk/>
          <pc:sldMk cId="1702619897" sldId="294"/>
        </pc:sldMkLst>
        <pc:spChg chg="mod">
          <ac:chgData name="Žydrūnė Kelpšaitė" userId="e943768126acec1d" providerId="LiveId" clId="{31712FD7-FA85-48BA-9D35-5382388CFC74}" dt="2026-01-22T07:20:41.366" v="394" actId="27636"/>
          <ac:spMkLst>
            <pc:docMk/>
            <pc:sldMk cId="1702619897" sldId="294"/>
            <ac:spMk id="2" creationId="{80F66A8F-AF48-C624-41C2-5CFE58975B21}"/>
          </ac:spMkLst>
        </pc:spChg>
        <pc:spChg chg="mod">
          <ac:chgData name="Žydrūnė Kelpšaitė" userId="e943768126acec1d" providerId="LiveId" clId="{31712FD7-FA85-48BA-9D35-5382388CFC74}" dt="2026-01-22T07:20:40.249" v="392" actId="27636"/>
          <ac:spMkLst>
            <pc:docMk/>
            <pc:sldMk cId="1702619897" sldId="294"/>
            <ac:spMk id="3" creationId="{9413B304-75D1-A2A7-CCCD-614B68A4FF32}"/>
          </ac:spMkLst>
        </pc:spChg>
      </pc:sldChg>
      <pc:sldChg chg="modSp new mod">
        <pc:chgData name="Žydrūnė Kelpšaitė" userId="e943768126acec1d" providerId="LiveId" clId="{31712FD7-FA85-48BA-9D35-5382388CFC74}" dt="2026-01-22T07:21:01.494" v="398"/>
        <pc:sldMkLst>
          <pc:docMk/>
          <pc:sldMk cId="207190982" sldId="295"/>
        </pc:sldMkLst>
        <pc:spChg chg="mod">
          <ac:chgData name="Žydrūnė Kelpšaitė" userId="e943768126acec1d" providerId="LiveId" clId="{31712FD7-FA85-48BA-9D35-5382388CFC74}" dt="2026-01-22T07:21:01.494" v="398"/>
          <ac:spMkLst>
            <pc:docMk/>
            <pc:sldMk cId="207190982" sldId="295"/>
            <ac:spMk id="2" creationId="{023CE367-51C9-2558-7A5C-71AC5241EFCA}"/>
          </ac:spMkLst>
        </pc:spChg>
        <pc:spChg chg="mod">
          <ac:chgData name="Žydrūnė Kelpšaitė" userId="e943768126acec1d" providerId="LiveId" clId="{31712FD7-FA85-48BA-9D35-5382388CFC74}" dt="2026-01-22T07:21:00.391" v="397" actId="21"/>
          <ac:spMkLst>
            <pc:docMk/>
            <pc:sldMk cId="207190982" sldId="295"/>
            <ac:spMk id="3" creationId="{A1E84835-7BEA-6D37-F6F2-D3C7FB6F47B8}"/>
          </ac:spMkLst>
        </pc:spChg>
      </pc:sldChg>
      <pc:sldChg chg="addSp delSp modSp new mod">
        <pc:chgData name="Žydrūnė Kelpšaitė" userId="e943768126acec1d" providerId="LiveId" clId="{31712FD7-FA85-48BA-9D35-5382388CFC74}" dt="2026-01-22T07:21:28.130" v="405"/>
        <pc:sldMkLst>
          <pc:docMk/>
          <pc:sldMk cId="739768388" sldId="296"/>
        </pc:sldMkLst>
        <pc:spChg chg="mod">
          <ac:chgData name="Žydrūnė Kelpšaitė" userId="e943768126acec1d" providerId="LiveId" clId="{31712FD7-FA85-48BA-9D35-5382388CFC74}" dt="2026-01-22T07:21:28.130" v="405"/>
          <ac:spMkLst>
            <pc:docMk/>
            <pc:sldMk cId="739768388" sldId="296"/>
            <ac:spMk id="2" creationId="{BCF1F1BD-5830-7A4E-F57E-5945D8F5D8AB}"/>
          </ac:spMkLst>
        </pc:spChg>
        <pc:spChg chg="add del mod">
          <ac:chgData name="Žydrūnė Kelpšaitė" userId="e943768126acec1d" providerId="LiveId" clId="{31712FD7-FA85-48BA-9D35-5382388CFC74}" dt="2026-01-22T07:21:26.161" v="404" actId="21"/>
          <ac:spMkLst>
            <pc:docMk/>
            <pc:sldMk cId="739768388" sldId="296"/>
            <ac:spMk id="3" creationId="{0A08B0E3-3C19-71BB-C6D8-883CE0B1ADC6}"/>
          </ac:spMkLst>
        </pc:spChg>
      </pc:sldChg>
      <pc:sldChg chg="modSp add mod">
        <pc:chgData name="Žydrūnė Kelpšaitė" userId="e943768126acec1d" providerId="LiveId" clId="{31712FD7-FA85-48BA-9D35-5382388CFC74}" dt="2026-01-22T07:22:05.266" v="412" actId="5793"/>
        <pc:sldMkLst>
          <pc:docMk/>
          <pc:sldMk cId="3007795645" sldId="297"/>
        </pc:sldMkLst>
        <pc:spChg chg="mod">
          <ac:chgData name="Žydrūnė Kelpšaitė" userId="e943768126acec1d" providerId="LiveId" clId="{31712FD7-FA85-48BA-9D35-5382388CFC74}" dt="2026-01-22T07:22:05.266" v="412" actId="5793"/>
          <ac:spMkLst>
            <pc:docMk/>
            <pc:sldMk cId="3007795645" sldId="297"/>
            <ac:spMk id="3" creationId="{A857C263-2CE9-532B-650E-CBA0511217FA}"/>
          </ac:spMkLst>
        </pc:spChg>
      </pc:sldChg>
      <pc:sldChg chg="addSp delSp modSp new mod">
        <pc:chgData name="Žydrūnė Kelpšaitė" userId="e943768126acec1d" providerId="LiveId" clId="{31712FD7-FA85-48BA-9D35-5382388CFC74}" dt="2026-02-12T10:55:14.261" v="464" actId="6549"/>
        <pc:sldMkLst>
          <pc:docMk/>
          <pc:sldMk cId="3304092731" sldId="298"/>
        </pc:sldMkLst>
        <pc:spChg chg="del">
          <ac:chgData name="Žydrūnė Kelpšaitė" userId="e943768126acec1d" providerId="LiveId" clId="{31712FD7-FA85-48BA-9D35-5382388CFC74}" dt="2026-02-12T10:53:18.397" v="446" actId="478"/>
          <ac:spMkLst>
            <pc:docMk/>
            <pc:sldMk cId="3304092731" sldId="298"/>
            <ac:spMk id="2" creationId="{D59A2E8F-7D59-D082-A474-6C58B5BCAE7E}"/>
          </ac:spMkLst>
        </pc:spChg>
        <pc:spChg chg="del">
          <ac:chgData name="Žydrūnė Kelpšaitė" userId="e943768126acec1d" providerId="LiveId" clId="{31712FD7-FA85-48BA-9D35-5382388CFC74}" dt="2026-02-12T10:53:11.676" v="443" actId="22"/>
          <ac:spMkLst>
            <pc:docMk/>
            <pc:sldMk cId="3304092731" sldId="298"/>
            <ac:spMk id="3" creationId="{FAC83305-23B3-8B66-B27F-F75347AB2029}"/>
          </ac:spMkLst>
        </pc:spChg>
        <pc:spChg chg="add mod">
          <ac:chgData name="Žydrūnė Kelpšaitė" userId="e943768126acec1d" providerId="LiveId" clId="{31712FD7-FA85-48BA-9D35-5382388CFC74}" dt="2026-02-12T10:55:14.261" v="464" actId="6549"/>
          <ac:spMkLst>
            <pc:docMk/>
            <pc:sldMk cId="3304092731" sldId="298"/>
            <ac:spMk id="7" creationId="{DFB21E44-87C2-03FE-8662-CC025488E3A3}"/>
          </ac:spMkLst>
        </pc:spChg>
        <pc:spChg chg="add del mod">
          <ac:chgData name="Žydrūnė Kelpšaitė" userId="e943768126acec1d" providerId="LiveId" clId="{31712FD7-FA85-48BA-9D35-5382388CFC74}" dt="2026-02-12T10:54:57.686" v="460" actId="478"/>
          <ac:spMkLst>
            <pc:docMk/>
            <pc:sldMk cId="3304092731" sldId="298"/>
            <ac:spMk id="9" creationId="{10E00ECA-8EF5-05FC-1267-C5760F968F95}"/>
          </ac:spMkLst>
        </pc:spChg>
        <pc:picChg chg="add mod ord">
          <ac:chgData name="Žydrūnė Kelpšaitė" userId="e943768126acec1d" providerId="LiveId" clId="{31712FD7-FA85-48BA-9D35-5382388CFC74}" dt="2026-02-12T10:55:07.311" v="462" actId="1076"/>
          <ac:picMkLst>
            <pc:docMk/>
            <pc:sldMk cId="3304092731" sldId="298"/>
            <ac:picMk id="5" creationId="{F045EEB1-E638-E733-0857-34C269E9AB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E3CE0-C1A1-4138-AC05-D625A729A24D}" type="datetimeFigureOut">
              <a:rPr lang="lt-LT" smtClean="0"/>
              <a:t>2026-02-12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74675-8660-419D-9D05-8B10BE3A9F4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8050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x̄ – imties vidurkis, t. y. geriausias taškinis populiacijos vidurkio įvertis.</a:t>
            </a:r>
            <a:br>
              <a:rPr lang="lt-LT" dirty="0"/>
            </a:br>
            <a:r>
              <a:rPr lang="lt-LT" dirty="0"/>
              <a:t>t₍</a:t>
            </a:r>
            <a:r>
              <a:rPr lang="el-GR" dirty="0"/>
              <a:t>α⁄2, </a:t>
            </a:r>
            <a:r>
              <a:rPr lang="lt-LT" dirty="0" err="1"/>
              <a:t>df</a:t>
            </a:r>
            <a:r>
              <a:rPr lang="lt-LT" dirty="0"/>
              <a:t>₎ – kritinė reikšmė iš Studento t skirstinio, priklausanti nuo pasirinkto patikimumo lygio ir laisvės laipsnių.</a:t>
            </a:r>
            <a:br>
              <a:rPr lang="lt-LT" dirty="0"/>
            </a:br>
            <a:r>
              <a:rPr lang="lt-LT" dirty="0"/>
              <a:t>s – imties standartinis nuokrypis, naudojamas kaip populiacijos sklaidos įvertis.</a:t>
            </a:r>
            <a:br>
              <a:rPr lang="lt-LT" dirty="0"/>
            </a:br>
            <a:r>
              <a:rPr lang="lt-LT" dirty="0"/>
              <a:t>n – imties dydis.</a:t>
            </a:r>
            <a:br>
              <a:rPr lang="lt-LT" dirty="0"/>
            </a:br>
            <a:r>
              <a:rPr lang="lt-LT" dirty="0" err="1"/>
              <a:t>df</a:t>
            </a:r>
            <a:r>
              <a:rPr lang="lt-LT" dirty="0"/>
              <a:t> – laisvės laipsniai, paprastai </a:t>
            </a:r>
            <a:r>
              <a:rPr lang="lt-LT" dirty="0" err="1"/>
              <a:t>df</a:t>
            </a:r>
            <a:r>
              <a:rPr lang="lt-LT" dirty="0"/>
              <a:t> = n − 1.</a:t>
            </a:r>
          </a:p>
          <a:p>
            <a:r>
              <a:rPr lang="lt-LT" dirty="0"/>
              <a:t>Kaip tai interpretuoti :</a:t>
            </a:r>
            <a:br>
              <a:rPr lang="lt-LT" dirty="0"/>
            </a:br>
            <a:r>
              <a:rPr lang="lt-LT" dirty="0"/>
              <a:t>Imties vidurkis yra intervalo centras. Paklaidos dalis parodo, kiek šis vidurkis gali svyruoti dėl imties atsitiktinumo. Kuo didesnė imtis arba mažesnė sklaida, tuo </a:t>
            </a:r>
            <a:r>
              <a:rPr lang="lt-LT" dirty="0" err="1"/>
              <a:t>pasikliautinis</a:t>
            </a:r>
            <a:r>
              <a:rPr lang="lt-LT" dirty="0"/>
              <a:t> intervalas siauresnis.</a:t>
            </a: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74675-8660-419D-9D05-8B10BE3A9F44}" type="slidenum">
              <a:rPr lang="lt-LT" smtClean="0"/>
              <a:t>12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72020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Formulės reikšmė:</a:t>
            </a:r>
            <a:br>
              <a:rPr lang="lt-LT" dirty="0"/>
            </a:br>
            <a:r>
              <a:rPr lang="lt-LT" dirty="0"/>
              <a:t>p̂ ± Z₍</a:t>
            </a:r>
            <a:r>
              <a:rPr lang="el-GR" dirty="0"/>
              <a:t>α⁄2₎ × √( </a:t>
            </a:r>
            <a:r>
              <a:rPr lang="lt-LT" dirty="0"/>
              <a:t>p̂(1 − p̂) / n )</a:t>
            </a:r>
          </a:p>
          <a:p>
            <a:r>
              <a:rPr lang="lt-LT" dirty="0"/>
              <a:t>Kur:</a:t>
            </a:r>
            <a:br>
              <a:rPr lang="lt-LT" dirty="0"/>
            </a:br>
            <a:r>
              <a:rPr lang="lt-LT" dirty="0"/>
              <a:t>p̂ – imties proporcija, pavyzdžiui, teigiamų atsakymų dalis arba konversijos rodiklis.</a:t>
            </a:r>
            <a:br>
              <a:rPr lang="lt-LT" dirty="0"/>
            </a:br>
            <a:r>
              <a:rPr lang="lt-LT" dirty="0"/>
              <a:t>Z₍</a:t>
            </a:r>
            <a:r>
              <a:rPr lang="el-GR" dirty="0"/>
              <a:t>α⁄2₎ – </a:t>
            </a:r>
            <a:r>
              <a:rPr lang="lt-LT" dirty="0"/>
              <a:t>kritinė reikšmė iš standartinio normaliojo skirstinio, priklausanti nuo pasirinkto pasikliautinumo lygio.</a:t>
            </a:r>
            <a:br>
              <a:rPr lang="lt-LT" dirty="0"/>
            </a:br>
            <a:r>
              <a:rPr lang="lt-LT" dirty="0"/>
              <a:t>n – imties dydis.</a:t>
            </a:r>
          </a:p>
          <a:p>
            <a:r>
              <a:rPr lang="lt-LT" dirty="0"/>
              <a:t>Šakninė dalis yra proporcijos standartinė paklaida, kuri parodo, kiek imties proporcija gali svyruoti dėl atsitiktinumo.</a:t>
            </a:r>
          </a:p>
          <a:p>
            <a:r>
              <a:rPr lang="lt-LT" dirty="0"/>
              <a:t>Kaip interpretuoti:</a:t>
            </a:r>
            <a:br>
              <a:rPr lang="lt-LT" dirty="0"/>
            </a:br>
            <a:r>
              <a:rPr lang="lt-LT" dirty="0" err="1"/>
              <a:t>Pasikliautinis</a:t>
            </a:r>
            <a:r>
              <a:rPr lang="lt-LT" dirty="0"/>
              <a:t> intervalas nurodo reikšmių intervalą, kuriame su pasirinktu patikimumu tikėtina rasti tikrąją populiacijos proporciją.</a:t>
            </a:r>
          </a:p>
          <a:p>
            <a:r>
              <a:rPr lang="lt-LT" dirty="0"/>
              <a:t>Analitinis kontekstas:</a:t>
            </a:r>
            <a:br>
              <a:rPr lang="lt-LT" dirty="0"/>
            </a:br>
            <a:r>
              <a:rPr lang="lt-LT" dirty="0"/>
              <a:t>Ši formulė plačiai naudojama vertinant apklausų rezultatus, konversijų rodiklius, pasitenkinimo lygį ir kitus procentinius rodiklius verslo analitikoje.</a:t>
            </a: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74675-8660-419D-9D05-8B10BE3A9F44}" type="slidenum">
              <a:rPr lang="lt-LT" smtClean="0"/>
              <a:t>13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15360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0EA8-5B5A-274E-746D-F07F8062A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94A8E-D9E8-1B0F-D5A3-40219EF70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F1912-FA87-9D1F-E142-AFC994DF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5F8CF-2366-D07A-DB00-056AC8DC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57F1-DDE3-3039-9438-6C413C06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9EE4-D8B3-A868-11E1-BEC882FE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604F-5F25-C7B9-750D-BEE68A08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83ECD-3E2C-F590-A966-C3F0BC28F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EE91-841E-CABF-D40C-8E412BAC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6DBAB-2134-DC81-F880-8EB65E3F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3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ADA8-B99E-FB63-9632-B40D85C0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06A1D-2A45-D2B3-264E-9A5767460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834C-E4C4-EB80-6747-36AD37B3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BE3BB-B121-91F0-CE6B-515F44BF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D4521-FBA5-2948-4D1B-19B4EA4F1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7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7965-4AF9-94EA-3CB0-8400C8F7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43CB0-C0A3-6882-F8D5-E944115DE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8F483-EB85-B49C-60D1-09DDECA73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266AF-BE19-4374-7D07-0A57980D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AC2D1-8F31-4BB4-D11F-99138533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91280-61E3-540B-1117-62A711C6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0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C98B-CE19-E151-665A-DCEFD26D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A8FB0-22B3-1AFD-9ADF-AA90AF7FE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5DFF3-1476-D1BB-B7FD-4C1E257B3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34907-92C8-C122-85C4-A847618A9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B952D-BD66-0A51-CC88-4A5674BAF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FDB239-30EB-9A0C-0CF6-9AE17CA7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A5DBD-5ED8-8DFF-610B-ADB2745D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015203-600B-11C9-CEF4-595B77A9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6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E515-3945-EA31-1AAC-F3BBDB52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409E9-FF14-5744-3653-B9032FB5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375B63-651F-EE75-431D-5223A7C6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988DA-2D1A-F198-0CB1-2F33DAF3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8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B7374-882D-91BC-64FE-EFD13DBEA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753AD-0A11-C67D-3C38-C2AAB841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DA483-60D5-33B7-AA8D-BE6854B4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0CE1-C4AB-EEB8-A0B1-105F78A3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E4909-0CA9-3F45-2D80-BE0F17E7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2C9F7-502B-C182-4CA6-C68419943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DE46F-DD95-1824-3066-0CAC75FB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1396-26C9-8BC0-9CF7-E5DD44DB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A245B-D5CF-3F4F-C691-4C6441FC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9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91D7-9618-17B8-EF78-4727CF10A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156224-AEAC-E0D9-32FA-56C4C7B66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1C3FE-90E4-AA70-8063-71FE87FAF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BF17B-5245-2437-27CD-8309A94D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28C41-71C8-578A-4402-80F39C4B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A741C-96B5-27A5-03E0-DD8ED1ED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5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2C7C-DB61-54E8-E895-C45A5EA8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FAFB6-895F-294F-E330-3072E4460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80AEE-9C60-11E2-5336-A6C83005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86402-1232-0031-19DD-CE945A61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40519-5362-FFD2-0E15-7D5FE0A3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1988C5-75FD-E5D3-3747-F324405DC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6DDD4-94F2-1C6C-F601-D2BAD73D0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1C2D7-B80A-71A6-6D70-80012FBE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F8626-D9AF-2796-47A3-B6C7C6B5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8DE2B-1C8B-03E4-4243-EF1C71F0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4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40DC8-7C2F-672C-64D8-C9E9B98B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DD2A6-CAA5-4F58-690A-02422F199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0DB4E-56E9-8616-7903-49B3319B0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47249-7CC4-4DB9-8AF2-044957CDFC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1A920-BFE4-1C92-492F-51A7D71DF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8D315-925D-3355-DCFE-129538863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6448C-B4D2-4761-9983-D2306EB78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1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49FB-3E78-AE7A-CD93-1943C308D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5" y="620918"/>
            <a:ext cx="9144000" cy="2387600"/>
          </a:xfrm>
        </p:spPr>
        <p:txBody>
          <a:bodyPr/>
          <a:lstStyle/>
          <a:p>
            <a:r>
              <a:rPr lang="en-US" dirty="0" err="1"/>
              <a:t>Pasikliautiniai</a:t>
            </a:r>
            <a:r>
              <a:rPr lang="en-US" dirty="0"/>
              <a:t> </a:t>
            </a:r>
            <a:r>
              <a:rPr lang="en-US" dirty="0" err="1"/>
              <a:t>intervalai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63FAC0E-8B65-E06F-4BFB-8AFDCF044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/>
          <a:p>
            <a:r>
              <a:rPr lang="lt-LT" sz="3400" dirty="0"/>
              <a:t>Žydrūnė Kelpšaitė</a:t>
            </a:r>
          </a:p>
          <a:p>
            <a:r>
              <a:rPr lang="lt-LT" sz="3400" dirty="0"/>
              <a:t>Data </a:t>
            </a:r>
            <a:r>
              <a:rPr lang="lt-LT" sz="3400" dirty="0" err="1"/>
              <a:t>Analyst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22225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B4FB-5D1F-8128-A55D-CCB63042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Populiacija ir imtis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8D72-7F75-8B75-CE77-2FD3CDE5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lt-LT" b="1" dirty="0"/>
              <a:t>Populiacija</a:t>
            </a:r>
            <a:r>
              <a:rPr lang="lt-LT" dirty="0"/>
              <a:t> – tai visų tiriamą savybę turinčių objektų visuma, apie kurią norime padaryti išvadas. Dažniausiai populiacijos ištirti pilnai neįmanoma dėl laiko, kaštų ar prieinamumo.</a:t>
            </a:r>
          </a:p>
          <a:p>
            <a:r>
              <a:rPr lang="lt-LT" b="1" dirty="0"/>
              <a:t>Imtis</a:t>
            </a:r>
            <a:r>
              <a:rPr lang="lt-LT" dirty="0"/>
              <a:t> – tai populiacijos dalis, kuri faktiškai tiriama. Iš imties apskaičiuoti rodikliai naudojami populiacijos savybėms įvertinti.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t-LT" dirty="0"/>
              <a:t>Imtis visuomet yra mažesnė nei populiacija, todėl </a:t>
            </a:r>
            <a:r>
              <a:rPr lang="lt-LT" b="1" dirty="0"/>
              <a:t>rezultatai yra veikiami atsitiktinumo ir neapibrėžtumo.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t-LT" dirty="0"/>
              <a:t>Kadangi dirbame su imtimi, o ne su visa populiacija, </a:t>
            </a:r>
            <a:r>
              <a:rPr lang="lt-LT" b="1" dirty="0"/>
              <a:t>bet koks skaičiavimas turi paklaidą. 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t-LT" dirty="0"/>
              <a:t>Būtent dėl šios priežasties atsiranda poreikis </a:t>
            </a:r>
            <a:r>
              <a:rPr lang="lt-LT" dirty="0" err="1">
                <a:highlight>
                  <a:srgbClr val="FFFF00"/>
                </a:highlight>
              </a:rPr>
              <a:t>pasikliautiniams</a:t>
            </a:r>
            <a:r>
              <a:rPr lang="lt-LT" dirty="0">
                <a:highlight>
                  <a:srgbClr val="FFFF00"/>
                </a:highlight>
              </a:rPr>
              <a:t> intervalams</a:t>
            </a:r>
            <a:r>
              <a:rPr lang="lt-L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6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3868A-BAB1-77F8-3EC0-E8A6C3C79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8D9F-2761-50D0-87B3-4BC47066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Parametras</a:t>
            </a:r>
            <a:r>
              <a:rPr lang="en-US" dirty="0"/>
              <a:t> vs </a:t>
            </a:r>
            <a:r>
              <a:rPr lang="en-US" dirty="0" err="1"/>
              <a:t>statistika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229A9-953E-45B4-BA64-3844F1987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16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lt-LT" b="1" dirty="0"/>
              <a:t>Parametras</a:t>
            </a:r>
            <a:r>
              <a:rPr lang="lt-LT" dirty="0"/>
              <a:t> –</a:t>
            </a:r>
            <a:r>
              <a:rPr lang="en-US" dirty="0"/>
              <a:t> </a:t>
            </a:r>
            <a:r>
              <a:rPr lang="lt-LT" dirty="0"/>
              <a:t>skaitinė charakteristika, apibūdinanti </a:t>
            </a:r>
            <a:r>
              <a:rPr lang="lt-LT" b="1" dirty="0"/>
              <a:t>visą populiaciją</a:t>
            </a:r>
            <a:r>
              <a:rPr lang="lt-LT" dirty="0"/>
              <a:t>. Jis yra fiksuotas dydis, tačiau praktikoje dažniausiai </a:t>
            </a:r>
            <a:r>
              <a:rPr lang="lt-LT" b="1" dirty="0"/>
              <a:t>nežinomas</a:t>
            </a:r>
            <a:r>
              <a:rPr lang="lt-LT" dirty="0"/>
              <a:t>, nes visa populiacija nėra tiriama.</a:t>
            </a:r>
          </a:p>
          <a:p>
            <a:r>
              <a:rPr lang="lt-LT" b="1" dirty="0"/>
              <a:t>Statistika</a:t>
            </a:r>
            <a:r>
              <a:rPr lang="lt-LT" dirty="0"/>
              <a:t> – </a:t>
            </a:r>
            <a:r>
              <a:rPr lang="en-US" dirty="0"/>
              <a:t> </a:t>
            </a:r>
            <a:r>
              <a:rPr lang="lt-LT" dirty="0"/>
              <a:t> skaitinė charakteristika, apskaičiuota </a:t>
            </a:r>
            <a:r>
              <a:rPr lang="lt-LT" b="1" dirty="0"/>
              <a:t>iš imties duomenų</a:t>
            </a:r>
            <a:r>
              <a:rPr lang="lt-LT" dirty="0"/>
              <a:t>. Ji kinta priklausomai nuo pasirinktos imties ir naudojama populiacijos parametro įvertinimui.</a:t>
            </a:r>
          </a:p>
          <a:p>
            <a:pPr marL="0" indent="0">
              <a:buNone/>
            </a:pPr>
            <a:br>
              <a:rPr lang="lt-LT" dirty="0"/>
            </a:br>
            <a:r>
              <a:rPr lang="lt-LT" dirty="0"/>
              <a:t>Tas pats </a:t>
            </a:r>
            <a:r>
              <a:rPr lang="lt-LT" b="1" dirty="0"/>
              <a:t>populiacijos parametras gali būti įvertintas skirtingomis statistikomis, jei imtys skiriasi</a:t>
            </a:r>
            <a:r>
              <a:rPr lang="lt-LT" dirty="0"/>
              <a:t>. Todėl </a:t>
            </a:r>
            <a:r>
              <a:rPr lang="lt-LT" dirty="0">
                <a:highlight>
                  <a:srgbClr val="FFFF00"/>
                </a:highlight>
              </a:rPr>
              <a:t>statistika visada turi neapibrėžtumą.</a:t>
            </a:r>
          </a:p>
          <a:p>
            <a:pPr marL="0" indent="0">
              <a:buNone/>
            </a:pPr>
            <a:br>
              <a:rPr lang="lt-LT" dirty="0"/>
            </a:br>
            <a:r>
              <a:rPr lang="lt-LT" dirty="0"/>
              <a:t>Kadangi statistika yra tik apytikslis parametro įvertis, </a:t>
            </a:r>
            <a:r>
              <a:rPr lang="lt-LT" dirty="0" err="1"/>
              <a:t>pasikliautiniai</a:t>
            </a:r>
            <a:r>
              <a:rPr lang="lt-LT" dirty="0"/>
              <a:t> intervalai leidžia apibrėžti, </a:t>
            </a:r>
            <a:r>
              <a:rPr lang="lt-LT" b="1" dirty="0"/>
              <a:t>kokiame intervale tikėtina rasti tikrąjį populiacijos parametrą</a:t>
            </a:r>
            <a:r>
              <a:rPr lang="lt-L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132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B1EF-BF25-6EA1-D9F1-2B2FC01F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EB85-F563-E7B9-F46F-CCB832D8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Parametras</a:t>
            </a:r>
            <a:r>
              <a:rPr lang="en-US" dirty="0"/>
              <a:t> vs </a:t>
            </a:r>
            <a:r>
              <a:rPr lang="en-US" dirty="0" err="1"/>
              <a:t>statistika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C263-2CE9-532B-650E-CBA05112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212" y="3244644"/>
            <a:ext cx="10252587" cy="27160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lt-LT" dirty="0"/>
              <a:t>Parametras apibūdina visą verslo realybę, o statistika yra tik jos įvertinimas pagal turimus duomenis.</a:t>
            </a:r>
          </a:p>
        </p:txBody>
      </p:sp>
    </p:spTree>
    <p:extLst>
      <p:ext uri="{BB962C8B-B14F-4D97-AF65-F5344CB8AC3E}">
        <p14:creationId xmlns:p14="http://schemas.microsoft.com/office/powerpoint/2010/main" val="300779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E0DBB2D-304A-96AE-1C79-818FA629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Pavyzdys 1: Vidutinės pardavimo pajamos</a:t>
            </a:r>
            <a:endParaRPr lang="lt-LT" dirty="0"/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A4B2F312-275C-B148-2536-70C90D75E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Parametras:</a:t>
            </a:r>
            <a:br>
              <a:rPr lang="lt-LT" dirty="0"/>
            </a:br>
            <a:r>
              <a:rPr lang="lt-LT" dirty="0"/>
              <a:t>Tikrasis vidutinis dienos pardavimų dydis visose įmonės parduotuvėse per metus.</a:t>
            </a:r>
          </a:p>
          <a:p>
            <a:r>
              <a:rPr lang="lt-LT" dirty="0"/>
              <a:t>Statistika:</a:t>
            </a:r>
            <a:br>
              <a:rPr lang="lt-LT" dirty="0"/>
            </a:br>
            <a:r>
              <a:rPr lang="lt-LT" dirty="0"/>
              <a:t>Vidutinės dienos pardavimo pajamos, apskaičiuotos iš 30 atsitiktinai pasirinktų dienų duomenų.</a:t>
            </a:r>
          </a:p>
          <a:p>
            <a:r>
              <a:rPr lang="lt-LT" dirty="0"/>
              <a:t>Paaiškinimas:</a:t>
            </a:r>
            <a:br>
              <a:rPr lang="lt-LT" dirty="0"/>
            </a:br>
            <a:r>
              <a:rPr lang="lt-LT" dirty="0"/>
              <a:t>Visų metų pardavimų vidurkis yra fiksuotas, bet jo nežinome.</a:t>
            </a:r>
            <a:br>
              <a:rPr lang="lt-LT" dirty="0"/>
            </a:br>
            <a:r>
              <a:rPr lang="lt-LT" dirty="0"/>
              <a:t>Naudojame imties vidurkį, kad jį įvertintume.</a:t>
            </a:r>
          </a:p>
          <a:p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194700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7C6D642-0A2D-28DB-30DE-24EB0D83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Pavyzdys 2: Konversijos rodiklis</a:t>
            </a:r>
            <a:br>
              <a:rPr lang="lt-LT" dirty="0"/>
            </a:br>
            <a:endParaRPr lang="lt-LT" dirty="0"/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C5B41ADC-652F-1F58-37F6-C6980B473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Parametras:</a:t>
            </a:r>
            <a:br>
              <a:rPr lang="lt-LT" dirty="0"/>
            </a:br>
            <a:r>
              <a:rPr lang="lt-LT" dirty="0"/>
              <a:t>Tikrasis visų svetainės lankytojų konversijos procentas per mėnesį.</a:t>
            </a:r>
          </a:p>
          <a:p>
            <a:r>
              <a:rPr lang="lt-LT" dirty="0"/>
              <a:t>Statistika:</a:t>
            </a:r>
            <a:br>
              <a:rPr lang="lt-LT" dirty="0"/>
            </a:br>
            <a:r>
              <a:rPr lang="lt-LT" dirty="0"/>
              <a:t>Konversijos procentas, apskaičiuotas iš 5 000 lankytojų imties.</a:t>
            </a:r>
          </a:p>
          <a:p>
            <a:r>
              <a:rPr lang="lt-LT" dirty="0"/>
              <a:t>Paaiškinimas:</a:t>
            </a:r>
            <a:br>
              <a:rPr lang="lt-LT" dirty="0"/>
            </a:br>
            <a:r>
              <a:rPr lang="lt-LT" dirty="0"/>
              <a:t>Tikrasis konversijos lygis egzistuoja, bet nėra tiesiogiai žinomas.</a:t>
            </a:r>
            <a:br>
              <a:rPr lang="lt-LT" dirty="0"/>
            </a:br>
            <a:r>
              <a:rPr lang="lt-LT" dirty="0"/>
              <a:t>Imties proporcija naudojama jam įvertinti.</a:t>
            </a:r>
          </a:p>
          <a:p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658349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0F66A8F-AF48-C624-41C2-5CFE5897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lt-LT" dirty="0"/>
              <a:t>Pavyzdys 3: Reklamos kampanijos efektyvumas</a:t>
            </a:r>
            <a:br>
              <a:rPr lang="lt-LT" dirty="0"/>
            </a:br>
            <a:endParaRPr lang="lt-LT" dirty="0"/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9413B304-75D1-A2A7-CCCD-614B68A4F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lt-LT" dirty="0"/>
              <a:t>Parametras:</a:t>
            </a:r>
            <a:br>
              <a:rPr lang="lt-LT" dirty="0"/>
            </a:br>
            <a:r>
              <a:rPr lang="lt-LT" dirty="0"/>
              <a:t>Tikrasis vidutinis naujo produkto pardavimų lygis, naudojant konkrečią reklamos kampaniją.</a:t>
            </a:r>
          </a:p>
          <a:p>
            <a:r>
              <a:rPr lang="lt-LT" dirty="0"/>
              <a:t>Statistika:</a:t>
            </a:r>
            <a:br>
              <a:rPr lang="lt-LT" dirty="0"/>
            </a:br>
            <a:r>
              <a:rPr lang="lt-LT" dirty="0"/>
              <a:t>Vidutiniai pardavimai, apskaičiuoti iš kelių savaičių ar regionų duomenų.</a:t>
            </a:r>
          </a:p>
          <a:p>
            <a:r>
              <a:rPr lang="lt-LT" dirty="0"/>
              <a:t>Paaiškinimas:</a:t>
            </a:r>
            <a:br>
              <a:rPr lang="lt-LT" dirty="0"/>
            </a:br>
            <a:r>
              <a:rPr lang="lt-LT" dirty="0"/>
              <a:t>Kampanijos poveikis yra fiksuotas, bet stebimi tik daliniai duomenys.</a:t>
            </a:r>
            <a:br>
              <a:rPr lang="lt-LT" dirty="0"/>
            </a:br>
            <a:r>
              <a:rPr lang="lt-LT" dirty="0"/>
              <a:t>Imties statistika naudojama kampanijos efekto įvertinimui.</a:t>
            </a:r>
          </a:p>
          <a:p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70261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23CE367-51C9-2558-7A5C-71AC5241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Pavyzdys 4: Klientų pasitenkinimas</a:t>
            </a:r>
            <a:br>
              <a:rPr lang="lt-LT" dirty="0"/>
            </a:br>
            <a:endParaRPr lang="lt-LT" dirty="0"/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A1E84835-7BEA-6D37-F6F2-D3C7FB6F4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Parametras:</a:t>
            </a:r>
            <a:br>
              <a:rPr lang="lt-LT" dirty="0"/>
            </a:br>
            <a:r>
              <a:rPr lang="lt-LT" dirty="0"/>
              <a:t>Tikrasis visų klientų pasitenkinimo balų vidurkis.</a:t>
            </a:r>
          </a:p>
          <a:p>
            <a:r>
              <a:rPr lang="lt-LT" dirty="0"/>
              <a:t>Statistika:</a:t>
            </a:r>
            <a:br>
              <a:rPr lang="lt-LT" dirty="0"/>
            </a:br>
            <a:r>
              <a:rPr lang="lt-LT" dirty="0"/>
              <a:t>Vidutinis pasitenkinimo balas iš apklausos, kurioje dalyvavo dalis klientų.</a:t>
            </a:r>
          </a:p>
          <a:p>
            <a:r>
              <a:rPr lang="lt-LT" dirty="0"/>
              <a:t>Paaiškinimas:</a:t>
            </a:r>
            <a:br>
              <a:rPr lang="lt-LT" dirty="0"/>
            </a:br>
            <a:r>
              <a:rPr lang="lt-LT" dirty="0"/>
              <a:t>Ne visi klientai atsako į apklausas, todėl remiamasi imties duomenimis.</a:t>
            </a:r>
          </a:p>
          <a:p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07190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CF1F1BD-5830-7A4E-F57E-5945D8F5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Pavyzdys 5: Pristatymo laikas</a:t>
            </a:r>
            <a:br>
              <a:rPr lang="lt-LT" dirty="0"/>
            </a:br>
            <a:endParaRPr lang="lt-LT" dirty="0"/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0A08B0E3-3C19-71BB-C6D8-883CE0B1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Parametras:</a:t>
            </a:r>
            <a:br>
              <a:rPr lang="lt-LT" dirty="0"/>
            </a:br>
            <a:r>
              <a:rPr lang="lt-LT" dirty="0"/>
              <a:t>Tikrasis vidutinis užsakymo pristatymo laikas visiems klientams.</a:t>
            </a:r>
          </a:p>
          <a:p>
            <a:r>
              <a:rPr lang="lt-LT" dirty="0"/>
              <a:t>Statistika:</a:t>
            </a:r>
            <a:br>
              <a:rPr lang="lt-LT" dirty="0"/>
            </a:br>
            <a:r>
              <a:rPr lang="lt-LT" dirty="0"/>
              <a:t>Vidutinis pristatymo laikas, apskaičiuotas iš 100 atsitiktinių užsakymų.</a:t>
            </a:r>
          </a:p>
          <a:p>
            <a:r>
              <a:rPr lang="lt-LT" dirty="0"/>
              <a:t>Paaiškinimas:</a:t>
            </a:r>
            <a:br>
              <a:rPr lang="lt-LT" dirty="0"/>
            </a:br>
            <a:r>
              <a:rPr lang="lt-LT" dirty="0"/>
              <a:t>Visų užsakymų laikas nežinomas realiu laiku, todėl naudojama imtis.</a:t>
            </a:r>
          </a:p>
        </p:txBody>
      </p:sp>
    </p:spTree>
    <p:extLst>
      <p:ext uri="{BB962C8B-B14F-4D97-AF65-F5344CB8AC3E}">
        <p14:creationId xmlns:p14="http://schemas.microsoft.com/office/powerpoint/2010/main" val="73976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D3FB1D-3AF5-1901-D5A5-FD6E56AC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Kodėl statistika nėra tiksli</a:t>
            </a:r>
            <a:br>
              <a:rPr lang="lt-LT" dirty="0"/>
            </a:br>
            <a:endParaRPr lang="lt-L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05D1E-2640-3AFB-9C0C-84E429609DB1}"/>
              </a:ext>
            </a:extLst>
          </p:cNvPr>
          <p:cNvSpPr txBox="1"/>
          <p:nvPr/>
        </p:nvSpPr>
        <p:spPr>
          <a:xfrm>
            <a:off x="1769806" y="1878071"/>
            <a:ext cx="93406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Statistika nėra tiksli todėl, kad ji apskaičiuojama ne iš visos populiacijos, o tik iš </a:t>
            </a:r>
            <a:r>
              <a:rPr lang="lt-LT" b="1" dirty="0"/>
              <a:t>atsitiktinės imties</a:t>
            </a:r>
            <a:r>
              <a:rPr lang="lt-LT" dirty="0"/>
              <a:t>. Skirtingos imtys duotų skirtingus rezultatus, net jei populiacija ta pati.</a:t>
            </a:r>
            <a:endParaRPr lang="en-US" dirty="0"/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/>
              <a:t>Atsitiktinumas reiškia, kad imties sudėtis kinta – vienose imtyse gali būti daugiau didelių reikšmių, kitose daugiau mažų. Dėl to kinta ir apskaičiuota statistika, pavyzdžiui, vidurkis ar proporcija.</a:t>
            </a:r>
            <a:endParaRPr lang="en-US" dirty="0"/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b="1" dirty="0"/>
              <a:t>Statistinė paklaida </a:t>
            </a:r>
            <a:r>
              <a:rPr lang="lt-LT" dirty="0"/>
              <a:t>parodo, </a:t>
            </a:r>
            <a:r>
              <a:rPr lang="lt-LT" b="1" dirty="0"/>
              <a:t>kiek statistika gali svyruoti</a:t>
            </a:r>
            <a:r>
              <a:rPr lang="lt-LT" dirty="0"/>
              <a:t> dėl atsitiktinės imties atrankos. Ji nėra klaida duomenyse, o natūralus neapibrėžtumas, kylantis iš ribotos informacijos.</a:t>
            </a:r>
          </a:p>
          <a:p>
            <a:pPr>
              <a:buNone/>
            </a:pPr>
            <a:br>
              <a:rPr lang="lt-LT" dirty="0"/>
            </a:br>
            <a:r>
              <a:rPr lang="lt-LT" dirty="0"/>
              <a:t>Net teisingai surinkti ir apskaičiuoti</a:t>
            </a:r>
            <a:r>
              <a:rPr lang="lt-LT" b="1" dirty="0"/>
              <a:t> duomenys visada turi paklaidą. </a:t>
            </a:r>
            <a:endParaRPr lang="en-US" b="1" dirty="0"/>
          </a:p>
          <a:p>
            <a:pPr>
              <a:buNone/>
            </a:pPr>
            <a:r>
              <a:rPr lang="lt-LT" dirty="0" err="1"/>
              <a:t>Pasikliautiniai</a:t>
            </a:r>
            <a:r>
              <a:rPr lang="lt-LT" dirty="0"/>
              <a:t> intervalai naudojami tam, kad ši paklaida būtų aiškiai parodyta ir įvertinta.</a:t>
            </a:r>
          </a:p>
        </p:txBody>
      </p:sp>
    </p:spTree>
    <p:extLst>
      <p:ext uri="{BB962C8B-B14F-4D97-AF65-F5344CB8AC3E}">
        <p14:creationId xmlns:p14="http://schemas.microsoft.com/office/powerpoint/2010/main" val="292394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5F9784E-A7A9-8740-CF15-85AA91B3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Pasikliautiniai intervalai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0F211-94C2-D446-CE60-9AF8A474B821}"/>
              </a:ext>
            </a:extLst>
          </p:cNvPr>
          <p:cNvSpPr txBox="1"/>
          <p:nvPr/>
        </p:nvSpPr>
        <p:spPr>
          <a:xfrm>
            <a:off x="943897" y="1803651"/>
            <a:ext cx="98912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 err="1"/>
              <a:t>Pasikliautinis</a:t>
            </a:r>
            <a:r>
              <a:rPr lang="lt-LT" dirty="0"/>
              <a:t> intervalas yra reikšmių intervalas, kuris apibrėžia </a:t>
            </a:r>
            <a:r>
              <a:rPr lang="lt-LT" b="1" dirty="0"/>
              <a:t>neapibrėžtumą aplink imties įvertį</a:t>
            </a:r>
            <a:r>
              <a:rPr lang="lt-LT" dirty="0"/>
              <a:t>, dažniausiai vidurkį. Jis naudojamas ne pateikti vieną skaičių, o parodyti, </a:t>
            </a:r>
            <a:r>
              <a:rPr lang="lt-LT" b="1" dirty="0"/>
              <a:t>kokiame intervale gali būti tikroji populiacijos reikšmė</a:t>
            </a:r>
            <a:r>
              <a:rPr lang="lt-LT" dirty="0"/>
              <a:t>.</a:t>
            </a:r>
            <a:endParaRPr lang="en-US" dirty="0"/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 err="1"/>
              <a:t>Pasikliautiniai</a:t>
            </a:r>
            <a:r>
              <a:rPr lang="lt-LT" dirty="0"/>
              <a:t> intervalai </a:t>
            </a:r>
            <a:r>
              <a:rPr lang="lt-LT" b="1" dirty="0"/>
              <a:t>remiasi tikimybių teorija ir imties pasiskirstymu</a:t>
            </a:r>
            <a:r>
              <a:rPr lang="lt-LT" dirty="0"/>
              <a:t>. Jie leidžia įvertinti rezultatų patikimumą ir yra informatyvesni nei vien tik taškiniai įverčiai.</a:t>
            </a:r>
            <a:endParaRPr lang="en-US" dirty="0"/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>
                <a:highlight>
                  <a:srgbClr val="FFFF00"/>
                </a:highlight>
              </a:rPr>
              <a:t>Duomenų analizėje </a:t>
            </a:r>
            <a:r>
              <a:rPr lang="lt-LT" dirty="0" err="1">
                <a:highlight>
                  <a:srgbClr val="FFFF00"/>
                </a:highlight>
              </a:rPr>
              <a:t>pasikliautiniai</a:t>
            </a:r>
            <a:r>
              <a:rPr lang="lt-LT" dirty="0">
                <a:highlight>
                  <a:srgbClr val="FFFF00"/>
                </a:highlight>
              </a:rPr>
              <a:t> intervalai naudojami sprendimams pagrįsti, rizikai įvertinti ir parodyti, kiek rezultatai gali kisti dėl atsitiktinės imties atrankos.</a:t>
            </a:r>
          </a:p>
        </p:txBody>
      </p:sp>
    </p:spTree>
    <p:extLst>
      <p:ext uri="{BB962C8B-B14F-4D97-AF65-F5344CB8AC3E}">
        <p14:creationId xmlns:p14="http://schemas.microsoft.com/office/powerpoint/2010/main" val="177871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89AD-C308-416A-E024-5593FF26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Pasikliautinis</a:t>
            </a:r>
            <a:r>
              <a:rPr lang="en-US" dirty="0"/>
              <a:t> </a:t>
            </a:r>
            <a:r>
              <a:rPr lang="en-US" dirty="0" err="1"/>
              <a:t>intervalas</a:t>
            </a:r>
            <a:r>
              <a:rPr lang="en-US" dirty="0"/>
              <a:t> (PI)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70FAE-94F1-3E92-F179-1D5C973AB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68551"/>
          </a:xfrm>
        </p:spPr>
        <p:txBody>
          <a:bodyPr>
            <a:normAutofit fontScale="77500" lnSpcReduction="20000"/>
          </a:bodyPr>
          <a:lstStyle/>
          <a:p>
            <a:r>
              <a:rPr lang="lt-LT" dirty="0" err="1"/>
              <a:t>Pasikliautinis</a:t>
            </a:r>
            <a:r>
              <a:rPr lang="lt-LT" dirty="0"/>
              <a:t> intervalas yra reikšmių intervalas, kuris, remiantis imties duomenimis, apibrėžia </a:t>
            </a:r>
            <a:r>
              <a:rPr lang="lt-LT" b="1" dirty="0"/>
              <a:t>tikėtiną tikrojo populiacijos parametro vietą</a:t>
            </a:r>
            <a:r>
              <a:rPr lang="lt-LT" dirty="0"/>
              <a:t>.</a:t>
            </a:r>
          </a:p>
          <a:p>
            <a:r>
              <a:rPr lang="lt-LT" dirty="0"/>
              <a:t>PI leidžia neapsiriboti vienu skaičiumi ir parodo </a:t>
            </a:r>
            <a:r>
              <a:rPr lang="lt-LT" b="1" dirty="0"/>
              <a:t>neapibrėžtumo ribas</a:t>
            </a:r>
            <a:r>
              <a:rPr lang="lt-LT" dirty="0"/>
              <a:t>, atsirandančias dėl imties atsitiktinumo.</a:t>
            </a:r>
          </a:p>
          <a:p>
            <a:r>
              <a:rPr lang="lt-LT" dirty="0"/>
              <a:t>Duomenų analizėje </a:t>
            </a:r>
            <a:r>
              <a:rPr lang="lt-LT" dirty="0" err="1"/>
              <a:t>pasikliautiniai</a:t>
            </a:r>
            <a:r>
              <a:rPr lang="lt-LT" dirty="0"/>
              <a:t> intervalai naudojami tam, kad sprendimai būtų priimami ne tik pagal taškinį įvertį, bet ir atsižvelgiant į rezultatų patikimumą.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D72CAA-9DE1-9C6E-FEC1-A410B4F04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779" y="4606433"/>
            <a:ext cx="3536690" cy="1305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2454E0-0494-B3D8-E4A4-B4CEF33F2BC2}"/>
              </a:ext>
            </a:extLst>
          </p:cNvPr>
          <p:cNvSpPr txBox="1"/>
          <p:nvPr/>
        </p:nvSpPr>
        <p:spPr>
          <a:xfrm>
            <a:off x="747251" y="46126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Intervalo plotį lemia duomenų sklaida, imties dydis ir pasirinktas pasikliautinumo lygis.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57251-F5F3-3BBD-6608-7BFB6FE4426C}"/>
              </a:ext>
            </a:extLst>
          </p:cNvPr>
          <p:cNvSpPr txBox="1"/>
          <p:nvPr/>
        </p:nvSpPr>
        <p:spPr>
          <a:xfrm>
            <a:off x="8003458" y="42371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/>
              <a:t>Studento t skirstinio</a:t>
            </a:r>
            <a:r>
              <a:rPr lang="lt-LT" dirty="0"/>
              <a:t> kritinė reikšmė</a:t>
            </a:r>
          </a:p>
        </p:txBody>
      </p:sp>
    </p:spTree>
    <p:extLst>
      <p:ext uri="{BB962C8B-B14F-4D97-AF65-F5344CB8AC3E}">
        <p14:creationId xmlns:p14="http://schemas.microsoft.com/office/powerpoint/2010/main" val="233431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B5A7-BBF4-8231-0B55-61193E716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" y="199546"/>
            <a:ext cx="10515600" cy="1325563"/>
          </a:xfrm>
        </p:spPr>
        <p:txBody>
          <a:bodyPr/>
          <a:lstStyle/>
          <a:p>
            <a:r>
              <a:rPr lang="en-US" dirty="0"/>
              <a:t>Pasikliautinių </a:t>
            </a:r>
            <a:r>
              <a:rPr lang="lt-LT" dirty="0"/>
              <a:t>intervalų</a:t>
            </a:r>
            <a:r>
              <a:rPr lang="en-US" dirty="0"/>
              <a:t> </a:t>
            </a:r>
            <a:r>
              <a:rPr lang="en-US" dirty="0" err="1"/>
              <a:t>apskaičiavimas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A638-25CC-BFAE-1929-B575D8B1C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016"/>
            <a:ext cx="10098024" cy="899287"/>
          </a:xfrm>
        </p:spPr>
        <p:txBody>
          <a:bodyPr>
            <a:normAutofit fontScale="62500" lnSpcReduction="20000"/>
          </a:bodyPr>
          <a:lstStyle/>
          <a:p>
            <a:r>
              <a:rPr lang="lt-LT" dirty="0"/>
              <a:t>Jei analizuojamos </a:t>
            </a:r>
            <a:r>
              <a:rPr lang="lt-LT" b="1" dirty="0"/>
              <a:t>skaitinės (kiekybinės) reikšmės</a:t>
            </a:r>
            <a:r>
              <a:rPr lang="lt-LT" dirty="0"/>
              <a:t>, </a:t>
            </a:r>
            <a:r>
              <a:rPr lang="lt-LT" dirty="0" err="1"/>
              <a:t>pasikliautinis</a:t>
            </a:r>
            <a:r>
              <a:rPr lang="lt-LT" dirty="0"/>
              <a:t> intervalas dažniausiai skaičiuojamas naudojant </a:t>
            </a:r>
            <a:r>
              <a:rPr lang="lt-LT" b="1" dirty="0"/>
              <a:t>Studento t statistiką</a:t>
            </a:r>
            <a:r>
              <a:rPr lang="lt-LT" dirty="0"/>
              <a:t>. Taip yra todėl, kad populiacijos dispersija paprastai nėra žinoma ir ji įvertinama iš imties. Šis atvejis taikomas tokiems rodikliams kaip pardavimų vidurkis, užsakymų skaičius, apsilankymų kiekis ar trukmė.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C7E1C-96F3-7931-7FDA-4F1D35BBB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434" y="3858862"/>
            <a:ext cx="3441761" cy="1046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5F1F1-0E56-5955-DA47-DB2A909DB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856" y="2210004"/>
            <a:ext cx="2612339" cy="96396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BA02BF-D93C-ABD9-8E0A-DB2CA7F2A974}"/>
              </a:ext>
            </a:extLst>
          </p:cNvPr>
          <p:cNvSpPr txBox="1">
            <a:spLocks/>
          </p:cNvSpPr>
          <p:nvPr/>
        </p:nvSpPr>
        <p:spPr>
          <a:xfrm>
            <a:off x="838200" y="3206503"/>
            <a:ext cx="10098024" cy="899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 dirty="0"/>
              <a:t>Jei analizuojamos </a:t>
            </a:r>
            <a:r>
              <a:rPr lang="lt-LT" b="1" dirty="0"/>
              <a:t>kategorinės reikšmės</a:t>
            </a:r>
            <a:r>
              <a:rPr lang="lt-LT" dirty="0"/>
              <a:t>, dažniausiai nagrinėjamos proporcijos arba dalys. Tokiu atveju </a:t>
            </a:r>
            <a:r>
              <a:rPr lang="lt-LT" dirty="0" err="1"/>
              <a:t>pasikliautiniai</a:t>
            </a:r>
            <a:r>
              <a:rPr lang="lt-LT" dirty="0"/>
              <a:t> intervalai skaičiuojami naudojant </a:t>
            </a:r>
            <a:r>
              <a:rPr lang="lt-LT" b="1" dirty="0"/>
              <a:t>Z statistiką</a:t>
            </a:r>
            <a:r>
              <a:rPr lang="lt-LT" dirty="0"/>
              <a:t>, remiantis normaliąja aproksimacija. Tai taikoma klientų apklausoms, teigiamų ir neigiamų atsakymų daliai, konversijų rodikliams ar pasitenkinimo lygiui.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3A8E3-894E-E82D-8755-6360771F1F31}"/>
              </a:ext>
            </a:extLst>
          </p:cNvPr>
          <p:cNvSpPr txBox="1"/>
          <p:nvPr/>
        </p:nvSpPr>
        <p:spPr>
          <a:xfrm>
            <a:off x="1224409" y="534998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>
                <a:highlight>
                  <a:srgbClr val="FFFF00"/>
                </a:highlight>
              </a:rPr>
              <a:t>t statistika siejama su vidurkiais ir skaitiniais duomenimis, o Z statistika – su proporcijomis ir tikimybėmis. </a:t>
            </a:r>
            <a:r>
              <a:rPr lang="lt-LT" dirty="0"/>
              <a:t>Tai padeda greitai pasirinkti tinkamą metodą realiose analitinėse situacijose.</a:t>
            </a:r>
          </a:p>
        </p:txBody>
      </p:sp>
    </p:spTree>
    <p:extLst>
      <p:ext uri="{BB962C8B-B14F-4D97-AF65-F5344CB8AC3E}">
        <p14:creationId xmlns:p14="http://schemas.microsoft.com/office/powerpoint/2010/main" val="3881874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4B0B75D-2F8A-9B68-98D7-806CA250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point: </a:t>
            </a:r>
            <a:br>
              <a:rPr lang="en-US" dirty="0"/>
            </a:br>
            <a:r>
              <a:rPr lang="lt-LT" sz="3600" dirty="0"/>
              <a:t>Pasikliautinumas apibūdina metodą, o ne konkretų rezultatą.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844F6-CC3A-6C2D-D650-17846628E600}"/>
              </a:ext>
            </a:extLst>
          </p:cNvPr>
          <p:cNvSpPr txBox="1"/>
          <p:nvPr/>
        </p:nvSpPr>
        <p:spPr>
          <a:xfrm>
            <a:off x="1052052" y="1769805"/>
            <a:ext cx="103017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Kai apskaičiuojamas konkretus </a:t>
            </a:r>
            <a:r>
              <a:rPr lang="lt-LT" dirty="0" err="1"/>
              <a:t>pasikliautinis</a:t>
            </a:r>
            <a:r>
              <a:rPr lang="lt-LT" dirty="0"/>
              <a:t> intervalas, </a:t>
            </a:r>
            <a:r>
              <a:rPr lang="lt-LT" b="1" dirty="0"/>
              <a:t>duomenys jau yra surinkti</a:t>
            </a:r>
            <a:r>
              <a:rPr lang="lt-LT" dirty="0"/>
              <a:t>, o intervalas jau nustatytas. Tikrasis populiacijos parametras tuo momentu yra </a:t>
            </a:r>
            <a:r>
              <a:rPr lang="lt-LT" b="1" dirty="0"/>
              <a:t>fiksuota, bet nežinoma reikšmė</a:t>
            </a:r>
            <a:r>
              <a:rPr lang="lt-LT" dirty="0"/>
              <a:t>. Jis nėra atsitiktinis.</a:t>
            </a:r>
          </a:p>
          <a:p>
            <a:pPr>
              <a:buNone/>
            </a:pPr>
            <a:r>
              <a:rPr lang="lt-LT" dirty="0"/>
              <a:t>Atsitiktinumas buvo </a:t>
            </a:r>
            <a:r>
              <a:rPr lang="lt-LT" b="1" dirty="0"/>
              <a:t>iki skaičiavimo</a:t>
            </a:r>
            <a:r>
              <a:rPr lang="lt-LT" dirty="0"/>
              <a:t>, imties sudarymo etape. Skirtingos imtys būtų davusios skirtingus intervalus.</a:t>
            </a:r>
            <a:endParaRPr lang="en-US" dirty="0"/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/>
              <a:t>95 % reiškia metodo patikimumą, o ne vieno intervalo tikimybę.</a:t>
            </a:r>
            <a:endParaRPr lang="en-US" dirty="0"/>
          </a:p>
          <a:p>
            <a:pPr>
              <a:buNone/>
            </a:pPr>
            <a:br>
              <a:rPr lang="lt-LT" dirty="0"/>
            </a:br>
            <a:r>
              <a:rPr lang="lt-LT" dirty="0"/>
              <a:t>Jei tą patį eksperimentą kartotume daug kartų:</a:t>
            </a:r>
            <a:br>
              <a:rPr lang="lt-LT" dirty="0"/>
            </a:br>
            <a:r>
              <a:rPr lang="lt-LT" dirty="0"/>
              <a:t>kiekvieną kartą imtume naują atsitiktinę imtį,</a:t>
            </a:r>
            <a:br>
              <a:rPr lang="lt-LT" dirty="0"/>
            </a:br>
            <a:r>
              <a:rPr lang="lt-LT" dirty="0"/>
              <a:t>kiekvieną kartą skaičiuotume </a:t>
            </a:r>
            <a:r>
              <a:rPr lang="lt-LT" dirty="0" err="1"/>
              <a:t>pasikliautinį</a:t>
            </a:r>
            <a:r>
              <a:rPr lang="lt-LT" dirty="0"/>
              <a:t> intervalą,</a:t>
            </a:r>
            <a:br>
              <a:rPr lang="lt-LT" dirty="0"/>
            </a:br>
            <a:r>
              <a:rPr lang="lt-LT" dirty="0"/>
              <a:t>tuomet apie 95 % tų intervalų „pagautų“ tikrąjį parametrą.</a:t>
            </a:r>
          </a:p>
        </p:txBody>
      </p:sp>
    </p:spTree>
    <p:extLst>
      <p:ext uri="{BB962C8B-B14F-4D97-AF65-F5344CB8AC3E}">
        <p14:creationId xmlns:p14="http://schemas.microsoft.com/office/powerpoint/2010/main" val="307606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85A4-5CAB-7BB3-05A3-ABBB4905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6FAC619-9FCC-C21A-ED5B-6BC12F63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point: </a:t>
            </a:r>
            <a:br>
              <a:rPr lang="en-US" dirty="0"/>
            </a:br>
            <a:r>
              <a:rPr lang="lt-LT" sz="3600" dirty="0"/>
              <a:t>Pasikliautinumas apibūdina metodą, o ne konkretų rezultatą.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BE284-A9AC-FF21-FDA5-30D98A619B0E}"/>
              </a:ext>
            </a:extLst>
          </p:cNvPr>
          <p:cNvSpPr txBox="1"/>
          <p:nvPr/>
        </p:nvSpPr>
        <p:spPr>
          <a:xfrm>
            <a:off x="1052052" y="1759973"/>
            <a:ext cx="1030174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 err="1"/>
              <a:t>Pasikliautinis</a:t>
            </a:r>
            <a:r>
              <a:rPr lang="lt-LT" dirty="0"/>
              <a:t> intervalas nesako, „kiek tikėtina, kad parametras yra čia“.</a:t>
            </a:r>
            <a:br>
              <a:rPr lang="lt-LT" dirty="0"/>
            </a:br>
            <a:r>
              <a:rPr lang="lt-LT" dirty="0"/>
              <a:t>Jis sako, </a:t>
            </a:r>
            <a:r>
              <a:rPr lang="lt-LT" b="1" dirty="0"/>
              <a:t>kiek patikimas buvo intervalo sudarymo metodas ilgalaikėje perspektyvoje</a:t>
            </a:r>
            <a:r>
              <a:rPr lang="lt-LT" dirty="0"/>
              <a:t>.</a:t>
            </a:r>
            <a:br>
              <a:rPr lang="en-US" dirty="0"/>
            </a:br>
            <a:endParaRPr lang="en-US" dirty="0"/>
          </a:p>
          <a:p>
            <a:r>
              <a:rPr lang="lt-LT" dirty="0"/>
              <a:t>95 % ir 99 % pasikliautinumo lygiai reiškia </a:t>
            </a:r>
            <a:r>
              <a:rPr lang="lt-LT" b="1" dirty="0"/>
              <a:t>skirtingą kompromisą tarp tikrumo ir intervalo pločio</a:t>
            </a:r>
            <a:r>
              <a:rPr lang="lt-LT" dirty="0"/>
              <a:t>.</a:t>
            </a:r>
            <a:endParaRPr lang="en-US" dirty="0"/>
          </a:p>
          <a:p>
            <a:endParaRPr lang="lt-LT" dirty="0"/>
          </a:p>
          <a:p>
            <a:r>
              <a:rPr lang="lt-LT" dirty="0"/>
              <a:t>95 % </a:t>
            </a:r>
            <a:r>
              <a:rPr lang="lt-LT" dirty="0" err="1"/>
              <a:t>pasikliautinis</a:t>
            </a:r>
            <a:r>
              <a:rPr lang="lt-LT" dirty="0"/>
              <a:t> intervalas yra siauresnis ir dažniausiai naudojamas praktikoje. Jis suteikia pakankamą patikimumą, kartu išlaikant rezultatų tikslumą ir aiškumą sprendimų priėmimui.</a:t>
            </a:r>
            <a:endParaRPr lang="en-US" dirty="0"/>
          </a:p>
          <a:p>
            <a:endParaRPr lang="lt-LT" dirty="0"/>
          </a:p>
          <a:p>
            <a:r>
              <a:rPr lang="lt-LT" dirty="0"/>
              <a:t>99 % </a:t>
            </a:r>
            <a:r>
              <a:rPr lang="lt-LT" dirty="0" err="1"/>
              <a:t>pasikliautinis</a:t>
            </a:r>
            <a:r>
              <a:rPr lang="lt-LT" dirty="0"/>
              <a:t> intervalas yra platesnis. Jis taikomas tada, kai klaidos kaina yra didelė ir norima būti itin atsargiems, net jei tai sumažina išvadų konkretumą.</a:t>
            </a:r>
          </a:p>
          <a:p>
            <a:r>
              <a:rPr lang="en-US" dirty="0"/>
              <a:t> </a:t>
            </a:r>
            <a:br>
              <a:rPr lang="lt-LT" dirty="0"/>
            </a:br>
            <a:r>
              <a:rPr lang="lt-LT" dirty="0"/>
              <a:t>Didėjant pasikliautinumo lygiui, intervalas tampa platesnis. Mažėjant pasikliautinumo lygiui, intervalas siaurėja.</a:t>
            </a:r>
          </a:p>
          <a:p>
            <a:br>
              <a:rPr lang="lt-LT" dirty="0"/>
            </a:br>
            <a:r>
              <a:rPr lang="lt-LT" dirty="0"/>
              <a:t>95 % – geras balansas kasdienėje analitikoje.</a:t>
            </a:r>
            <a:br>
              <a:rPr lang="lt-LT" dirty="0"/>
            </a:br>
            <a:r>
              <a:rPr lang="lt-LT" dirty="0"/>
              <a:t>99 % – kai rizika suklysti yra per didelė, kad ją ignoruotume.</a:t>
            </a:r>
          </a:p>
          <a:p>
            <a:pPr>
              <a:buNone/>
            </a:pP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78129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B641FFD-663A-88DC-0989-1C83599D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</a:t>
            </a:r>
            <a:r>
              <a:rPr lang="en-US" dirty="0" err="1"/>
              <a:t>praktikoje</a:t>
            </a:r>
            <a:r>
              <a:rPr lang="en-US" dirty="0"/>
              <a:t>: </a:t>
            </a:r>
            <a:r>
              <a:rPr lang="fi-FI" dirty="0"/>
              <a:t>95 % vs 99 % pasikliautiniai intervalai</a:t>
            </a:r>
            <a:endParaRPr lang="lt-L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458E7-54A4-FC93-89EF-70CB0AD7E84B}"/>
              </a:ext>
            </a:extLst>
          </p:cNvPr>
          <p:cNvSpPr txBox="1"/>
          <p:nvPr/>
        </p:nvSpPr>
        <p:spPr>
          <a:xfrm>
            <a:off x="838200" y="1946787"/>
            <a:ext cx="8305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95 % </a:t>
            </a:r>
            <a:r>
              <a:rPr lang="lt-LT" dirty="0" err="1"/>
              <a:t>pasikliautinis</a:t>
            </a:r>
            <a:r>
              <a:rPr lang="lt-LT" dirty="0"/>
              <a:t> intervalas dažniausiai naudojamas operaciniuose ir taktiniuose sprendimuose, kur svarbus greitis ir pakankamas tikslumas.</a:t>
            </a:r>
            <a:br>
              <a:rPr lang="lt-LT" dirty="0"/>
            </a:br>
            <a:r>
              <a:rPr lang="lt-LT" dirty="0"/>
              <a:t>Pavyzdžiui, marketingo komanda vertina konversijos rodiklį po reklaminės kampanijos. 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lt-LT" dirty="0"/>
              <a:t>95 % PI leidžia greitai nuspręsti, ar kampanija veiksminga, ar verta ją tęsti ar koreguoti.</a:t>
            </a:r>
          </a:p>
          <a:p>
            <a:pPr>
              <a:buNone/>
            </a:pPr>
            <a:br>
              <a:rPr lang="lt-LT" dirty="0"/>
            </a:br>
            <a:r>
              <a:rPr lang="lt-LT" dirty="0"/>
              <a:t>95 % – kai reikia balanso tarp tikslumo ir greitų sprendimų.</a:t>
            </a:r>
            <a:br>
              <a:rPr lang="lt-LT" dirty="0"/>
            </a:br>
            <a:r>
              <a:rPr lang="lt-LT" dirty="0"/>
              <a:t>99 % – kai klaidos pasekmės yra finansinės, teisinės arba </a:t>
            </a:r>
            <a:r>
              <a:rPr lang="lt-LT" dirty="0" err="1"/>
              <a:t>reputacinės</a:t>
            </a:r>
            <a:r>
              <a:rPr lang="lt-L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448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88CF-5AD8-0D71-AE5E-5F72FF00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80DB81A-8268-04F5-DD0D-F46CAC82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</a:t>
            </a:r>
            <a:r>
              <a:rPr lang="en-US" dirty="0" err="1"/>
              <a:t>praktikoje</a:t>
            </a:r>
            <a:r>
              <a:rPr lang="en-US" dirty="0"/>
              <a:t>: </a:t>
            </a:r>
            <a:r>
              <a:rPr lang="fi-FI" dirty="0"/>
              <a:t>95 % vs 99 % pasikliautiniai intervalai</a:t>
            </a:r>
            <a:endParaRPr lang="lt-L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B8EA8-A575-9134-30C2-56256300AD14}"/>
              </a:ext>
            </a:extLst>
          </p:cNvPr>
          <p:cNvSpPr txBox="1"/>
          <p:nvPr/>
        </p:nvSpPr>
        <p:spPr>
          <a:xfrm>
            <a:off x="838200" y="1946787"/>
            <a:ext cx="8305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99 % </a:t>
            </a:r>
            <a:r>
              <a:rPr lang="lt-LT" dirty="0" err="1"/>
              <a:t>pasikliautinis</a:t>
            </a:r>
            <a:r>
              <a:rPr lang="lt-LT" dirty="0"/>
              <a:t> intervalas taikomas strateginiuose sprendimuose, kai klaidos kaina yra labai didelė</a:t>
            </a:r>
            <a:r>
              <a:rPr lang="en-US" dirty="0"/>
              <a:t>:</a:t>
            </a:r>
            <a:br>
              <a:rPr lang="lt-LT" dirty="0"/>
            </a:br>
            <a:r>
              <a:rPr lang="en-US" dirty="0"/>
              <a:t>Bankas </a:t>
            </a:r>
            <a:r>
              <a:rPr lang="lt-LT" dirty="0"/>
              <a:t>vertina kredito rizikos modelį arba draudimo bendrovė skaičiuoja galimų išmokų dydžius. Čia svarbiau maksimaliai sumažinti neteisingos išvados tikimybę, net jei intervalai tampa platesni.</a:t>
            </a:r>
            <a:endParaRPr lang="en-US" dirty="0"/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en-US" dirty="0"/>
              <a:t>G</a:t>
            </a:r>
            <a:r>
              <a:rPr lang="lt-LT" dirty="0" err="1"/>
              <a:t>amybos</a:t>
            </a:r>
            <a:r>
              <a:rPr lang="lt-LT" dirty="0"/>
              <a:t> kokybės kontrolė.</a:t>
            </a:r>
            <a:br>
              <a:rPr lang="lt-LT" dirty="0"/>
            </a:br>
            <a:r>
              <a:rPr lang="lt-LT" dirty="0"/>
              <a:t>95 % PI gali būti naudojamas kasdieniam proceso stebėjimui, o 99 % PI – sprendžiant, ar stabdyti gamybą dėl galimos kritinės problemos.</a:t>
            </a:r>
          </a:p>
          <a:p>
            <a:pPr>
              <a:buNone/>
            </a:pPr>
            <a:br>
              <a:rPr lang="lt-LT" dirty="0">
                <a:highlight>
                  <a:srgbClr val="FFFF00"/>
                </a:highlight>
              </a:rPr>
            </a:br>
            <a:r>
              <a:rPr lang="lt-LT" dirty="0">
                <a:highlight>
                  <a:srgbClr val="FFFF00"/>
                </a:highlight>
              </a:rPr>
              <a:t>95 % – kai reikia balanso tarp tikslumo ir greitų sprendimų.</a:t>
            </a:r>
            <a:br>
              <a:rPr lang="lt-LT" dirty="0">
                <a:highlight>
                  <a:srgbClr val="FFFF00"/>
                </a:highlight>
              </a:rPr>
            </a:br>
            <a:r>
              <a:rPr lang="lt-LT" dirty="0">
                <a:highlight>
                  <a:srgbClr val="FFFF00"/>
                </a:highlight>
              </a:rPr>
              <a:t>99 % – kai klaidos pasekmės yra finansinės, teisinės arba </a:t>
            </a:r>
            <a:r>
              <a:rPr lang="lt-LT" dirty="0" err="1">
                <a:highlight>
                  <a:srgbClr val="FFFF00"/>
                </a:highlight>
              </a:rPr>
              <a:t>reputacinės</a:t>
            </a:r>
            <a:r>
              <a:rPr lang="lt-LT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6542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EFD2-EE4A-A274-00D3-C6DF622D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Dažnai</a:t>
            </a:r>
            <a:r>
              <a:rPr lang="en-US" dirty="0"/>
              <a:t> </a:t>
            </a:r>
            <a:r>
              <a:rPr lang="en-US" dirty="0" err="1"/>
              <a:t>pasitaikanti</a:t>
            </a:r>
            <a:r>
              <a:rPr lang="en-US" dirty="0"/>
              <a:t> </a:t>
            </a:r>
            <a:r>
              <a:rPr lang="en-US" dirty="0" err="1"/>
              <a:t>klaida</a:t>
            </a:r>
            <a:r>
              <a:rPr lang="en-US" dirty="0"/>
              <a:t> – PI </a:t>
            </a:r>
            <a:r>
              <a:rPr lang="en-US" dirty="0" err="1"/>
              <a:t>interpretacija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9F4F-F520-216E-8A41-7DFEA830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lt-LT" dirty="0"/>
              <a:t>95 % </a:t>
            </a:r>
            <a:r>
              <a:rPr lang="lt-LT" dirty="0" err="1"/>
              <a:t>pasikliautinis</a:t>
            </a:r>
            <a:r>
              <a:rPr lang="lt-LT" dirty="0"/>
              <a:t> intervalas </a:t>
            </a:r>
            <a:r>
              <a:rPr lang="lt-LT" b="1" dirty="0"/>
              <a:t>nereiškia</a:t>
            </a:r>
            <a:r>
              <a:rPr lang="lt-LT" dirty="0"/>
              <a:t>, kad yra 95 % tikimybė, jog tikrasis parametras yra būtent šiame intervale.</a:t>
            </a:r>
          </a:p>
          <a:p>
            <a:pPr marL="0" indent="0">
              <a:buNone/>
            </a:pPr>
            <a:r>
              <a:rPr lang="lt-LT" dirty="0"/>
              <a:t>Teisinga interpretacija:</a:t>
            </a:r>
            <a:br>
              <a:rPr lang="lt-LT" dirty="0"/>
            </a:br>
            <a:r>
              <a:rPr lang="lt-LT" dirty="0"/>
              <a:t>Jei iš tos pačios populiacijos daug kartų imtume atsitiktines imtis ir kiekvienai jų apskaičiuotume 95 % </a:t>
            </a:r>
            <a:r>
              <a:rPr lang="lt-LT" dirty="0" err="1"/>
              <a:t>pasikliautinį</a:t>
            </a:r>
            <a:r>
              <a:rPr lang="lt-LT" dirty="0"/>
              <a:t> intervalą, </a:t>
            </a:r>
            <a:r>
              <a:rPr lang="lt-LT" b="1" dirty="0"/>
              <a:t>apie 95 % tų intervalų apimtų tikrąją populiacijos reikšmę</a:t>
            </a:r>
            <a:r>
              <a:rPr lang="lt-LT" dirty="0"/>
              <a:t>.</a:t>
            </a:r>
          </a:p>
          <a:p>
            <a:pPr marL="0" indent="0">
              <a:buNone/>
            </a:pPr>
            <a:br>
              <a:rPr lang="lt-LT" dirty="0"/>
            </a:br>
            <a:r>
              <a:rPr lang="lt-LT" dirty="0"/>
              <a:t>Tikrasis parametras yra fiksuotas, o </a:t>
            </a:r>
            <a:r>
              <a:rPr lang="lt-LT" dirty="0" err="1"/>
              <a:t>pasikliautiniai</a:t>
            </a:r>
            <a:r>
              <a:rPr lang="lt-LT" dirty="0"/>
              <a:t> intervalai </a:t>
            </a:r>
            <a:r>
              <a:rPr lang="lt-LT" b="1" dirty="0"/>
              <a:t>kinta</a:t>
            </a:r>
            <a:r>
              <a:rPr lang="lt-LT" dirty="0"/>
              <a:t>, nes jie priklauso nuo imties. Konkretaus intervalo atveju tikrasis parametras </a:t>
            </a:r>
            <a:r>
              <a:rPr lang="lt-LT" b="1" dirty="0"/>
              <a:t>arba yra intervale, arba ne</a:t>
            </a:r>
            <a:r>
              <a:rPr lang="lt-LT" dirty="0"/>
              <a:t> – tikimybė čia nebetaikoma.</a:t>
            </a:r>
            <a:br>
              <a:rPr lang="en-US" dirty="0"/>
            </a:br>
            <a:br>
              <a:rPr lang="en-US" dirty="0"/>
            </a:br>
            <a:r>
              <a:rPr lang="lt-LT" dirty="0"/>
              <a:t>Pasikliautinumas apibūdina </a:t>
            </a:r>
            <a:r>
              <a:rPr lang="lt-LT" b="1" dirty="0"/>
              <a:t>metodo patikimumą ilguoju laikotarpiu</a:t>
            </a:r>
            <a:r>
              <a:rPr lang="lt-LT" dirty="0"/>
              <a:t>, o ne konkretaus intervalo „tikimybę būti teisingu“.</a:t>
            </a:r>
          </a:p>
        </p:txBody>
      </p:sp>
    </p:spTree>
    <p:extLst>
      <p:ext uri="{BB962C8B-B14F-4D97-AF65-F5344CB8AC3E}">
        <p14:creationId xmlns:p14="http://schemas.microsoft.com/office/powerpoint/2010/main" val="1314880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5372E10-16C7-EEA4-7947-CE25A430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Python</a:t>
            </a:r>
            <a:r>
              <a:rPr lang="lt-LT" dirty="0"/>
              <a:t> bibliotekos </a:t>
            </a:r>
            <a:r>
              <a:rPr lang="lt-LT" dirty="0" err="1"/>
              <a:t>pasikliautinių</a:t>
            </a:r>
            <a:r>
              <a:rPr lang="lt-LT" dirty="0"/>
              <a:t> intervalų skaičiavimui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779DF-B5C4-7AF9-338E-4127E4FEA1E1}"/>
              </a:ext>
            </a:extLst>
          </p:cNvPr>
          <p:cNvSpPr txBox="1"/>
          <p:nvPr/>
        </p:nvSpPr>
        <p:spPr>
          <a:xfrm>
            <a:off x="838200" y="2080650"/>
            <a:ext cx="8305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b="1" dirty="0" err="1"/>
              <a:t>NumPy</a:t>
            </a:r>
            <a:r>
              <a:rPr lang="lt-LT" b="1" dirty="0"/>
              <a:t> (</a:t>
            </a:r>
            <a:r>
              <a:rPr lang="lt-LT" b="1" dirty="0" err="1">
                <a:latin typeface="Courier New" panose="02070309020205020404" pitchFamily="49" charset="0"/>
              </a:rPr>
              <a:t>numpy</a:t>
            </a:r>
            <a:r>
              <a:rPr lang="lt-LT" b="1" dirty="0"/>
              <a:t>)</a:t>
            </a:r>
            <a:br>
              <a:rPr lang="lt-LT" dirty="0"/>
            </a:br>
            <a:r>
              <a:rPr lang="lt-LT" dirty="0"/>
              <a:t>Naudojama baziniams skaičiavimams.</a:t>
            </a:r>
          </a:p>
          <a:p>
            <a:pPr>
              <a:buNone/>
            </a:pPr>
            <a:r>
              <a:rPr lang="lt-LT" dirty="0"/>
              <a:t>Dažniausios funkcijos:</a:t>
            </a:r>
            <a:br>
              <a:rPr lang="lt-LT" dirty="0"/>
            </a:br>
            <a:r>
              <a:rPr lang="lt-LT" dirty="0" err="1">
                <a:latin typeface="Courier New" panose="02070309020205020404" pitchFamily="49" charset="0"/>
              </a:rPr>
              <a:t>np.mean</a:t>
            </a:r>
            <a:r>
              <a:rPr lang="lt-LT" dirty="0"/>
              <a:t> – imties vidurkis</a:t>
            </a:r>
            <a:br>
              <a:rPr lang="lt-LT" dirty="0"/>
            </a:br>
            <a:r>
              <a:rPr lang="lt-LT" dirty="0" err="1">
                <a:latin typeface="Courier New" panose="02070309020205020404" pitchFamily="49" charset="0"/>
              </a:rPr>
              <a:t>np.std</a:t>
            </a:r>
            <a:r>
              <a:rPr lang="lt-LT" dirty="0"/>
              <a:t> – standartinis nuokrypis</a:t>
            </a:r>
            <a:br>
              <a:rPr lang="lt-LT" dirty="0"/>
            </a:br>
            <a:r>
              <a:rPr lang="lt-LT" dirty="0" err="1">
                <a:latin typeface="Courier New" panose="02070309020205020404" pitchFamily="49" charset="0"/>
              </a:rPr>
              <a:t>np.sqrt</a:t>
            </a:r>
            <a:r>
              <a:rPr lang="lt-LT" dirty="0"/>
              <a:t> – šaknies skaičiavimas (SE formulė)</a:t>
            </a:r>
          </a:p>
          <a:p>
            <a:pPr>
              <a:buNone/>
            </a:pPr>
            <a:r>
              <a:rPr lang="lt-LT" dirty="0">
                <a:highlight>
                  <a:srgbClr val="FFFF00"/>
                </a:highlight>
              </a:rPr>
              <a:t>Naudojama, kai </a:t>
            </a:r>
            <a:r>
              <a:rPr lang="lt-LT" dirty="0" err="1">
                <a:highlight>
                  <a:srgbClr val="FFFF00"/>
                </a:highlight>
              </a:rPr>
              <a:t>pasikliautinis</a:t>
            </a:r>
            <a:r>
              <a:rPr lang="lt-LT" dirty="0">
                <a:highlight>
                  <a:srgbClr val="FFFF00"/>
                </a:highlight>
              </a:rPr>
              <a:t> intervalas skaičiuojamas „rankiniu“ būdu pagal formulę.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FE781F-5E0E-2838-E306-561D760D75CA}"/>
              </a:ext>
            </a:extLst>
          </p:cNvPr>
          <p:cNvSpPr txBox="1"/>
          <p:nvPr/>
        </p:nvSpPr>
        <p:spPr>
          <a:xfrm>
            <a:off x="838200" y="473854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b="1" dirty="0"/>
              <a:t>Pandas (</a:t>
            </a:r>
            <a:r>
              <a:rPr lang="lt-LT" b="1" dirty="0">
                <a:latin typeface="Courier New" panose="02070309020205020404" pitchFamily="49" charset="0"/>
              </a:rPr>
              <a:t>pandas</a:t>
            </a:r>
            <a:r>
              <a:rPr lang="lt-LT" b="1" dirty="0"/>
              <a:t>)</a:t>
            </a:r>
            <a:br>
              <a:rPr lang="lt-LT" dirty="0"/>
            </a:br>
            <a:r>
              <a:rPr lang="lt-LT" dirty="0"/>
              <a:t>Naudojama paruošti duomenis ir apskaičiuoti imties statistiką.</a:t>
            </a:r>
          </a:p>
          <a:p>
            <a:pPr>
              <a:buNone/>
            </a:pPr>
            <a:r>
              <a:rPr lang="lt-LT" dirty="0"/>
              <a:t>Naudingi metodai:</a:t>
            </a:r>
            <a:br>
              <a:rPr lang="lt-LT" dirty="0"/>
            </a:br>
            <a:r>
              <a:rPr lang="lt-LT" dirty="0" err="1">
                <a:latin typeface="Courier New" panose="02070309020205020404" pitchFamily="49" charset="0"/>
              </a:rPr>
              <a:t>Series.mean</a:t>
            </a:r>
            <a:r>
              <a:rPr lang="lt-LT" dirty="0"/>
              <a:t>, </a:t>
            </a:r>
            <a:r>
              <a:rPr lang="lt-LT" dirty="0" err="1">
                <a:latin typeface="Courier New" panose="02070309020205020404" pitchFamily="49" charset="0"/>
              </a:rPr>
              <a:t>std</a:t>
            </a:r>
            <a:r>
              <a:rPr lang="lt-LT" dirty="0"/>
              <a:t>, </a:t>
            </a:r>
            <a:r>
              <a:rPr lang="lt-LT" dirty="0" err="1">
                <a:latin typeface="Courier New" panose="02070309020205020404" pitchFamily="49" charset="0"/>
              </a:rPr>
              <a:t>count</a:t>
            </a:r>
            <a:br>
              <a:rPr lang="lt-LT" dirty="0"/>
            </a:br>
            <a:r>
              <a:rPr lang="lt-LT" dirty="0"/>
              <a:t>Pati PI neskaičiuoja, bet būtina kaip pagrindas.</a:t>
            </a:r>
          </a:p>
        </p:txBody>
      </p:sp>
    </p:spTree>
    <p:extLst>
      <p:ext uri="{BB962C8B-B14F-4D97-AF65-F5344CB8AC3E}">
        <p14:creationId xmlns:p14="http://schemas.microsoft.com/office/powerpoint/2010/main" val="3924882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E0D3F-A916-2D29-545F-FEEEAB31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D3A2F4A-04C9-BBE6-DCA6-1E869BA0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Python</a:t>
            </a:r>
            <a:r>
              <a:rPr lang="lt-LT" dirty="0"/>
              <a:t> bibliotekos </a:t>
            </a:r>
            <a:r>
              <a:rPr lang="lt-LT" dirty="0" err="1"/>
              <a:t>pasikliautinių</a:t>
            </a:r>
            <a:r>
              <a:rPr lang="lt-LT" dirty="0"/>
              <a:t> intervalų skaičiavimui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49159-E260-5A5F-5107-132FE65D3999}"/>
              </a:ext>
            </a:extLst>
          </p:cNvPr>
          <p:cNvSpPr txBox="1"/>
          <p:nvPr/>
        </p:nvSpPr>
        <p:spPr>
          <a:xfrm>
            <a:off x="838200" y="2080650"/>
            <a:ext cx="8305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SciPy</a:t>
            </a:r>
            <a:r>
              <a:rPr lang="lt-LT" b="1" dirty="0"/>
              <a:t> </a:t>
            </a:r>
            <a:r>
              <a:rPr lang="lt-LT" b="1" dirty="0" err="1"/>
              <a:t>Stats</a:t>
            </a:r>
            <a:r>
              <a:rPr lang="lt-LT" b="1" dirty="0"/>
              <a:t> (</a:t>
            </a:r>
            <a:r>
              <a:rPr lang="lt-LT" b="1" dirty="0" err="1"/>
              <a:t>scipy.stats</a:t>
            </a:r>
            <a:r>
              <a:rPr lang="lt-LT" b="1" dirty="0"/>
              <a:t>)</a:t>
            </a:r>
            <a:endParaRPr lang="en-US" b="1" dirty="0"/>
          </a:p>
          <a:p>
            <a:br>
              <a:rPr lang="lt-LT" dirty="0"/>
            </a:br>
            <a:r>
              <a:rPr lang="lt-LT" dirty="0"/>
              <a:t>Pagrindinė biblioteka </a:t>
            </a:r>
            <a:r>
              <a:rPr lang="lt-LT" dirty="0" err="1"/>
              <a:t>pasikliautiniams</a:t>
            </a:r>
            <a:r>
              <a:rPr lang="lt-LT" dirty="0"/>
              <a:t> intervalams.</a:t>
            </a:r>
          </a:p>
          <a:p>
            <a:r>
              <a:rPr lang="lt-LT" dirty="0"/>
              <a:t>Dažniausiai naudojamos funkcijos:</a:t>
            </a:r>
            <a:endParaRPr lang="en-US" dirty="0"/>
          </a:p>
          <a:p>
            <a:br>
              <a:rPr lang="lt-LT" dirty="0"/>
            </a:br>
            <a:r>
              <a:rPr lang="lt-LT" dirty="0" err="1">
                <a:highlight>
                  <a:srgbClr val="FFFF00"/>
                </a:highlight>
              </a:rPr>
              <a:t>t.interval</a:t>
            </a:r>
            <a:r>
              <a:rPr lang="lt-LT" dirty="0">
                <a:highlight>
                  <a:srgbClr val="FFFF00"/>
                </a:highlight>
              </a:rPr>
              <a:t>() – </a:t>
            </a:r>
            <a:r>
              <a:rPr lang="lt-LT" dirty="0" err="1">
                <a:highlight>
                  <a:srgbClr val="FFFF00"/>
                </a:highlight>
              </a:rPr>
              <a:t>pasikliautinis</a:t>
            </a:r>
            <a:r>
              <a:rPr lang="lt-LT" dirty="0">
                <a:highlight>
                  <a:srgbClr val="FFFF00"/>
                </a:highlight>
              </a:rPr>
              <a:t> intervalas vidurkiui (t statistika)</a:t>
            </a:r>
            <a:br>
              <a:rPr lang="lt-LT" dirty="0"/>
            </a:br>
            <a:r>
              <a:rPr lang="lt-LT" dirty="0" err="1"/>
              <a:t>norm.interval</a:t>
            </a:r>
            <a:r>
              <a:rPr lang="lt-LT" dirty="0"/>
              <a:t>() – </a:t>
            </a:r>
            <a:r>
              <a:rPr lang="lt-LT" dirty="0" err="1"/>
              <a:t>pasikliautinis</a:t>
            </a:r>
            <a:r>
              <a:rPr lang="lt-LT" dirty="0"/>
              <a:t> intervalas proporcijoms ar didelėms imtims</a:t>
            </a:r>
            <a:br>
              <a:rPr lang="lt-LT" dirty="0"/>
            </a:br>
            <a:r>
              <a:rPr lang="lt-LT" dirty="0" err="1"/>
              <a:t>t.ppf</a:t>
            </a:r>
            <a:r>
              <a:rPr lang="lt-LT" dirty="0"/>
              <a:t>() ir </a:t>
            </a:r>
            <a:r>
              <a:rPr lang="lt-LT" dirty="0" err="1"/>
              <a:t>norm.ppf</a:t>
            </a:r>
            <a:r>
              <a:rPr lang="lt-LT" dirty="0"/>
              <a:t>() – kritinių reikšmių skaičiavimas</a:t>
            </a:r>
          </a:p>
          <a:p>
            <a:r>
              <a:rPr lang="lt-LT" dirty="0"/>
              <a:t>Tai profesionalus ir rekomenduojamas būdas skaičiuoti PI.</a:t>
            </a:r>
          </a:p>
        </p:txBody>
      </p:sp>
    </p:spTree>
    <p:extLst>
      <p:ext uri="{BB962C8B-B14F-4D97-AF65-F5344CB8AC3E}">
        <p14:creationId xmlns:p14="http://schemas.microsoft.com/office/powerpoint/2010/main" val="416370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654D-83CA-212A-64A1-C5A54711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18D15CC-36CF-7B2E-E1CE-B3689097D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Python</a:t>
            </a:r>
            <a:r>
              <a:rPr lang="lt-LT" dirty="0"/>
              <a:t> bibliotekos </a:t>
            </a:r>
            <a:r>
              <a:rPr lang="lt-LT" dirty="0" err="1"/>
              <a:t>pasikliautinių</a:t>
            </a:r>
            <a:r>
              <a:rPr lang="lt-LT" dirty="0"/>
              <a:t> intervalų skaičiavimui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BA2DB-EF69-DD3B-7B82-C646C513FF2D}"/>
              </a:ext>
            </a:extLst>
          </p:cNvPr>
          <p:cNvSpPr txBox="1"/>
          <p:nvPr/>
        </p:nvSpPr>
        <p:spPr>
          <a:xfrm>
            <a:off x="838200" y="2080650"/>
            <a:ext cx="8305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Statsmodels</a:t>
            </a:r>
            <a:r>
              <a:rPr lang="lt-LT" b="1" dirty="0"/>
              <a:t> (</a:t>
            </a:r>
            <a:r>
              <a:rPr lang="lt-LT" b="1" dirty="0" err="1"/>
              <a:t>statsmodels</a:t>
            </a:r>
            <a:r>
              <a:rPr lang="lt-LT" b="1" dirty="0"/>
              <a:t>)</a:t>
            </a:r>
            <a:endParaRPr lang="en-US" b="1" dirty="0"/>
          </a:p>
          <a:p>
            <a:br>
              <a:rPr lang="lt-LT" dirty="0"/>
            </a:br>
            <a:r>
              <a:rPr lang="lt-LT" dirty="0"/>
              <a:t>Naudojama, kai </a:t>
            </a:r>
            <a:r>
              <a:rPr lang="lt-LT" dirty="0" err="1"/>
              <a:t>pasikliautiniai</a:t>
            </a:r>
            <a:r>
              <a:rPr lang="lt-LT" dirty="0"/>
              <a:t> intervalai skaičiuojami </a:t>
            </a:r>
            <a:r>
              <a:rPr lang="lt-LT" b="1" dirty="0"/>
              <a:t>modelių kontekste</a:t>
            </a:r>
            <a:r>
              <a:rPr lang="lt-LT" dirty="0"/>
              <a:t>.</a:t>
            </a:r>
            <a:endParaRPr lang="en-US" dirty="0"/>
          </a:p>
          <a:p>
            <a:endParaRPr lang="lt-LT" dirty="0"/>
          </a:p>
          <a:p>
            <a:r>
              <a:rPr lang="lt-LT" dirty="0"/>
              <a:t>Naudingi įrankiai:</a:t>
            </a:r>
            <a:endParaRPr lang="en-US" dirty="0"/>
          </a:p>
          <a:p>
            <a:br>
              <a:rPr lang="lt-LT" dirty="0"/>
            </a:br>
            <a:r>
              <a:rPr lang="lt-LT" dirty="0" err="1"/>
              <a:t>statsmodels.stats.weightstats</a:t>
            </a:r>
            <a:r>
              <a:rPr lang="lt-LT" dirty="0"/>
              <a:t> – vidurkio ir proporcijų PI</a:t>
            </a:r>
            <a:br>
              <a:rPr lang="lt-LT" dirty="0"/>
            </a:br>
            <a:r>
              <a:rPr lang="lt-LT" dirty="0" err="1"/>
              <a:t>conf_int</a:t>
            </a:r>
            <a:r>
              <a:rPr lang="lt-LT" dirty="0"/>
              <a:t>() – </a:t>
            </a:r>
            <a:r>
              <a:rPr lang="lt-LT" dirty="0" err="1"/>
              <a:t>pasikliautiniai</a:t>
            </a:r>
            <a:r>
              <a:rPr lang="lt-LT" dirty="0"/>
              <a:t> intervalai regresijoje ir kituose modeliuose</a:t>
            </a:r>
          </a:p>
          <a:p>
            <a:r>
              <a:rPr lang="lt-LT" dirty="0"/>
              <a:t>Dažnai naudojama verslo analitikoje kartu su regresija.</a:t>
            </a:r>
          </a:p>
        </p:txBody>
      </p:sp>
    </p:spTree>
    <p:extLst>
      <p:ext uri="{BB962C8B-B14F-4D97-AF65-F5344CB8AC3E}">
        <p14:creationId xmlns:p14="http://schemas.microsoft.com/office/powerpoint/2010/main" val="4118055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22C5-1A92-4F3E-51C6-0F09D8D445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Hipotezių</a:t>
            </a:r>
            <a:r>
              <a:rPr lang="en-US" dirty="0"/>
              <a:t> </a:t>
            </a:r>
            <a:r>
              <a:rPr lang="en-US" dirty="0" err="1"/>
              <a:t>tikrinimas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419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E2FCB95-76E0-575C-896C-71B253FF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Kas yra hipotezė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9A5C4-0359-02D4-B366-E7C87FCE215E}"/>
              </a:ext>
            </a:extLst>
          </p:cNvPr>
          <p:cNvSpPr txBox="1"/>
          <p:nvPr/>
        </p:nvSpPr>
        <p:spPr>
          <a:xfrm>
            <a:off x="580103" y="1759975"/>
            <a:ext cx="93111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b="1" dirty="0"/>
              <a:t>Kas yra hipotezė</a:t>
            </a:r>
          </a:p>
          <a:p>
            <a:r>
              <a:rPr lang="lt-LT" b="1" dirty="0"/>
              <a:t>Hipotezė</a:t>
            </a:r>
            <a:r>
              <a:rPr lang="lt-LT" dirty="0"/>
              <a:t> – tai patikrinamas teiginys apie populiaciją, paremtas imties duomenimis.</a:t>
            </a:r>
            <a:endParaRPr lang="en-US" dirty="0"/>
          </a:p>
          <a:p>
            <a:endParaRPr lang="lt-LT" dirty="0"/>
          </a:p>
          <a:p>
            <a:r>
              <a:rPr lang="lt-LT" dirty="0"/>
              <a:t>Duomenų analitikoje hipotezės dažnai kyla iš </a:t>
            </a:r>
            <a:r>
              <a:rPr lang="lt-LT" b="1" dirty="0"/>
              <a:t>verslo klausimų</a:t>
            </a:r>
            <a:r>
              <a:rPr lang="lt-LT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lt-LT" dirty="0"/>
              <a:t>Pavyzdys:</a:t>
            </a:r>
          </a:p>
          <a:p>
            <a:pPr>
              <a:buNone/>
            </a:pPr>
            <a:br>
              <a:rPr lang="lt-LT" dirty="0"/>
            </a:br>
            <a:r>
              <a:rPr lang="lt-LT" dirty="0"/>
              <a:t>Ar nauja kainodara padidino vidutinį užsakymo dydį?</a:t>
            </a:r>
          </a:p>
        </p:txBody>
      </p:sp>
    </p:spTree>
    <p:extLst>
      <p:ext uri="{BB962C8B-B14F-4D97-AF65-F5344CB8AC3E}">
        <p14:creationId xmlns:p14="http://schemas.microsoft.com/office/powerpoint/2010/main" val="3768579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B7FB-D5F2-B9F3-EB72-B4BECD184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B923328-CF40-36B5-D727-DF7F38C8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Kodėl hipotezių tikrinimas svarbus duomenų analitikoje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611DF-7E9A-C179-DD00-1E769824B0FF}"/>
              </a:ext>
            </a:extLst>
          </p:cNvPr>
          <p:cNvSpPr txBox="1"/>
          <p:nvPr/>
        </p:nvSpPr>
        <p:spPr>
          <a:xfrm>
            <a:off x="580103" y="1759975"/>
            <a:ext cx="93111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lt-LT" altLang="lt-LT" dirty="0">
                <a:latin typeface="Arial" panose="020B0604020202020204" pitchFamily="34" charset="0"/>
              </a:rPr>
              <a:t>Leidžia </a:t>
            </a:r>
            <a:r>
              <a:rPr lang="lt-LT" altLang="lt-LT" b="1" dirty="0">
                <a:latin typeface="Arial" panose="020B0604020202020204" pitchFamily="34" charset="0"/>
              </a:rPr>
              <a:t>įvertinti sprendimų poveikį</a:t>
            </a:r>
            <a:r>
              <a:rPr lang="lt-LT" altLang="lt-LT" dirty="0">
                <a:latin typeface="Arial" panose="020B0604020202020204" pitchFamily="34" charset="0"/>
              </a:rPr>
              <a:t>, o ne pasikliauti nuojauta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lt-LT" altLang="lt-LT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lt-LT" altLang="lt-LT" dirty="0">
                <a:latin typeface="Arial" panose="020B0604020202020204" pitchFamily="34" charset="0"/>
              </a:rPr>
              <a:t>Naudojamas: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lt-LT" altLang="lt-LT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lt-LT" altLang="lt-LT" dirty="0">
                <a:latin typeface="Arial" panose="020B0604020202020204" pitchFamily="34" charset="0"/>
              </a:rPr>
              <a:t>A/B testuose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lt-LT" altLang="lt-LT" dirty="0">
                <a:latin typeface="Arial" panose="020B0604020202020204" pitchFamily="34" charset="0"/>
              </a:rPr>
              <a:t>Marketingo kampanijų vertinime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lt-LT" altLang="lt-LT" dirty="0">
                <a:latin typeface="Arial" panose="020B0604020202020204" pitchFamily="34" charset="0"/>
              </a:rPr>
              <a:t>Produktų pakeitimų analizėje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lt-LT" altLang="lt-LT" dirty="0">
                <a:latin typeface="Arial" panose="020B0604020202020204" pitchFamily="34" charset="0"/>
              </a:rPr>
              <a:t>Procesų optimizavime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lt-LT" altLang="lt-LT" dirty="0">
                <a:latin typeface="Arial" panose="020B0604020202020204" pitchFamily="34" charset="0"/>
              </a:rPr>
              <a:t>Padeda </a:t>
            </a:r>
            <a:r>
              <a:rPr lang="lt-LT" altLang="lt-LT" b="1" dirty="0">
                <a:latin typeface="Arial" panose="020B0604020202020204" pitchFamily="34" charset="0"/>
              </a:rPr>
              <a:t>atskirti signalą nuo triukšmo</a:t>
            </a:r>
            <a:endParaRPr lang="lt-LT" altLang="lt-LT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383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3219-9311-CF2A-C649-75635357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Kam </a:t>
            </a:r>
            <a:r>
              <a:rPr lang="en-US" dirty="0" err="1"/>
              <a:t>reikalingas</a:t>
            </a:r>
            <a:r>
              <a:rPr lang="en-US" dirty="0"/>
              <a:t> </a:t>
            </a:r>
            <a:r>
              <a:rPr lang="en-US" dirty="0" err="1"/>
              <a:t>hipotezių</a:t>
            </a:r>
            <a:r>
              <a:rPr lang="en-US" dirty="0"/>
              <a:t> </a:t>
            </a:r>
            <a:r>
              <a:rPr lang="en-US" dirty="0" err="1"/>
              <a:t>testavimas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42C18-2FA2-CF4F-6978-2219B9076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Medicinoje</a:t>
            </a:r>
            <a:r>
              <a:rPr lang="en-US" dirty="0"/>
              <a:t> - </a:t>
            </a:r>
            <a:r>
              <a:rPr lang="en-US" dirty="0" err="1"/>
              <a:t>norint</a:t>
            </a:r>
            <a:r>
              <a:rPr lang="en-US" dirty="0"/>
              <a:t> </a:t>
            </a:r>
            <a:r>
              <a:rPr lang="en-US" dirty="0" err="1"/>
              <a:t>patikrinti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naujas</a:t>
            </a:r>
            <a:r>
              <a:rPr lang="en-US" dirty="0"/>
              <a:t> </a:t>
            </a:r>
            <a:r>
              <a:rPr lang="en-US" dirty="0" err="1"/>
              <a:t>vaistas</a:t>
            </a:r>
            <a:r>
              <a:rPr lang="en-US" dirty="0"/>
              <a:t> </a:t>
            </a:r>
            <a:r>
              <a:rPr lang="en-US" dirty="0" err="1"/>
              <a:t>turi</a:t>
            </a:r>
            <a:r>
              <a:rPr lang="en-US" dirty="0"/>
              <a:t> </a:t>
            </a:r>
            <a:r>
              <a:rPr lang="en-US" dirty="0" err="1"/>
              <a:t>geresnį</a:t>
            </a:r>
            <a:r>
              <a:rPr lang="en-US" dirty="0"/>
              <a:t> </a:t>
            </a:r>
            <a:r>
              <a:rPr lang="en-US" dirty="0" err="1"/>
              <a:t>poveikį</a:t>
            </a:r>
            <a:r>
              <a:rPr lang="en-US" dirty="0"/>
              <a:t> </a:t>
            </a:r>
            <a:r>
              <a:rPr lang="en-US" dirty="0" err="1"/>
              <a:t>nei</a:t>
            </a:r>
            <a:r>
              <a:rPr lang="en-US" dirty="0"/>
              <a:t> </a:t>
            </a:r>
            <a:r>
              <a:rPr lang="en-US" dirty="0" err="1"/>
              <a:t>senasis</a:t>
            </a:r>
            <a:r>
              <a:rPr lang="en-US" dirty="0"/>
              <a:t>.</a:t>
            </a:r>
          </a:p>
          <a:p>
            <a:r>
              <a:rPr lang="en-US" dirty="0" err="1"/>
              <a:t>Gamyboje</a:t>
            </a:r>
            <a:r>
              <a:rPr lang="en-US" dirty="0"/>
              <a:t> – </a:t>
            </a:r>
            <a:r>
              <a:rPr lang="en-US" dirty="0" err="1"/>
              <a:t>norint</a:t>
            </a:r>
            <a:r>
              <a:rPr lang="en-US" dirty="0"/>
              <a:t> </a:t>
            </a:r>
            <a:r>
              <a:rPr lang="en-US" dirty="0" err="1"/>
              <a:t>įvertinti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naujas</a:t>
            </a:r>
            <a:r>
              <a:rPr lang="en-US" dirty="0"/>
              <a:t> </a:t>
            </a:r>
            <a:r>
              <a:rPr lang="en-US" dirty="0" err="1"/>
              <a:t>procesas</a:t>
            </a:r>
            <a:r>
              <a:rPr lang="en-US" dirty="0"/>
              <a:t> </a:t>
            </a:r>
            <a:r>
              <a:rPr lang="en-US" dirty="0" err="1"/>
              <a:t>sumažina</a:t>
            </a:r>
            <a:r>
              <a:rPr lang="en-US" dirty="0"/>
              <a:t> </a:t>
            </a:r>
            <a:r>
              <a:rPr lang="en-US" dirty="0" err="1"/>
              <a:t>brokuotų</a:t>
            </a:r>
            <a:r>
              <a:rPr lang="en-US" dirty="0"/>
              <a:t> </a:t>
            </a:r>
            <a:r>
              <a:rPr lang="en-US" dirty="0" err="1"/>
              <a:t>detalių</a:t>
            </a:r>
            <a:r>
              <a:rPr lang="en-US" dirty="0"/>
              <a:t> </a:t>
            </a:r>
            <a:r>
              <a:rPr lang="en-US" dirty="0" err="1"/>
              <a:t>skaičių</a:t>
            </a:r>
            <a:r>
              <a:rPr lang="en-US" dirty="0"/>
              <a:t>.</a:t>
            </a:r>
          </a:p>
          <a:p>
            <a:r>
              <a:rPr lang="en-US" dirty="0" err="1"/>
              <a:t>Ekonomikoje</a:t>
            </a:r>
            <a:r>
              <a:rPr lang="en-US" dirty="0"/>
              <a:t> – </a:t>
            </a:r>
            <a:r>
              <a:rPr lang="en-US" dirty="0" err="1"/>
              <a:t>tikrinant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pakeitus</a:t>
            </a:r>
            <a:r>
              <a:rPr lang="en-US" dirty="0"/>
              <a:t> </a:t>
            </a:r>
            <a:r>
              <a:rPr lang="en-US" dirty="0" err="1"/>
              <a:t>politiką</a:t>
            </a:r>
            <a:r>
              <a:rPr lang="en-US" dirty="0"/>
              <a:t> </a:t>
            </a:r>
            <a:r>
              <a:rPr lang="en-US" dirty="0" err="1"/>
              <a:t>pasikeitė</a:t>
            </a:r>
            <a:r>
              <a:rPr lang="en-US" dirty="0"/>
              <a:t> </a:t>
            </a:r>
            <a:r>
              <a:rPr lang="en-US" dirty="0" err="1"/>
              <a:t>namų</a:t>
            </a:r>
            <a:r>
              <a:rPr lang="en-US" dirty="0"/>
              <a:t> </a:t>
            </a:r>
            <a:r>
              <a:rPr lang="en-US" dirty="0" err="1"/>
              <a:t>ūkių</a:t>
            </a:r>
            <a:r>
              <a:rPr lang="en-US" dirty="0"/>
              <a:t> </a:t>
            </a:r>
            <a:r>
              <a:rPr lang="en-US" dirty="0" err="1"/>
              <a:t>išlaidos</a:t>
            </a:r>
            <a:r>
              <a:rPr lang="en-US" dirty="0"/>
              <a:t>. </a:t>
            </a:r>
            <a:r>
              <a:rPr lang="en-US" dirty="0" err="1"/>
              <a:t>Pvz</a:t>
            </a:r>
            <a:r>
              <a:rPr lang="en-US" dirty="0"/>
              <a:t>. </a:t>
            </a:r>
            <a:r>
              <a:rPr lang="en-US" dirty="0" err="1"/>
              <a:t>sumažinus</a:t>
            </a:r>
            <a:r>
              <a:rPr lang="en-US" dirty="0"/>
              <a:t> </a:t>
            </a:r>
            <a:r>
              <a:rPr lang="en-US" dirty="0" err="1"/>
              <a:t>palūkanų</a:t>
            </a:r>
            <a:r>
              <a:rPr lang="en-US" dirty="0"/>
              <a:t> </a:t>
            </a:r>
            <a:r>
              <a:rPr lang="en-US" dirty="0" err="1"/>
              <a:t>normas</a:t>
            </a:r>
            <a:r>
              <a:rPr lang="en-US" dirty="0"/>
              <a:t>, </a:t>
            </a:r>
            <a:r>
              <a:rPr lang="en-US" dirty="0" err="1"/>
              <a:t>tikrinami</a:t>
            </a:r>
            <a:r>
              <a:rPr lang="en-US" dirty="0"/>
              <a:t> </a:t>
            </a:r>
            <a:r>
              <a:rPr lang="en-US" dirty="0" err="1"/>
              <a:t>duomenys</a:t>
            </a:r>
            <a:r>
              <a:rPr lang="en-US" dirty="0"/>
              <a:t> </a:t>
            </a:r>
            <a:r>
              <a:rPr lang="en-US" dirty="0" err="1"/>
              <a:t>prieš</a:t>
            </a:r>
            <a:r>
              <a:rPr lang="en-US" dirty="0"/>
              <a:t> </a:t>
            </a:r>
            <a:r>
              <a:rPr lang="en-US" dirty="0" err="1"/>
              <a:t>ir</a:t>
            </a:r>
            <a:r>
              <a:rPr lang="en-US" dirty="0"/>
              <a:t> po </a:t>
            </a:r>
            <a:r>
              <a:rPr lang="en-US" dirty="0" err="1"/>
              <a:t>pakeitimo</a:t>
            </a:r>
            <a:r>
              <a:rPr lang="en-US" dirty="0"/>
              <a:t>.</a:t>
            </a:r>
          </a:p>
          <a:p>
            <a:r>
              <a:rPr lang="en-US" dirty="0"/>
              <a:t>E-</a:t>
            </a:r>
            <a:r>
              <a:rPr lang="en-US" dirty="0" err="1"/>
              <a:t>komercija</a:t>
            </a:r>
            <a:r>
              <a:rPr lang="en-US" dirty="0"/>
              <a:t> –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pakeitus</a:t>
            </a:r>
            <a:r>
              <a:rPr lang="en-US" dirty="0"/>
              <a:t> e-</a:t>
            </a:r>
            <a:r>
              <a:rPr lang="en-US" dirty="0" err="1"/>
              <a:t>parduotuvės</a:t>
            </a:r>
            <a:r>
              <a:rPr lang="en-US" dirty="0"/>
              <a:t> </a:t>
            </a:r>
            <a:r>
              <a:rPr lang="en-US" dirty="0" err="1"/>
              <a:t>dizainą</a:t>
            </a:r>
            <a:r>
              <a:rPr lang="en-US" dirty="0"/>
              <a:t>, </a:t>
            </a:r>
            <a:r>
              <a:rPr lang="en-US" dirty="0" err="1"/>
              <a:t>padidėja</a:t>
            </a:r>
            <a:r>
              <a:rPr lang="en-US" dirty="0"/>
              <a:t> </a:t>
            </a:r>
            <a:r>
              <a:rPr lang="en-US" dirty="0" err="1"/>
              <a:t>nupirktų</a:t>
            </a:r>
            <a:r>
              <a:rPr lang="en-US" dirty="0"/>
              <a:t> </a:t>
            </a:r>
            <a:r>
              <a:rPr lang="en-US" dirty="0" err="1"/>
              <a:t>prekių</a:t>
            </a:r>
            <a:r>
              <a:rPr lang="en-US" dirty="0"/>
              <a:t> </a:t>
            </a:r>
            <a:r>
              <a:rPr lang="en-US" dirty="0" err="1"/>
              <a:t>skaičius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72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FBB3-F741-E097-C5BA-BDA886FD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Hipotezės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9B741-D3C6-511A-8C82-20488EF6C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Nulinė</a:t>
            </a:r>
            <a:r>
              <a:rPr lang="en-US" dirty="0"/>
              <a:t> </a:t>
            </a:r>
            <a:r>
              <a:rPr lang="en-US" dirty="0" err="1"/>
              <a:t>hipotezė</a:t>
            </a:r>
            <a:r>
              <a:rPr lang="en-US" dirty="0"/>
              <a:t> H</a:t>
            </a:r>
            <a:r>
              <a:rPr lang="en-US" sz="1600" dirty="0"/>
              <a:t>0</a:t>
            </a:r>
            <a:r>
              <a:rPr lang="en-US" dirty="0"/>
              <a:t>: </a:t>
            </a:r>
            <a:r>
              <a:rPr lang="en-US" dirty="0" err="1"/>
              <a:t>Nėra</a:t>
            </a:r>
            <a:r>
              <a:rPr lang="en-US" dirty="0"/>
              <a:t> </a:t>
            </a:r>
            <a:r>
              <a:rPr lang="en-US" dirty="0" err="1"/>
              <a:t>efekto</a:t>
            </a:r>
            <a:r>
              <a:rPr lang="en-US" dirty="0"/>
              <a:t>.</a:t>
            </a:r>
          </a:p>
          <a:p>
            <a:r>
              <a:rPr lang="en-US" dirty="0" err="1"/>
              <a:t>Alternatyvi</a:t>
            </a:r>
            <a:r>
              <a:rPr lang="en-US" dirty="0"/>
              <a:t> </a:t>
            </a:r>
            <a:r>
              <a:rPr lang="en-US" dirty="0" err="1"/>
              <a:t>hipotezė</a:t>
            </a:r>
            <a:r>
              <a:rPr lang="en-US" dirty="0"/>
              <a:t> H</a:t>
            </a:r>
            <a:r>
              <a:rPr lang="en-US" sz="1600" dirty="0"/>
              <a:t>a</a:t>
            </a:r>
            <a:r>
              <a:rPr lang="en-US" dirty="0"/>
              <a:t>: </a:t>
            </a:r>
            <a:r>
              <a:rPr lang="en-US" dirty="0" err="1"/>
              <a:t>Yra</a:t>
            </a:r>
            <a:r>
              <a:rPr lang="en-US" dirty="0"/>
              <a:t> </a:t>
            </a:r>
            <a:r>
              <a:rPr lang="en-US" dirty="0" err="1"/>
              <a:t>efektas</a:t>
            </a:r>
            <a:r>
              <a:rPr lang="en-US" dirty="0"/>
              <a:t>.</a:t>
            </a:r>
          </a:p>
          <a:p>
            <a:r>
              <a:rPr lang="en-US" dirty="0" err="1"/>
              <a:t>Reikšmingumo</a:t>
            </a:r>
            <a:r>
              <a:rPr lang="en-US" dirty="0"/>
              <a:t> </a:t>
            </a:r>
            <a:r>
              <a:rPr lang="en-US" dirty="0" err="1"/>
              <a:t>lygis</a:t>
            </a:r>
            <a:r>
              <a:rPr lang="en-US" dirty="0"/>
              <a:t> </a:t>
            </a:r>
            <a:r>
              <a:rPr lang="el-GR" dirty="0"/>
              <a:t>α</a:t>
            </a:r>
            <a:r>
              <a:rPr lang="en-US" dirty="0"/>
              <a:t>: </a:t>
            </a:r>
            <a:r>
              <a:rPr lang="en-US" dirty="0" err="1"/>
              <a:t>dažniausiai</a:t>
            </a:r>
            <a:r>
              <a:rPr lang="en-US" dirty="0"/>
              <a:t> </a:t>
            </a:r>
            <a:r>
              <a:rPr lang="en-US" dirty="0" err="1"/>
              <a:t>naudojamas</a:t>
            </a:r>
            <a:r>
              <a:rPr lang="en-US" dirty="0"/>
              <a:t> 0,05.</a:t>
            </a:r>
          </a:p>
          <a:p>
            <a:r>
              <a:rPr lang="en-US" dirty="0"/>
              <a:t>P </a:t>
            </a:r>
            <a:r>
              <a:rPr lang="en-US" dirty="0" err="1"/>
              <a:t>reikšmė</a:t>
            </a:r>
            <a:r>
              <a:rPr lang="en-US" dirty="0"/>
              <a:t>: </a:t>
            </a:r>
            <a:r>
              <a:rPr lang="en-US" dirty="0" err="1"/>
              <a:t>tikimybė</a:t>
            </a:r>
            <a:r>
              <a:rPr lang="en-US" dirty="0"/>
              <a:t>, </a:t>
            </a:r>
            <a:r>
              <a:rPr lang="en-US" dirty="0" err="1"/>
              <a:t>kad</a:t>
            </a:r>
            <a:r>
              <a:rPr lang="en-US" dirty="0"/>
              <a:t> </a:t>
            </a:r>
            <a:r>
              <a:rPr lang="en-US" dirty="0" err="1"/>
              <a:t>gautume</a:t>
            </a:r>
            <a:r>
              <a:rPr lang="en-US" dirty="0"/>
              <a:t> </a:t>
            </a:r>
            <a:r>
              <a:rPr lang="en-US" dirty="0" err="1"/>
              <a:t>tokį</a:t>
            </a:r>
            <a:r>
              <a:rPr lang="en-US" dirty="0"/>
              <a:t> </a:t>
            </a:r>
            <a:r>
              <a:rPr lang="en-US" dirty="0" err="1"/>
              <a:t>rezultatą</a:t>
            </a:r>
            <a:r>
              <a:rPr lang="en-US" dirty="0"/>
              <a:t> </a:t>
            </a:r>
            <a:r>
              <a:rPr lang="en-US" dirty="0" err="1"/>
              <a:t>jei</a:t>
            </a:r>
            <a:r>
              <a:rPr lang="en-US" dirty="0"/>
              <a:t> H</a:t>
            </a:r>
            <a:r>
              <a:rPr lang="en-US" sz="1600" dirty="0"/>
              <a:t>0 </a:t>
            </a:r>
            <a:r>
              <a:rPr lang="en-US" dirty="0" err="1"/>
              <a:t>būtų</a:t>
            </a:r>
            <a:r>
              <a:rPr lang="en-US" dirty="0"/>
              <a:t> </a:t>
            </a:r>
            <a:r>
              <a:rPr lang="en-US" dirty="0" err="1"/>
              <a:t>teisinga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879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2971BA2-B62F-A469-5CF9-37358B9DD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Hipotezės</a:t>
            </a:r>
            <a:endParaRPr lang="lt-LT" dirty="0"/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90F565A8-8373-65E8-8E3F-496C91C22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lt-LT" dirty="0"/>
              <a:t>Nulinė hipotezė H0: Nėra efekto arba skirtumo.</a:t>
            </a:r>
            <a:br>
              <a:rPr lang="lt-LT" dirty="0"/>
            </a:br>
            <a:r>
              <a:rPr lang="lt-LT" dirty="0"/>
              <a:t>Ji laikoma </a:t>
            </a:r>
            <a:r>
              <a:rPr lang="lt-LT" dirty="0">
                <a:highlight>
                  <a:srgbClr val="FFFF00"/>
                </a:highlight>
              </a:rPr>
              <a:t>teisinga tol, kol duomenys nepateikia pakankamai įrodymų ją atmesti.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br>
              <a:rPr lang="lt-LT" dirty="0"/>
            </a:br>
            <a:r>
              <a:rPr lang="lt-LT" dirty="0"/>
              <a:t>Pvz.: vidutinės pardavimo pajamos prieš ir po pokyčio yra vienodos.</a:t>
            </a:r>
            <a:endParaRPr lang="en-US" dirty="0"/>
          </a:p>
          <a:p>
            <a:pPr marL="0" indent="0">
              <a:buNone/>
            </a:pPr>
            <a:endParaRPr lang="lt-LT" dirty="0"/>
          </a:p>
          <a:p>
            <a:r>
              <a:rPr lang="lt-LT" dirty="0"/>
              <a:t>Alternatyvi hipotezė Ha: Yra efektas arba skirtumas.</a:t>
            </a:r>
            <a:br>
              <a:rPr lang="lt-LT" dirty="0"/>
            </a:br>
            <a:r>
              <a:rPr lang="lt-LT" dirty="0"/>
              <a:t>Ji atspindi analitiko tikslą rasti pokytį ar poveikį.</a:t>
            </a:r>
            <a:endParaRPr lang="en-US" dirty="0"/>
          </a:p>
          <a:p>
            <a:pPr marL="0" indent="0">
              <a:buNone/>
            </a:pPr>
            <a:br>
              <a:rPr lang="lt-LT" dirty="0"/>
            </a:br>
            <a:r>
              <a:rPr lang="lt-LT" dirty="0"/>
              <a:t>Pvz.: vidutinės pardavimo pajamos po pokyčio padidėjo.</a:t>
            </a:r>
          </a:p>
          <a:p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876035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B5D6A60-9965-9101-E77F-3E50A632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Hipotez</a:t>
            </a:r>
            <a:r>
              <a:rPr lang="lt-LT" dirty="0"/>
              <a:t>ės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6418E-5A9E-21AA-9542-A1AF96A41384}"/>
              </a:ext>
            </a:extLst>
          </p:cNvPr>
          <p:cNvSpPr txBox="1"/>
          <p:nvPr/>
        </p:nvSpPr>
        <p:spPr>
          <a:xfrm>
            <a:off x="1425677" y="1477492"/>
            <a:ext cx="813127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b="1" dirty="0"/>
              <a:t>Reikšmingumo lygis </a:t>
            </a:r>
            <a:r>
              <a:rPr lang="el-GR" b="1" dirty="0"/>
              <a:t>α: </a:t>
            </a:r>
            <a:r>
              <a:rPr lang="lt-LT" dirty="0"/>
              <a:t>iš anksto nustatyta klaidos riba, dažniausiai 0,05.</a:t>
            </a:r>
            <a:br>
              <a:rPr lang="lt-LT" dirty="0"/>
            </a:br>
            <a:endParaRPr lang="lt-LT" dirty="0"/>
          </a:p>
          <a:p>
            <a:pPr>
              <a:buNone/>
            </a:pPr>
            <a:r>
              <a:rPr lang="lt-LT" dirty="0"/>
              <a:t>Tai reiškia, kad leidžiama 5 % tikimybė neteisingai atmesti H0.</a:t>
            </a:r>
            <a:br>
              <a:rPr lang="lt-LT" dirty="0"/>
            </a:br>
            <a:r>
              <a:rPr lang="el-GR" dirty="0"/>
              <a:t>α </a:t>
            </a:r>
            <a:r>
              <a:rPr lang="lt-LT" dirty="0"/>
              <a:t>pasirenkamas prieš atliekant testą.</a:t>
            </a:r>
          </a:p>
          <a:p>
            <a:pPr>
              <a:buNone/>
            </a:pPr>
            <a:r>
              <a:rPr lang="lt-LT" dirty="0"/>
              <a:t>P reikšmė (p-</a:t>
            </a:r>
            <a:r>
              <a:rPr lang="lt-LT" dirty="0" err="1"/>
              <a:t>value</a:t>
            </a:r>
            <a:r>
              <a:rPr lang="lt-LT" dirty="0"/>
              <a:t>): tikimybė gauti tokį arba labiau ekstremalų rezultatą, jei H0 yra teisinga.</a:t>
            </a:r>
            <a:br>
              <a:rPr lang="lt-LT" dirty="0"/>
            </a:br>
            <a:r>
              <a:rPr lang="lt-LT" dirty="0"/>
              <a:t>Maža p reikšmė rodo, kad stebėtas rezultatas mažai tikėtinas be realaus efekto.</a:t>
            </a: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b="1" dirty="0"/>
              <a:t>Sprendimo taisyklė:</a:t>
            </a:r>
            <a:br>
              <a:rPr lang="lt-LT" dirty="0"/>
            </a:br>
            <a:r>
              <a:rPr lang="lt-LT" dirty="0"/>
              <a:t>Jei p ≤ </a:t>
            </a:r>
            <a:r>
              <a:rPr lang="el-GR" dirty="0"/>
              <a:t>α – </a:t>
            </a:r>
            <a:r>
              <a:rPr lang="lt-LT" dirty="0"/>
              <a:t>nulinė hipotezė atmetama.</a:t>
            </a:r>
            <a:br>
              <a:rPr lang="lt-LT" dirty="0"/>
            </a:br>
            <a:r>
              <a:rPr lang="lt-LT" dirty="0"/>
              <a:t>Jei p &gt; </a:t>
            </a:r>
            <a:r>
              <a:rPr lang="el-GR" dirty="0"/>
              <a:t>α – </a:t>
            </a:r>
            <a:r>
              <a:rPr lang="lt-LT" dirty="0"/>
              <a:t>nėra pakankamai įrodymų atmesti H0.</a:t>
            </a:r>
          </a:p>
        </p:txBody>
      </p:sp>
    </p:spTree>
    <p:extLst>
      <p:ext uri="{BB962C8B-B14F-4D97-AF65-F5344CB8AC3E}">
        <p14:creationId xmlns:p14="http://schemas.microsoft.com/office/powerpoint/2010/main" val="1466921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E42EB43-002A-70BC-BBCA-CE585633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Hipotezės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158A4-9A9C-CAAC-12DC-06B6CEAE5AD0}"/>
              </a:ext>
            </a:extLst>
          </p:cNvPr>
          <p:cNvSpPr txBox="1"/>
          <p:nvPr/>
        </p:nvSpPr>
        <p:spPr>
          <a:xfrm>
            <a:off x="1622322" y="2858892"/>
            <a:ext cx="8351017" cy="23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p reikšmė neparodo efekto dydžio ar verslo naudos, ji parodo tik statistinį patikimumą.</a:t>
            </a: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/>
              <a:t>Papildymas temai:</a:t>
            </a:r>
            <a:br>
              <a:rPr lang="lt-LT" dirty="0"/>
            </a:br>
            <a:r>
              <a:rPr lang="lt-LT" dirty="0"/>
              <a:t>Hipotezės visada formuluojamos taip, kad būtų aiškus ryšys su verslo sprendimu, o ne tik su skaičiavimu.</a:t>
            </a:r>
            <a:br>
              <a:rPr lang="lt-LT" dirty="0"/>
            </a:br>
            <a:r>
              <a:rPr lang="lt-LT" dirty="0"/>
              <a:t>Gera praktika – prieš testą įvardinti, koks rezultatas būtų laikomas reikšmingu verslo prasme.</a:t>
            </a:r>
          </a:p>
        </p:txBody>
      </p:sp>
    </p:spTree>
    <p:extLst>
      <p:ext uri="{BB962C8B-B14F-4D97-AF65-F5344CB8AC3E}">
        <p14:creationId xmlns:p14="http://schemas.microsoft.com/office/powerpoint/2010/main" val="4028934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ED9F-900D-FE2E-0E4E-6BCA3855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Klaidos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5B7BA-C6A2-84A4-8920-754F7A738D73}"/>
              </a:ext>
            </a:extLst>
          </p:cNvPr>
          <p:cNvSpPr txBox="1"/>
          <p:nvPr/>
        </p:nvSpPr>
        <p:spPr>
          <a:xfrm>
            <a:off x="3048000" y="180365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b="1" dirty="0"/>
              <a:t>Pirmo tipo klaida </a:t>
            </a:r>
            <a:r>
              <a:rPr lang="lt-LT" dirty="0"/>
              <a:t>(Type I </a:t>
            </a:r>
            <a:r>
              <a:rPr lang="lt-LT" dirty="0" err="1"/>
              <a:t>error</a:t>
            </a:r>
            <a:r>
              <a:rPr lang="lt-LT" dirty="0"/>
              <a:t>, klaidingas atmetimas):</a:t>
            </a:r>
            <a:br>
              <a:rPr lang="lt-LT" dirty="0"/>
            </a:br>
            <a:r>
              <a:rPr lang="lt-LT" dirty="0"/>
              <a:t>Situacija, kai atmetama teisinga nulinė hipotezė H0.</a:t>
            </a:r>
            <a:br>
              <a:rPr lang="lt-LT" dirty="0"/>
            </a:br>
            <a:r>
              <a:rPr lang="lt-LT" dirty="0"/>
              <a:t>Tai reiškia, kad daroma išvada apie efektą ar skirtumą, nors realybėje jo nėra.</a:t>
            </a:r>
            <a:br>
              <a:rPr lang="lt-LT" dirty="0"/>
            </a:br>
            <a:r>
              <a:rPr lang="lt-LT" dirty="0"/>
              <a:t>Pirmo tipo klaidos tikimybė lygi reikšmingumo lygiui </a:t>
            </a:r>
            <a:r>
              <a:rPr lang="el-GR" dirty="0"/>
              <a:t>α.</a:t>
            </a:r>
            <a:endParaRPr lang="lt-LT" dirty="0"/>
          </a:p>
          <a:p>
            <a:pPr>
              <a:buNone/>
            </a:pPr>
            <a:endParaRPr lang="el-GR" dirty="0"/>
          </a:p>
          <a:p>
            <a:pPr>
              <a:buNone/>
            </a:pPr>
            <a:r>
              <a:rPr lang="lt-LT" b="1" dirty="0"/>
              <a:t>Antro tipo klaida </a:t>
            </a:r>
            <a:r>
              <a:rPr lang="lt-LT" dirty="0"/>
              <a:t>(Type II </a:t>
            </a:r>
            <a:r>
              <a:rPr lang="lt-LT" dirty="0" err="1"/>
              <a:t>error</a:t>
            </a:r>
            <a:r>
              <a:rPr lang="lt-LT" dirty="0"/>
              <a:t>, klaidingas neatmetimas):</a:t>
            </a:r>
            <a:br>
              <a:rPr lang="lt-LT" dirty="0"/>
            </a:br>
            <a:r>
              <a:rPr lang="lt-LT" dirty="0"/>
              <a:t>Situacija, kai nulinė hipotezė H0 neatmetama, nors alternatyvioji hipotezė Ha yra teisinga.</a:t>
            </a:r>
            <a:br>
              <a:rPr lang="lt-LT" dirty="0"/>
            </a:br>
            <a:r>
              <a:rPr lang="lt-LT" dirty="0"/>
              <a:t>Tai reiškia, kad realus efektas ar skirtumas egzistuoja, bet jis neaptinkamas duomenimis.</a:t>
            </a:r>
          </a:p>
        </p:txBody>
      </p:sp>
    </p:spTree>
    <p:extLst>
      <p:ext uri="{BB962C8B-B14F-4D97-AF65-F5344CB8AC3E}">
        <p14:creationId xmlns:p14="http://schemas.microsoft.com/office/powerpoint/2010/main" val="2222081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urinio vietos rezervavimo ženklas 4" descr="Paveikslėlis, kuriame yra tekstas, diagrama, Grafik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F045EEB1-E638-E733-0857-34C269E9A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6142" y="113786"/>
            <a:ext cx="6042232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B21E44-87C2-03FE-8662-CC025488E3A3}"/>
              </a:ext>
            </a:extLst>
          </p:cNvPr>
          <p:cNvSpPr txBox="1"/>
          <p:nvPr/>
        </p:nvSpPr>
        <p:spPr>
          <a:xfrm>
            <a:off x="2587997" y="4662490"/>
            <a:ext cx="7889007" cy="1902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lt-LT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our different decisions with hypothesis testing: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Reject H0 and H0 is not true (no error)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Do not reject H0 and H0 is true (no error)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Reject H0 and H0 is true (Type 1 Error)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Do not reject H0 and H0 is not true (Type 2 error)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Type 1 error is also called Alpha error.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Type 2 error is also called Beta error.</a:t>
            </a:r>
          </a:p>
        </p:txBody>
      </p:sp>
    </p:spTree>
    <p:extLst>
      <p:ext uri="{BB962C8B-B14F-4D97-AF65-F5344CB8AC3E}">
        <p14:creationId xmlns:p14="http://schemas.microsoft.com/office/powerpoint/2010/main" val="3304092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9DA1C87-7CA8-7D37-25EC-563C8981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Klaidų pusiausvyra: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46B55-D8A9-3E52-7A4D-5F97A67B5D3E}"/>
              </a:ext>
            </a:extLst>
          </p:cNvPr>
          <p:cNvSpPr txBox="1"/>
          <p:nvPr/>
        </p:nvSpPr>
        <p:spPr>
          <a:xfrm>
            <a:off x="838199" y="1526652"/>
            <a:ext cx="95053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Mažesnis </a:t>
            </a:r>
            <a:r>
              <a:rPr lang="el-GR" dirty="0"/>
              <a:t>α (</a:t>
            </a:r>
            <a:r>
              <a:rPr lang="lt-LT" dirty="0"/>
              <a:t>pvz., 0.01) sumažina pirmo tipo klaidos riziką, tačiau padidina antro tipo klaidos tikimybę.</a:t>
            </a:r>
            <a:br>
              <a:rPr lang="lt-LT" dirty="0"/>
            </a:br>
            <a:r>
              <a:rPr lang="lt-LT" dirty="0"/>
              <a:t>Didesnis </a:t>
            </a:r>
            <a:r>
              <a:rPr lang="el-GR" dirty="0"/>
              <a:t>α (</a:t>
            </a:r>
            <a:r>
              <a:rPr lang="lt-LT" dirty="0"/>
              <a:t>pvz., 0.10) sumažina antro tipo klaidos tikimybę, bet padidina pirmo tipo klaidos riziką.</a:t>
            </a: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/>
              <a:t>Imties dydžio įtaka:</a:t>
            </a:r>
            <a:br>
              <a:rPr lang="lt-LT" dirty="0"/>
            </a:br>
            <a:r>
              <a:rPr lang="lt-LT" dirty="0"/>
              <a:t>Didesnė imtis sumažina antro tipo klaidos tikimybę, nes duomenys tiksliau atspindi populiaciją ir leidžia lengviau aptikti realius efektus.</a:t>
            </a:r>
          </a:p>
          <a:p>
            <a:pPr>
              <a:buNone/>
            </a:pPr>
            <a:br>
              <a:rPr lang="lt-LT" dirty="0"/>
            </a:br>
            <a:r>
              <a:rPr lang="lt-LT" b="1" dirty="0"/>
              <a:t>Verslo analizėje dažnai svarbu įvertinti, kuri klaida kainuoja daugiau – klaidingas sprendimas, kad efektas yra, ar klaidingas sprendimas, kad jo nėra.</a:t>
            </a:r>
          </a:p>
        </p:txBody>
      </p:sp>
    </p:spTree>
    <p:extLst>
      <p:ext uri="{BB962C8B-B14F-4D97-AF65-F5344CB8AC3E}">
        <p14:creationId xmlns:p14="http://schemas.microsoft.com/office/powerpoint/2010/main" val="3238264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52F7-57CB-2414-FFDE-AC26ABA8F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Poriniai</a:t>
            </a:r>
            <a:r>
              <a:rPr lang="en-US" dirty="0"/>
              <a:t> </a:t>
            </a:r>
            <a:r>
              <a:rPr lang="en-US" dirty="0" err="1"/>
              <a:t>palyginimai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BA461-894F-F38F-01A2-7E6356F52D0B}"/>
              </a:ext>
            </a:extLst>
          </p:cNvPr>
          <p:cNvSpPr txBox="1"/>
          <p:nvPr/>
        </p:nvSpPr>
        <p:spPr>
          <a:xfrm>
            <a:off x="619433" y="1504334"/>
            <a:ext cx="100878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Poriniai palyginimai naudojami tada, kai hipotezių testavimas atliekamas su daugiau nei dviem grupėmis ir norima palyginti kiekvieną grupę su kiekviena kita atskirai.</a:t>
            </a:r>
          </a:p>
          <a:p>
            <a:pPr>
              <a:buNone/>
            </a:pPr>
            <a:br>
              <a:rPr lang="lt-LT" dirty="0"/>
            </a:br>
            <a:r>
              <a:rPr lang="lt-LT" dirty="0"/>
              <a:t>Kiekvienas porinis palyginimas yra atskiras statistinis testas.</a:t>
            </a: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/>
              <a:t>Problema:</a:t>
            </a:r>
            <a:br>
              <a:rPr lang="lt-LT" dirty="0"/>
            </a:br>
            <a:r>
              <a:rPr lang="lt-LT" dirty="0"/>
              <a:t>Atliekant daug testų, didėja bendra pirmo tipo klaidos tikimybė.</a:t>
            </a:r>
          </a:p>
          <a:p>
            <a:pPr>
              <a:buNone/>
            </a:pPr>
            <a:br>
              <a:rPr lang="lt-LT" dirty="0"/>
            </a:br>
            <a:r>
              <a:rPr lang="lt-LT" dirty="0"/>
              <a:t>Net jei kiekvienam testui naudojamas </a:t>
            </a:r>
            <a:r>
              <a:rPr lang="el-GR" dirty="0"/>
              <a:t>α = 0.05, </a:t>
            </a:r>
            <a:r>
              <a:rPr lang="lt-LT" dirty="0"/>
              <a:t>kelių testų kombinacija smarkiai padidina tikimybę bent kartą klaidingai atmesti teisingą H0.</a:t>
            </a:r>
            <a:br>
              <a:rPr lang="lt-LT" dirty="0"/>
            </a:br>
            <a:r>
              <a:rPr lang="lt-LT" dirty="0"/>
              <a:t>Pavyzdžiui, atliekant apie 10 nepriklausomų testų, bendra pirmo tipo klaidos tikimybė gali viršyti 40 %.</a:t>
            </a:r>
          </a:p>
        </p:txBody>
      </p:sp>
    </p:spTree>
    <p:extLst>
      <p:ext uri="{BB962C8B-B14F-4D97-AF65-F5344CB8AC3E}">
        <p14:creationId xmlns:p14="http://schemas.microsoft.com/office/powerpoint/2010/main" val="3628522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B6C6-57F6-9257-0D6A-6C157B1D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5077-1E39-F4A5-00F5-4FC0263A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Poriniai</a:t>
            </a:r>
            <a:r>
              <a:rPr lang="en-US" dirty="0"/>
              <a:t> </a:t>
            </a:r>
            <a:r>
              <a:rPr lang="en-US" dirty="0" err="1"/>
              <a:t>palyginimai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C8ACD-CD6F-EE69-F49D-895E46E864D3}"/>
              </a:ext>
            </a:extLst>
          </p:cNvPr>
          <p:cNvSpPr txBox="1"/>
          <p:nvPr/>
        </p:nvSpPr>
        <p:spPr>
          <a:xfrm>
            <a:off x="619433" y="1504334"/>
            <a:ext cx="100878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/>
              <a:t>Kodėl tai svarbu duomenų analitikoje:</a:t>
            </a:r>
          </a:p>
          <a:p>
            <a:pPr>
              <a:buNone/>
            </a:pPr>
            <a:br>
              <a:rPr lang="lt-LT" dirty="0"/>
            </a:br>
            <a:r>
              <a:rPr lang="lt-LT" dirty="0"/>
              <a:t>Analizuojant kelias grupes vienu metu, galima klaidingai identifikuoti „reikšmingus“ skirtumus, kurie atsirado vien dėl atsitiktinumo.</a:t>
            </a: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dirty="0"/>
              <a:t>Sprendimas:</a:t>
            </a:r>
            <a:br>
              <a:rPr lang="lt-LT" dirty="0"/>
            </a:br>
            <a:r>
              <a:rPr lang="lt-LT" dirty="0"/>
              <a:t>Naudoti griežtesnį reikšmingumo lygį, sumažinant </a:t>
            </a:r>
            <a:r>
              <a:rPr lang="el-GR" dirty="0"/>
              <a:t>α </a:t>
            </a:r>
            <a:r>
              <a:rPr lang="lt-LT" dirty="0"/>
              <a:t>kiekvienam testui.</a:t>
            </a:r>
            <a:br>
              <a:rPr lang="lt-LT" dirty="0"/>
            </a:br>
            <a:r>
              <a:rPr lang="lt-LT" dirty="0"/>
              <a:t>Tai padeda kontroliuoti bendrą pirmo tipo klaidos riziką, tačiau padidina antro tipo klaidos tikimybę.</a:t>
            </a:r>
          </a:p>
          <a:p>
            <a:pPr>
              <a:buNone/>
            </a:pPr>
            <a:r>
              <a:rPr lang="lt-LT" dirty="0"/>
              <a:t> </a:t>
            </a:r>
            <a:br>
              <a:rPr lang="lt-LT" dirty="0"/>
            </a:br>
            <a:r>
              <a:rPr lang="lt-LT" dirty="0"/>
              <a:t>Praktikoje dažnai pirmiausia taikomas bendras testas (pvz., ANOVA), o poriniai palyginimai atliekami tik tada, kai bendras testas parodo, kad skirtumai tarp grupių egzistuoja.</a:t>
            </a:r>
          </a:p>
        </p:txBody>
      </p:sp>
    </p:spTree>
    <p:extLst>
      <p:ext uri="{BB962C8B-B14F-4D97-AF65-F5344CB8AC3E}">
        <p14:creationId xmlns:p14="http://schemas.microsoft.com/office/powerpoint/2010/main" val="2096487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2EFC-3C81-956D-A3A9-D52A1A0C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Pagrindinės</a:t>
            </a:r>
            <a:r>
              <a:rPr lang="en-US" dirty="0"/>
              <a:t> testo </a:t>
            </a:r>
            <a:r>
              <a:rPr lang="en-US" dirty="0" err="1"/>
              <a:t>statistikos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138C0-B973-52EA-CC13-EDD1BB695A70}"/>
              </a:ext>
            </a:extLst>
          </p:cNvPr>
          <p:cNvSpPr txBox="1"/>
          <p:nvPr/>
        </p:nvSpPr>
        <p:spPr>
          <a:xfrm>
            <a:off x="1022555" y="1526653"/>
            <a:ext cx="81214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b="1" dirty="0"/>
              <a:t>T testas </a:t>
            </a:r>
            <a:r>
              <a:rPr lang="lt-LT" dirty="0"/>
              <a:t>naudojamas hipotezėms apie </a:t>
            </a:r>
            <a:r>
              <a:rPr lang="lt-LT" dirty="0" err="1"/>
              <a:t>numerinius</a:t>
            </a:r>
            <a:r>
              <a:rPr lang="lt-LT" dirty="0"/>
              <a:t> duomenis tikrinti, kai lyginami vidurkiai.</a:t>
            </a:r>
            <a:br>
              <a:rPr lang="lt-LT" dirty="0"/>
            </a:br>
            <a:r>
              <a:rPr lang="lt-LT" dirty="0"/>
              <a:t>Jis atsako į klausimą, ar dviejų grupių vidurkiai statistiškai reikšmingai skiriasi.</a:t>
            </a: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b="1" dirty="0"/>
              <a:t>Tipiniai taikymai duomenų analitikoje:</a:t>
            </a:r>
            <a:br>
              <a:rPr lang="lt-LT" dirty="0"/>
            </a:br>
            <a:r>
              <a:rPr lang="lt-LT" dirty="0"/>
              <a:t>A/B testai, vidutinio krepšelio dydžio palyginimas, pajamų prieš ir po pokyčio analizė.</a:t>
            </a: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b="1" dirty="0"/>
              <a:t>Pagrindinės prielaidos:</a:t>
            </a:r>
            <a:br>
              <a:rPr lang="lt-LT" dirty="0"/>
            </a:br>
            <a:r>
              <a:rPr lang="lt-LT" dirty="0"/>
              <a:t>Duomenys yra skaitiniai.</a:t>
            </a:r>
            <a:br>
              <a:rPr lang="lt-LT" dirty="0"/>
            </a:br>
            <a:r>
              <a:rPr lang="lt-LT" dirty="0"/>
              <a:t>Grupės tarpusavyje nepriklausomos.</a:t>
            </a:r>
            <a:br>
              <a:rPr lang="lt-LT" dirty="0"/>
            </a:br>
            <a:r>
              <a:rPr lang="lt-LT" dirty="0"/>
              <a:t>Duomenų pasiskirstymas artimas normaliam arba imtis pakankamai didelė.</a:t>
            </a:r>
          </a:p>
        </p:txBody>
      </p:sp>
    </p:spTree>
    <p:extLst>
      <p:ext uri="{BB962C8B-B14F-4D97-AF65-F5344CB8AC3E}">
        <p14:creationId xmlns:p14="http://schemas.microsoft.com/office/powerpoint/2010/main" val="2254581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1C82-A280-F47C-8211-3EB8CB59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3974-C600-0C1F-85CB-7DD5D3D3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Pagrindinės</a:t>
            </a:r>
            <a:r>
              <a:rPr lang="en-US" dirty="0"/>
              <a:t> testo </a:t>
            </a:r>
            <a:r>
              <a:rPr lang="en-US" dirty="0" err="1"/>
              <a:t>statistikos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737B77-8273-8C23-1C44-1D1A1489939E}"/>
              </a:ext>
            </a:extLst>
          </p:cNvPr>
          <p:cNvSpPr txBox="1"/>
          <p:nvPr/>
        </p:nvSpPr>
        <p:spPr>
          <a:xfrm>
            <a:off x="1022555" y="1526653"/>
            <a:ext cx="81214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Chi</a:t>
            </a:r>
            <a:r>
              <a:rPr lang="lt-LT" dirty="0"/>
              <a:t> kvadrato testas naudojamas hipotezėms apie kategorinius duomenis tikrinti.</a:t>
            </a:r>
            <a:br>
              <a:rPr lang="lt-LT" dirty="0"/>
            </a:br>
            <a:r>
              <a:rPr lang="lt-LT" dirty="0"/>
              <a:t>Jis vertina, ar egzistuoja ryšys tarp dviejų kategorinių kintamųjų.</a:t>
            </a:r>
          </a:p>
          <a:p>
            <a:endParaRPr lang="lt-LT" dirty="0"/>
          </a:p>
          <a:p>
            <a:r>
              <a:rPr lang="lt-LT" dirty="0"/>
              <a:t>Tipiniai taikymai duomenų analitikoje:</a:t>
            </a:r>
            <a:br>
              <a:rPr lang="lt-LT" dirty="0"/>
            </a:br>
            <a:r>
              <a:rPr lang="lt-LT" dirty="0"/>
              <a:t>Ryšys tarp kliento tipo ir pirkimo fakto, lyties ir produkto pasirinkimo, regiono ir mokėjimo būdo.</a:t>
            </a:r>
          </a:p>
          <a:p>
            <a:endParaRPr lang="lt-LT" dirty="0"/>
          </a:p>
          <a:p>
            <a:r>
              <a:rPr lang="lt-LT" dirty="0"/>
              <a:t>Pagrindinės prielaidos:</a:t>
            </a:r>
            <a:br>
              <a:rPr lang="lt-LT" dirty="0"/>
            </a:br>
            <a:r>
              <a:rPr lang="lt-LT" dirty="0"/>
              <a:t>Duomenys pateikiami dažniais arba </a:t>
            </a:r>
            <a:r>
              <a:rPr lang="lt-LT" dirty="0" err="1"/>
              <a:t>kontingencijos</a:t>
            </a:r>
            <a:r>
              <a:rPr lang="lt-LT" dirty="0"/>
              <a:t> lentele.</a:t>
            </a:r>
            <a:br>
              <a:rPr lang="lt-LT" dirty="0"/>
            </a:br>
            <a:r>
              <a:rPr lang="lt-LT" dirty="0"/>
              <a:t>Stebėjimai yra nepriklausomi.</a:t>
            </a:r>
            <a:br>
              <a:rPr lang="lt-LT" dirty="0"/>
            </a:br>
            <a:r>
              <a:rPr lang="lt-LT" dirty="0"/>
              <a:t>Laukiami dažniai neturi būti per maži.</a:t>
            </a:r>
          </a:p>
        </p:txBody>
      </p:sp>
    </p:spTree>
    <p:extLst>
      <p:ext uri="{BB962C8B-B14F-4D97-AF65-F5344CB8AC3E}">
        <p14:creationId xmlns:p14="http://schemas.microsoft.com/office/powerpoint/2010/main" val="1246378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0326605-17AF-AAA6-55D6-90863B73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Pagrindinės</a:t>
            </a:r>
            <a:r>
              <a:rPr lang="en-US" dirty="0"/>
              <a:t> testo </a:t>
            </a:r>
            <a:r>
              <a:rPr lang="en-US" dirty="0" err="1"/>
              <a:t>statistikos</a:t>
            </a:r>
            <a:endParaRPr lang="lt-LT" dirty="0"/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74D37E21-67A4-2D78-A025-0FF2283E4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Skirtingi testai sprendžia skirtingus verslo klausimus, todėl pirmas žingsnis visada yra suprasti duomenų tipą – skaitiniai ar kategoriniai – o tik tada rinktis statistinį testą.</a:t>
            </a:r>
          </a:p>
        </p:txBody>
      </p:sp>
    </p:spTree>
    <p:extLst>
      <p:ext uri="{BB962C8B-B14F-4D97-AF65-F5344CB8AC3E}">
        <p14:creationId xmlns:p14="http://schemas.microsoft.com/office/powerpoint/2010/main" val="468007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7A81-246F-C664-0E5C-EF197717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F799B37-4B74-4975-4E18-B5BE6B39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Python</a:t>
            </a:r>
            <a:r>
              <a:rPr lang="lt-LT" dirty="0"/>
              <a:t> bibliotekos ir funkcijos hipotezių testavimui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56DBF-DFD8-34AB-D5DD-D210D3648A8C}"/>
              </a:ext>
            </a:extLst>
          </p:cNvPr>
          <p:cNvSpPr txBox="1"/>
          <p:nvPr/>
        </p:nvSpPr>
        <p:spPr>
          <a:xfrm>
            <a:off x="1356851" y="207725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NumPy</a:t>
            </a:r>
            <a:r>
              <a:rPr lang="lt-LT" b="1" dirty="0"/>
              <a:t> biblioteka</a:t>
            </a:r>
            <a:br>
              <a:rPr lang="lt-LT" dirty="0"/>
            </a:br>
            <a:r>
              <a:rPr lang="lt-LT" dirty="0"/>
              <a:t>Naudojama skaitiniams skaičiavimams ir duomenų paruošimui prieš testavimą.</a:t>
            </a:r>
          </a:p>
          <a:p>
            <a:endParaRPr lang="lt-LT" dirty="0"/>
          </a:p>
          <a:p>
            <a:r>
              <a:rPr lang="lt-LT" dirty="0"/>
              <a:t>Dažniausiai naudojamos funkcijos:</a:t>
            </a:r>
          </a:p>
          <a:p>
            <a:br>
              <a:rPr lang="lt-LT" dirty="0"/>
            </a:br>
            <a:r>
              <a:rPr lang="lt-LT" dirty="0" err="1"/>
              <a:t>mean</a:t>
            </a:r>
            <a:r>
              <a:rPr lang="lt-LT" dirty="0"/>
              <a:t> – vidurkio skaičiavimas</a:t>
            </a:r>
            <a:br>
              <a:rPr lang="lt-LT" dirty="0"/>
            </a:br>
            <a:r>
              <a:rPr lang="lt-LT" dirty="0" err="1"/>
              <a:t>std</a:t>
            </a:r>
            <a:r>
              <a:rPr lang="lt-LT" dirty="0"/>
              <a:t> – standartinis nuokrypis</a:t>
            </a:r>
            <a:br>
              <a:rPr lang="lt-LT" dirty="0"/>
            </a:br>
            <a:r>
              <a:rPr lang="lt-LT" dirty="0" err="1"/>
              <a:t>var</a:t>
            </a:r>
            <a:r>
              <a:rPr lang="lt-LT" dirty="0"/>
              <a:t> – dispersija</a:t>
            </a:r>
            <a:br>
              <a:rPr lang="lt-LT" dirty="0"/>
            </a:br>
            <a:r>
              <a:rPr lang="lt-LT" dirty="0" err="1"/>
              <a:t>array</a:t>
            </a:r>
            <a:r>
              <a:rPr lang="lt-LT" dirty="0"/>
              <a:t> – duomenų masyvų kūrimas</a:t>
            </a:r>
          </a:p>
        </p:txBody>
      </p:sp>
    </p:spTree>
    <p:extLst>
      <p:ext uri="{BB962C8B-B14F-4D97-AF65-F5344CB8AC3E}">
        <p14:creationId xmlns:p14="http://schemas.microsoft.com/office/powerpoint/2010/main" val="41046588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EDEB-0163-AEB7-271B-7B10A9B7F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2CCDE33-91D8-A6F1-1038-91F4B7C9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Python</a:t>
            </a:r>
            <a:r>
              <a:rPr lang="lt-LT" dirty="0"/>
              <a:t> bibliotekos ir funkcijos hipotezių testavimui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E3E3D-01ED-E3A8-A2F8-30981A9F5052}"/>
              </a:ext>
            </a:extLst>
          </p:cNvPr>
          <p:cNvSpPr txBox="1"/>
          <p:nvPr/>
        </p:nvSpPr>
        <p:spPr>
          <a:xfrm>
            <a:off x="1356851" y="207725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/>
              <a:t>Pandas biblioteka</a:t>
            </a:r>
            <a:br>
              <a:rPr lang="lt-LT" dirty="0"/>
            </a:br>
            <a:r>
              <a:rPr lang="lt-LT" dirty="0"/>
              <a:t>Naudojama duomenų tvarkymui ir grupavimui prieš hipotezių testavimą.</a:t>
            </a:r>
          </a:p>
          <a:p>
            <a:endParaRPr lang="lt-LT" dirty="0"/>
          </a:p>
          <a:p>
            <a:r>
              <a:rPr lang="lt-LT" b="1" dirty="0"/>
              <a:t>Dažniausi naudojimo atvejai:</a:t>
            </a:r>
          </a:p>
          <a:p>
            <a:br>
              <a:rPr lang="lt-LT" dirty="0"/>
            </a:br>
            <a:r>
              <a:rPr lang="lt-LT" dirty="0"/>
              <a:t>Duomenų filtravimas pagal grupes</a:t>
            </a:r>
            <a:br>
              <a:rPr lang="lt-LT" dirty="0"/>
            </a:br>
            <a:r>
              <a:rPr lang="lt-LT" dirty="0"/>
              <a:t>Agregavimas prieš testus</a:t>
            </a:r>
            <a:br>
              <a:rPr lang="lt-LT" dirty="0"/>
            </a:br>
            <a:r>
              <a:rPr lang="lt-LT" dirty="0"/>
              <a:t>Kategorinių ir skaitinių duomenų paruošimas</a:t>
            </a:r>
          </a:p>
        </p:txBody>
      </p:sp>
    </p:spTree>
    <p:extLst>
      <p:ext uri="{BB962C8B-B14F-4D97-AF65-F5344CB8AC3E}">
        <p14:creationId xmlns:p14="http://schemas.microsoft.com/office/powerpoint/2010/main" val="25949580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976763-B922-C10F-7D3B-30C68C9C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Python</a:t>
            </a:r>
            <a:r>
              <a:rPr lang="lt-LT" dirty="0"/>
              <a:t> bibliotekos ir funkcijos hipotezių testavimui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FF747-C7E0-088C-D462-B35A3D058C61}"/>
              </a:ext>
            </a:extLst>
          </p:cNvPr>
          <p:cNvSpPr txBox="1"/>
          <p:nvPr/>
        </p:nvSpPr>
        <p:spPr>
          <a:xfrm>
            <a:off x="1356851" y="207725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b="1" dirty="0" err="1"/>
              <a:t>SciPy</a:t>
            </a:r>
            <a:r>
              <a:rPr lang="lt-LT" b="1" dirty="0"/>
              <a:t> biblioteka</a:t>
            </a:r>
            <a:br>
              <a:rPr lang="lt-LT" dirty="0"/>
            </a:br>
            <a:r>
              <a:rPr lang="lt-LT" dirty="0"/>
              <a:t>Tai pagrindinė statistinių testų biblioteka </a:t>
            </a:r>
            <a:r>
              <a:rPr lang="lt-LT" dirty="0" err="1"/>
              <a:t>Python</a:t>
            </a:r>
            <a:r>
              <a:rPr lang="lt-LT" dirty="0"/>
              <a:t> ekosistemoje.</a:t>
            </a: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b="1" dirty="0"/>
              <a:t>Dažniausiai naudojamas modulis: </a:t>
            </a:r>
            <a:r>
              <a:rPr lang="lt-LT" dirty="0" err="1">
                <a:highlight>
                  <a:srgbClr val="FFFF00"/>
                </a:highlight>
              </a:rPr>
              <a:t>scipy.stats</a:t>
            </a:r>
            <a:endParaRPr lang="lt-LT" dirty="0">
              <a:highlight>
                <a:srgbClr val="FFFF00"/>
              </a:highlight>
            </a:endParaRPr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b="1" dirty="0"/>
              <a:t>Pagrindinės funkcijos:</a:t>
            </a:r>
            <a:br>
              <a:rPr lang="lt-LT" dirty="0"/>
            </a:br>
            <a:r>
              <a:rPr lang="lt-LT" dirty="0" err="1"/>
              <a:t>ttest_ind</a:t>
            </a:r>
            <a:r>
              <a:rPr lang="lt-LT" dirty="0"/>
              <a:t> – dviejų nepriklausomų imčių t testas</a:t>
            </a:r>
            <a:br>
              <a:rPr lang="lt-LT" dirty="0"/>
            </a:br>
            <a:r>
              <a:rPr lang="lt-LT" dirty="0" err="1"/>
              <a:t>ttest_rel</a:t>
            </a:r>
            <a:r>
              <a:rPr lang="lt-LT" dirty="0"/>
              <a:t> – porinis t testas</a:t>
            </a:r>
            <a:br>
              <a:rPr lang="lt-LT" dirty="0"/>
            </a:br>
            <a:r>
              <a:rPr lang="lt-LT" dirty="0"/>
              <a:t>ttest_1samp – vienos imties t testas</a:t>
            </a:r>
            <a:br>
              <a:rPr lang="lt-LT" dirty="0"/>
            </a:br>
            <a:r>
              <a:rPr lang="lt-LT" dirty="0"/>
              <a:t>chi2_contingency – </a:t>
            </a:r>
            <a:r>
              <a:rPr lang="lt-LT" dirty="0" err="1"/>
              <a:t>chi</a:t>
            </a:r>
            <a:r>
              <a:rPr lang="lt-LT" dirty="0"/>
              <a:t> kvadrato testas kategoriniams duomenims</a:t>
            </a:r>
            <a:br>
              <a:rPr lang="lt-LT" dirty="0"/>
            </a:br>
            <a:r>
              <a:rPr lang="lt-LT" dirty="0" err="1"/>
              <a:t>pearsonr</a:t>
            </a:r>
            <a:r>
              <a:rPr lang="lt-LT" dirty="0"/>
              <a:t> – </a:t>
            </a:r>
            <a:r>
              <a:rPr lang="lt-LT" dirty="0" err="1"/>
              <a:t>Pearson</a:t>
            </a:r>
            <a:r>
              <a:rPr lang="lt-LT" dirty="0"/>
              <a:t> koreliacijos testas</a:t>
            </a:r>
            <a:br>
              <a:rPr lang="lt-LT" dirty="0"/>
            </a:br>
            <a:r>
              <a:rPr lang="lt-LT" dirty="0" err="1"/>
              <a:t>spearmanr</a:t>
            </a:r>
            <a:r>
              <a:rPr lang="lt-LT" dirty="0"/>
              <a:t> – </a:t>
            </a:r>
            <a:r>
              <a:rPr lang="lt-LT" dirty="0" err="1"/>
              <a:t>Spearman</a:t>
            </a:r>
            <a:r>
              <a:rPr lang="lt-LT" dirty="0"/>
              <a:t> koreliacijos testas</a:t>
            </a:r>
          </a:p>
        </p:txBody>
      </p:sp>
    </p:spTree>
    <p:extLst>
      <p:ext uri="{BB962C8B-B14F-4D97-AF65-F5344CB8AC3E}">
        <p14:creationId xmlns:p14="http://schemas.microsoft.com/office/powerpoint/2010/main" val="8604338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CFEA7-E72C-0310-3435-FF166D6B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3141F50-7E5D-7C17-02B5-DB8E7C21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Python</a:t>
            </a:r>
            <a:r>
              <a:rPr lang="lt-LT" dirty="0"/>
              <a:t> bibliotekos ir funkcijos hipotezių testavimui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77BB7-90DF-DDF5-37D6-39D23C3D3793}"/>
              </a:ext>
            </a:extLst>
          </p:cNvPr>
          <p:cNvSpPr txBox="1"/>
          <p:nvPr/>
        </p:nvSpPr>
        <p:spPr>
          <a:xfrm>
            <a:off x="1356851" y="207725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Statsmodels</a:t>
            </a:r>
            <a:r>
              <a:rPr lang="lt-LT" b="1" dirty="0"/>
              <a:t> biblioteka</a:t>
            </a:r>
            <a:br>
              <a:rPr lang="lt-LT" dirty="0"/>
            </a:br>
            <a:r>
              <a:rPr lang="lt-LT" dirty="0"/>
              <a:t>Naudojama pažangesniems statistiniams modeliams ir testams.</a:t>
            </a:r>
          </a:p>
          <a:p>
            <a:endParaRPr lang="lt-LT" dirty="0"/>
          </a:p>
          <a:p>
            <a:r>
              <a:rPr lang="lt-LT" dirty="0"/>
              <a:t>Tipiniai naudojimo atvejai:</a:t>
            </a:r>
          </a:p>
          <a:p>
            <a:br>
              <a:rPr lang="lt-LT" dirty="0"/>
            </a:br>
            <a:r>
              <a:rPr lang="lt-LT" dirty="0"/>
              <a:t>ANOVA analizė</a:t>
            </a:r>
            <a:br>
              <a:rPr lang="lt-LT" dirty="0"/>
            </a:br>
            <a:r>
              <a:rPr lang="lt-LT" dirty="0"/>
              <a:t>Regresijos modeliai</a:t>
            </a:r>
            <a:br>
              <a:rPr lang="lt-LT" dirty="0"/>
            </a:br>
            <a:r>
              <a:rPr lang="lt-LT" dirty="0"/>
              <a:t>Statistiniai testai su detalesnėmis išvadomis</a:t>
            </a:r>
          </a:p>
        </p:txBody>
      </p:sp>
    </p:spTree>
    <p:extLst>
      <p:ext uri="{BB962C8B-B14F-4D97-AF65-F5344CB8AC3E}">
        <p14:creationId xmlns:p14="http://schemas.microsoft.com/office/powerpoint/2010/main" val="586344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b74e56a-683e-4ac4-9917-2810b22b5cab" xsi:nil="true"/>
    <lcf76f155ced4ddcb4097134ff3c332f xmlns="662e3587-765d-4918-9d92-5b93275042d2">
      <Terms xmlns="http://schemas.microsoft.com/office/infopath/2007/PartnerControls"/>
    </lcf76f155ced4ddcb4097134ff3c332f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AppVersion xmlns="662e3587-765d-4918-9d92-5b93275042d2" xsi:nil="true"/>
    <Self_Registration_Enabled xmlns="662e3587-765d-4918-9d92-5b93275042d2" xsi:nil="true"/>
    <Has_Teacher_Only_SectionGroup xmlns="662e3587-765d-4918-9d92-5b93275042d2" xsi:nil="true"/>
    <Students xmlns="662e3587-765d-4918-9d92-5b93275042d2">
      <UserInfo>
        <DisplayName/>
        <AccountId xsi:nil="true"/>
        <AccountType/>
      </UserInfo>
    </Student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36E338-3226-4F75-B431-E54EC2D1E1BA}">
  <ds:schemaRefs>
    <ds:schemaRef ds:uri="http://schemas.microsoft.com/office/2006/metadata/properties"/>
    <ds:schemaRef ds:uri="http://schemas.microsoft.com/office/infopath/2007/PartnerControls"/>
    <ds:schemaRef ds:uri="0e295234-659a-4bb3-b142-918c24d5f8e7"/>
    <ds:schemaRef ds:uri="4ae02279-fc18-408e-b177-1a5508db0a6c"/>
  </ds:schemaRefs>
</ds:datastoreItem>
</file>

<file path=customXml/itemProps2.xml><?xml version="1.0" encoding="utf-8"?>
<ds:datastoreItem xmlns:ds="http://schemas.openxmlformats.org/officeDocument/2006/customXml" ds:itemID="{37881824-5C22-45D0-8E03-1D5266FC0535}"/>
</file>

<file path=customXml/itemProps3.xml><?xml version="1.0" encoding="utf-8"?>
<ds:datastoreItem xmlns:ds="http://schemas.openxmlformats.org/officeDocument/2006/customXml" ds:itemID="{A0A86BEC-2E48-4288-9410-A51A761B9D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3104</Words>
  <Application>Microsoft Office PowerPoint</Application>
  <PresentationFormat>Plačiaekranė</PresentationFormat>
  <Paragraphs>230</Paragraphs>
  <Slides>41</Slides>
  <Notes>2</Notes>
  <HiddenSlides>0</HiddenSlides>
  <MMClips>0</MMClips>
  <ScaleCrop>false</ScaleCrop>
  <HeadingPairs>
    <vt:vector size="6" baseType="variant">
      <vt:variant>
        <vt:lpstr>Naudojami šriftai</vt:lpstr>
      </vt:variant>
      <vt:variant>
        <vt:i4>6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Consolas</vt:lpstr>
      <vt:lpstr>Courier New</vt:lpstr>
      <vt:lpstr>Wingdings</vt:lpstr>
      <vt:lpstr>Office Theme</vt:lpstr>
      <vt:lpstr>Pasikliautiniai intervalai</vt:lpstr>
      <vt:lpstr>Populiacija ir imtis</vt:lpstr>
      <vt:lpstr>Parametras vs statistika</vt:lpstr>
      <vt:lpstr>Parametras vs statistika</vt:lpstr>
      <vt:lpstr>Pavyzdys 1: Vidutinės pardavimo pajamos</vt:lpstr>
      <vt:lpstr>Pavyzdys 2: Konversijos rodiklis </vt:lpstr>
      <vt:lpstr>Pavyzdys 3: Reklamos kampanijos efektyvumas </vt:lpstr>
      <vt:lpstr>Pavyzdys 4: Klientų pasitenkinimas </vt:lpstr>
      <vt:lpstr>Pavyzdys 5: Pristatymo laikas </vt:lpstr>
      <vt:lpstr>Kodėl statistika nėra tiksli </vt:lpstr>
      <vt:lpstr>Pasikliautiniai intervalai</vt:lpstr>
      <vt:lpstr>Pasikliautinis intervalas (PI)</vt:lpstr>
      <vt:lpstr>Pasikliautinių intervalų apskaičiavimas</vt:lpstr>
      <vt:lpstr>Key point:  Pasikliautinumas apibūdina metodą, o ne konkretų rezultatą.</vt:lpstr>
      <vt:lpstr>Key point:  Pasikliautinumas apibūdina metodą, o ne konkretų rezultatą.</vt:lpstr>
      <vt:lpstr>PI praktikoje: 95 % vs 99 % pasikliautiniai intervalai</vt:lpstr>
      <vt:lpstr>PI praktikoje: 95 % vs 99 % pasikliautiniai intervalai</vt:lpstr>
      <vt:lpstr>Dažnai pasitaikanti klaida – PI interpretacija</vt:lpstr>
      <vt:lpstr>Python bibliotekos pasikliautinių intervalų skaičiavimui</vt:lpstr>
      <vt:lpstr>Python bibliotekos pasikliautinių intervalų skaičiavimui</vt:lpstr>
      <vt:lpstr>Python bibliotekos pasikliautinių intervalų skaičiavimui</vt:lpstr>
      <vt:lpstr>Hipotezių tikrinimas</vt:lpstr>
      <vt:lpstr>Kas yra hipotezė</vt:lpstr>
      <vt:lpstr>Kodėl hipotezių tikrinimas svarbus duomenų analitikoje</vt:lpstr>
      <vt:lpstr>Kam reikalingas hipotezių testavimas?</vt:lpstr>
      <vt:lpstr>Hipotezės</vt:lpstr>
      <vt:lpstr>Hipotezės</vt:lpstr>
      <vt:lpstr>Hipotezės</vt:lpstr>
      <vt:lpstr>Hipotezės</vt:lpstr>
      <vt:lpstr>Klaidos</vt:lpstr>
      <vt:lpstr>„PowerPoint“ pateiktis</vt:lpstr>
      <vt:lpstr>Klaidų pusiausvyra:</vt:lpstr>
      <vt:lpstr>Poriniai palyginimai</vt:lpstr>
      <vt:lpstr>Poriniai palyginimai</vt:lpstr>
      <vt:lpstr>Pagrindinės testo statistikos</vt:lpstr>
      <vt:lpstr>Pagrindinės testo statistikos</vt:lpstr>
      <vt:lpstr>Pagrindinės testo statistikos</vt:lpstr>
      <vt:lpstr>Python bibliotekos ir funkcijos hipotezių testavimui</vt:lpstr>
      <vt:lpstr>Python bibliotekos ir funkcijos hipotezių testavimui</vt:lpstr>
      <vt:lpstr>Python bibliotekos ir funkcijos hipotezių testavimui</vt:lpstr>
      <vt:lpstr>Python bibliotekos ir funkcijos hipotezių testavimui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Martynas Jokubaitis</dc:creator>
  <cp:lastModifiedBy>Žydrūnė Kelpšaitė</cp:lastModifiedBy>
  <cp:revision>1</cp:revision>
  <dcterms:created xsi:type="dcterms:W3CDTF">2025-03-24T21:35:23Z</dcterms:created>
  <dcterms:modified xsi:type="dcterms:W3CDTF">2026-02-12T12:11:39Z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