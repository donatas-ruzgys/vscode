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67" r:id="rId2"/>
    <p:sldId id="256" r:id="rId3"/>
    <p:sldId id="304" r:id="rId4"/>
    <p:sldId id="305" r:id="rId5"/>
    <p:sldId id="268" r:id="rId6"/>
    <p:sldId id="257" r:id="rId7"/>
    <p:sldId id="269" r:id="rId8"/>
    <p:sldId id="258" r:id="rId9"/>
    <p:sldId id="270" r:id="rId10"/>
    <p:sldId id="259" r:id="rId11"/>
    <p:sldId id="260" r:id="rId12"/>
    <p:sldId id="261" r:id="rId13"/>
    <p:sldId id="266" r:id="rId14"/>
    <p:sldId id="262" r:id="rId15"/>
    <p:sldId id="263" r:id="rId16"/>
    <p:sldId id="264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4DB31C-25E9-44E3-9B32-917BD26580EC}" v="1" dt="2026-01-22T11:34:09.943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47" autoAdjust="0"/>
  </p:normalViewPr>
  <p:slideViewPr>
    <p:cSldViewPr snapToGrid="0" snapToObjects="1">
      <p:cViewPr varScale="1">
        <p:scale>
          <a:sx n="98" d="100"/>
          <a:sy n="98" d="100"/>
        </p:scale>
        <p:origin x="1974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Relationship Id="rId27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Žydrūnė Kelpšaitė" userId="e943768126acec1d" providerId="LiveId" clId="{31712FD7-FA85-48BA-9D35-5382388CFC74}"/>
    <pc:docChg chg="addSld delSld modSld">
      <pc:chgData name="Žydrūnė Kelpšaitė" userId="e943768126acec1d" providerId="LiveId" clId="{31712FD7-FA85-48BA-9D35-5382388CFC74}" dt="2026-01-22T11:43:06.603" v="41" actId="20577"/>
      <pc:docMkLst>
        <pc:docMk/>
      </pc:docMkLst>
      <pc:sldChg chg="modSp mod">
        <pc:chgData name="Žydrūnė Kelpšaitė" userId="e943768126acec1d" providerId="LiveId" clId="{31712FD7-FA85-48BA-9D35-5382388CFC74}" dt="2026-01-05T07:46:10" v="33" actId="20577"/>
        <pc:sldMkLst>
          <pc:docMk/>
          <pc:sldMk cId="0" sldId="257"/>
        </pc:sldMkLst>
        <pc:spChg chg="mod">
          <ac:chgData name="Žydrūnė Kelpšaitė" userId="e943768126acec1d" providerId="LiveId" clId="{31712FD7-FA85-48BA-9D35-5382388CFC74}" dt="2026-01-05T07:46:10" v="33" actId="20577"/>
          <ac:spMkLst>
            <pc:docMk/>
            <pc:sldMk cId="0" sldId="257"/>
            <ac:spMk id="7" creationId="{7DECF0A9-FBC9-85D0-547E-7C0281865286}"/>
          </ac:spMkLst>
        </pc:spChg>
      </pc:sldChg>
      <pc:sldChg chg="modSp mod">
        <pc:chgData name="Žydrūnė Kelpšaitė" userId="e943768126acec1d" providerId="LiveId" clId="{31712FD7-FA85-48BA-9D35-5382388CFC74}" dt="2026-01-22T11:43:06.603" v="41" actId="20577"/>
        <pc:sldMkLst>
          <pc:docMk/>
          <pc:sldMk cId="0" sldId="259"/>
        </pc:sldMkLst>
        <pc:spChg chg="mod">
          <ac:chgData name="Žydrūnė Kelpšaitė" userId="e943768126acec1d" providerId="LiveId" clId="{31712FD7-FA85-48BA-9D35-5382388CFC74}" dt="2026-01-22T11:43:06.603" v="41" actId="20577"/>
          <ac:spMkLst>
            <pc:docMk/>
            <pc:sldMk cId="0" sldId="259"/>
            <ac:spMk id="5" creationId="{3C4C2B26-4EE8-A1CA-C1B9-75819169F37F}"/>
          </ac:spMkLst>
        </pc:spChg>
      </pc:sldChg>
      <pc:sldChg chg="addSp modSp mod">
        <pc:chgData name="Žydrūnė Kelpšaitė" userId="e943768126acec1d" providerId="LiveId" clId="{31712FD7-FA85-48BA-9D35-5382388CFC74}" dt="2026-01-22T11:42:28.454" v="40" actId="1076"/>
        <pc:sldMkLst>
          <pc:docMk/>
          <pc:sldMk cId="3491498178" sldId="270"/>
        </pc:sldMkLst>
        <pc:spChg chg="add mod">
          <ac:chgData name="Žydrūnė Kelpšaitė" userId="e943768126acec1d" providerId="LiveId" clId="{31712FD7-FA85-48BA-9D35-5382388CFC74}" dt="2026-01-22T11:42:28.454" v="40" actId="1076"/>
          <ac:spMkLst>
            <pc:docMk/>
            <pc:sldMk cId="3491498178" sldId="270"/>
            <ac:spMk id="5" creationId="{9EE8A5AB-2FEF-5C77-2FE3-16F23787D9A0}"/>
          </ac:spMkLst>
        </pc:spChg>
      </pc:sldChg>
      <pc:sldChg chg="modSp add mod">
        <pc:chgData name="Žydrūnė Kelpšaitė" userId="e943768126acec1d" providerId="LiveId" clId="{31712FD7-FA85-48BA-9D35-5382388CFC74}" dt="2026-01-22T11:34:17.460" v="36" actId="14100"/>
        <pc:sldMkLst>
          <pc:docMk/>
          <pc:sldMk cId="1824214034" sldId="304"/>
        </pc:sldMkLst>
        <pc:spChg chg="mod">
          <ac:chgData name="Žydrūnė Kelpšaitė" userId="e943768126acec1d" providerId="LiveId" clId="{31712FD7-FA85-48BA-9D35-5382388CFC74}" dt="2026-01-22T11:34:17.460" v="36" actId="14100"/>
          <ac:spMkLst>
            <pc:docMk/>
            <pc:sldMk cId="1824214034" sldId="304"/>
            <ac:spMk id="3" creationId="{3B8F1BC3-FF97-4808-BEE8-6AC8683AF003}"/>
          </ac:spMkLst>
        </pc:spChg>
        <pc:picChg chg="mod">
          <ac:chgData name="Žydrūnė Kelpšaitė" userId="e943768126acec1d" providerId="LiveId" clId="{31712FD7-FA85-48BA-9D35-5382388CFC74}" dt="2026-01-22T11:34:14.118" v="35" actId="1076"/>
          <ac:picMkLst>
            <pc:docMk/>
            <pc:sldMk cId="1824214034" sldId="304"/>
            <ac:picMk id="5" creationId="{FD5DFF1B-3674-2204-288F-4A11EBF3C659}"/>
          </ac:picMkLst>
        </pc:picChg>
      </pc:sldChg>
      <pc:sldChg chg="add">
        <pc:chgData name="Žydrūnė Kelpšaitė" userId="e943768126acec1d" providerId="LiveId" clId="{31712FD7-FA85-48BA-9D35-5382388CFC74}" dt="2026-01-22T11:34:09.938" v="34"/>
        <pc:sldMkLst>
          <pc:docMk/>
          <pc:sldMk cId="1273757954" sldId="30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1E0CC4-A9E2-4639-BC1A-79289DFDD053}" type="datetimeFigureOut">
              <a:rPr lang="lt-LT" smtClean="0"/>
              <a:t>2026-01-22</a:t>
            </a:fld>
            <a:endParaRPr lang="lt-L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t-L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2CD6DC-6EC4-4E89-B19A-243B13A028D1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008041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Complex (complex) – numbers with real and imaginary portions • Examples: 3 + 2j, 2.4 - 1j, -2j</a:t>
            </a:r>
            <a:endParaRPr lang="lt-LT" dirty="0"/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9E47F-2D8D-402D-B67D-BBBBC50DDCAC}" type="slidenum">
              <a:rPr lang="lt-LT" smtClean="0"/>
              <a:t>3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442720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LT vadinasi – nekintamas sąrašas. Bet, kad nemaišytume su sąrašais – lists, visi sako – tuple.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2CD6DC-6EC4-4E89-B19A-243B13A028D1}" type="slidenum">
              <a:rPr lang="lt-LT" smtClean="0"/>
              <a:t>6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703726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Nekintami sąrašai turi naudingą metodą .count(), kuris grąžina kiek kartu˛ pasikartoja nurodytas elementas.</a:t>
            </a:r>
          </a:p>
          <a:p>
            <a:r>
              <a:rPr lang="lt-LT" dirty="0"/>
              <a:t>Indeksu˛ radimas Metodas .index() grąžina pirmą kartą sutikto nurodyto elemento indeksą.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2CD6DC-6EC4-4E89-B19A-243B13A028D1}" type="slidenum">
              <a:rPr lang="lt-LT" smtClean="0"/>
              <a:t>9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752676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60180" y="5610586"/>
            <a:ext cx="1757160" cy="20774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360180" y="460800"/>
            <a:ext cx="4211190" cy="452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28567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CustomShape 3"/>
          <p:cNvSpPr/>
          <p:nvPr/>
        </p:nvSpPr>
        <p:spPr>
          <a:xfrm>
            <a:off x="371790" y="5304960"/>
            <a:ext cx="1700190" cy="252825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4290" tIns="33750" rIns="34290" bIns="3375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lt-LT" sz="1200" b="1" spc="-1" dirty="0">
                <a:solidFill>
                  <a:srgbClr val="000000"/>
                </a:solidFill>
                <a:latin typeface="Arial"/>
              </a:rPr>
              <a:t>2025</a:t>
            </a:r>
            <a:endParaRPr lang="lt-LT" sz="1200" spc="-1" dirty="0">
              <a:latin typeface="Arial"/>
            </a:endParaRPr>
          </a:p>
        </p:txBody>
      </p:sp>
      <p:sp>
        <p:nvSpPr>
          <p:cNvPr id="2" name="TextShape 1">
            <a:extLst>
              <a:ext uri="{FF2B5EF4-FFF2-40B4-BE49-F238E27FC236}">
                <a16:creationId xmlns:a16="http://schemas.microsoft.com/office/drawing/2014/main" id="{28503BBA-3B95-D843-CED1-3C39FB670419}"/>
              </a:ext>
            </a:extLst>
          </p:cNvPr>
          <p:cNvSpPr txBox="1"/>
          <p:nvPr/>
        </p:nvSpPr>
        <p:spPr>
          <a:xfrm>
            <a:off x="1469572" y="1300215"/>
            <a:ext cx="6456539" cy="1790370"/>
          </a:xfrm>
          <a:prstGeom prst="rect">
            <a:avLst/>
          </a:prstGeom>
          <a:noFill/>
          <a:ln w="12600">
            <a:noFill/>
          </a:ln>
        </p:spPr>
        <p:txBody>
          <a:bodyPr lIns="34290" tIns="33750" rIns="34290" bIns="3375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lt-LT" sz="3300" b="1" spc="-1" dirty="0">
                <a:solidFill>
                  <a:srgbClr val="000000"/>
                </a:solidFill>
                <a:latin typeface="Arial"/>
              </a:rPr>
              <a:t>Python Intro: </a:t>
            </a:r>
            <a:r>
              <a:rPr lang="lt-LT" sz="3300" b="1" spc="-1" dirty="0">
                <a:solidFill>
                  <a:srgbClr val="000000"/>
                </a:solidFill>
                <a:latin typeface="Arial"/>
                <a:ea typeface="Arial"/>
              </a:rPr>
              <a:t>Tuples, Sets</a:t>
            </a:r>
            <a:endParaRPr lang="lt-LT" sz="33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EADF6AED-2CB7-CEEA-56AC-DCDFEE4EE037}"/>
              </a:ext>
            </a:extLst>
          </p:cNvPr>
          <p:cNvSpPr/>
          <p:nvPr/>
        </p:nvSpPr>
        <p:spPr>
          <a:xfrm>
            <a:off x="371790" y="5304960"/>
            <a:ext cx="1700460" cy="252825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4290" tIns="33750" rIns="34290" bIns="3375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lt-LT" sz="1200" b="1" spc="-1" dirty="0">
                <a:solidFill>
                  <a:srgbClr val="000000"/>
                </a:solidFill>
                <a:latin typeface="Arial"/>
              </a:rPr>
              <a:t>202</a:t>
            </a:r>
            <a:r>
              <a:rPr lang="en-US" sz="1200" b="1" spc="-1" dirty="0">
                <a:solidFill>
                  <a:srgbClr val="000000"/>
                </a:solidFill>
                <a:latin typeface="Arial"/>
              </a:rPr>
              <a:t>5</a:t>
            </a:r>
            <a:endParaRPr lang="lt-LT" sz="1200" spc="-1" dirty="0"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6E811D-DBE8-2761-FC30-638338197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771" y="5015598"/>
            <a:ext cx="1821911" cy="5787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0885FE-5B5E-9FE9-BDB3-BAA01AFB8FEE}"/>
              </a:ext>
            </a:extLst>
          </p:cNvPr>
          <p:cNvSpPr txBox="1"/>
          <p:nvPr/>
        </p:nvSpPr>
        <p:spPr>
          <a:xfrm>
            <a:off x="2310494" y="3533035"/>
            <a:ext cx="4972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t-LT" sz="2400" dirty="0"/>
              <a:t>Žydrūnė Kelpšaitė, Data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Įžanga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Tema</a:t>
            </a:r>
            <a:r>
              <a:rPr dirty="0"/>
              <a:t>: Sets </a:t>
            </a:r>
            <a:r>
              <a:rPr dirty="0" err="1"/>
              <a:t>ir</a:t>
            </a:r>
            <a:r>
              <a:rPr dirty="0"/>
              <a:t> Tuples </a:t>
            </a:r>
            <a:r>
              <a:rPr dirty="0" err="1"/>
              <a:t>naudojimas</a:t>
            </a:r>
            <a:r>
              <a:rPr dirty="0"/>
              <a:t> Python </a:t>
            </a:r>
            <a:r>
              <a:rPr dirty="0" err="1"/>
              <a:t>kalboje</a:t>
            </a:r>
            <a:endParaRPr dirty="0"/>
          </a:p>
          <a:p>
            <a:pPr marL="0" indent="0">
              <a:buNone/>
            </a:pPr>
            <a:r>
              <a:rPr b="1" dirty="0" err="1"/>
              <a:t>Tikslas</a:t>
            </a:r>
            <a:r>
              <a:rPr dirty="0"/>
              <a:t>: </a:t>
            </a:r>
            <a:r>
              <a:rPr dirty="0" err="1"/>
              <a:t>Paaiškinti</a:t>
            </a:r>
            <a:r>
              <a:rPr dirty="0"/>
              <a:t>, </a:t>
            </a:r>
            <a:r>
              <a:rPr dirty="0" err="1"/>
              <a:t>kada</a:t>
            </a:r>
            <a:r>
              <a:rPr dirty="0"/>
              <a:t> </a:t>
            </a:r>
            <a:r>
              <a:rPr dirty="0" err="1"/>
              <a:t>ir</a:t>
            </a:r>
            <a:r>
              <a:rPr dirty="0"/>
              <a:t> </a:t>
            </a:r>
            <a:r>
              <a:rPr dirty="0" err="1"/>
              <a:t>kaip</a:t>
            </a:r>
            <a:r>
              <a:rPr dirty="0"/>
              <a:t> </a:t>
            </a:r>
            <a:r>
              <a:rPr dirty="0" err="1"/>
              <a:t>naudoti</a:t>
            </a:r>
            <a:r>
              <a:rPr dirty="0"/>
              <a:t> sets </a:t>
            </a:r>
            <a:r>
              <a:rPr dirty="0" err="1"/>
              <a:t>ir</a:t>
            </a:r>
            <a:r>
              <a:rPr dirty="0"/>
              <a:t> tuples </a:t>
            </a:r>
            <a:r>
              <a:rPr dirty="0" err="1"/>
              <a:t>duomenų</a:t>
            </a:r>
            <a:r>
              <a:rPr dirty="0"/>
              <a:t> </a:t>
            </a:r>
            <a:r>
              <a:rPr dirty="0" err="1"/>
              <a:t>analitikoje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22676-5C1A-52B1-F52A-DD7F4F88F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F1BC3-FF97-4808-BEE8-6AC8683AF00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013324" y="493417"/>
            <a:ext cx="5938082" cy="1354217"/>
          </a:xfrm>
        </p:spPr>
        <p:txBody>
          <a:bodyPr/>
          <a:lstStyle/>
          <a:p>
            <a:r>
              <a:rPr lang="lt-LT" dirty="0"/>
              <a:t>Python Data Types</a:t>
            </a:r>
          </a:p>
        </p:txBody>
      </p:sp>
      <p:pic>
        <p:nvPicPr>
          <p:cNvPr id="5" name="Paveikslėlis 4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FD5DFF1B-3674-2204-288F-4A11EBF3C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75" y="1770740"/>
            <a:ext cx="8319547" cy="4504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214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52E6CE3-AA81-22D5-01A5-A63E77734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MUTABILITY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7F05829E-F7B1-6E53-34DD-606483CF5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46" y="1957851"/>
            <a:ext cx="7537709" cy="359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757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E5F2-4321-2351-737D-CD5405046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Python container data types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4AF70A1-756E-DBC0-8DEC-F14AABFCDA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3620470"/>
              </p:ext>
            </p:extLst>
          </p:nvPr>
        </p:nvGraphicFramePr>
        <p:xfrm>
          <a:off x="157316" y="1543665"/>
          <a:ext cx="8908025" cy="453267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81605">
                  <a:extLst>
                    <a:ext uri="{9D8B030D-6E8A-4147-A177-3AD203B41FA5}">
                      <a16:colId xmlns:a16="http://schemas.microsoft.com/office/drawing/2014/main" val="3935237708"/>
                    </a:ext>
                  </a:extLst>
                </a:gridCol>
                <a:gridCol w="1781605">
                  <a:extLst>
                    <a:ext uri="{9D8B030D-6E8A-4147-A177-3AD203B41FA5}">
                      <a16:colId xmlns:a16="http://schemas.microsoft.com/office/drawing/2014/main" val="2978801332"/>
                    </a:ext>
                  </a:extLst>
                </a:gridCol>
                <a:gridCol w="1781605">
                  <a:extLst>
                    <a:ext uri="{9D8B030D-6E8A-4147-A177-3AD203B41FA5}">
                      <a16:colId xmlns:a16="http://schemas.microsoft.com/office/drawing/2014/main" val="2203753592"/>
                    </a:ext>
                  </a:extLst>
                </a:gridCol>
                <a:gridCol w="1781605">
                  <a:extLst>
                    <a:ext uri="{9D8B030D-6E8A-4147-A177-3AD203B41FA5}">
                      <a16:colId xmlns:a16="http://schemas.microsoft.com/office/drawing/2014/main" val="3043493176"/>
                    </a:ext>
                  </a:extLst>
                </a:gridCol>
                <a:gridCol w="1781605">
                  <a:extLst>
                    <a:ext uri="{9D8B030D-6E8A-4147-A177-3AD203B41FA5}">
                      <a16:colId xmlns:a16="http://schemas.microsoft.com/office/drawing/2014/main" val="2632925328"/>
                    </a:ext>
                  </a:extLst>
                </a:gridCol>
              </a:tblGrid>
              <a:tr h="421644">
                <a:tc>
                  <a:txBody>
                    <a:bodyPr/>
                    <a:lstStyle/>
                    <a:p>
                      <a:pPr fontAlgn="ctr"/>
                      <a:r>
                        <a:rPr lang="lt-LT" b="1">
                          <a:effectLst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lt-LT" b="1" dirty="0" err="1">
                          <a:effectLst/>
                        </a:rPr>
                        <a:t>List</a:t>
                      </a:r>
                      <a:endParaRPr lang="lt-LT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lt-LT" b="1">
                          <a:effectLst/>
                        </a:rPr>
                        <a:t>Dictionary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lt-LT" b="1" dirty="0" err="1">
                          <a:effectLst/>
                        </a:rPr>
                        <a:t>Set</a:t>
                      </a:r>
                      <a:endParaRPr lang="lt-LT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lt-LT" b="1" dirty="0">
                          <a:effectLst/>
                        </a:rPr>
                        <a:t>Tuple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9146094"/>
                  </a:ext>
                </a:extLst>
              </a:tr>
              <a:tr h="737876">
                <a:tc>
                  <a:txBody>
                    <a:bodyPr/>
                    <a:lstStyle/>
                    <a:p>
                      <a:pPr fontAlgn="ctr"/>
                      <a:r>
                        <a:rPr lang="lt-LT">
                          <a:effectLst/>
                        </a:rPr>
                        <a:t>Syntax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lt-LT" dirty="0">
                          <a:effectLst/>
                        </a:rPr>
                        <a:t>[item1, item2, ...]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lt-LT" dirty="0">
                          <a:effectLst/>
                        </a:rPr>
                        <a:t>{'key1': value1, 'key2': value2}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lt-LT" dirty="0">
                          <a:effectLst/>
                        </a:rPr>
                        <a:t>{item1, item2, ...}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lt-LT" dirty="0">
                          <a:effectLst/>
                        </a:rPr>
                        <a:t>(item1, item2, ...) </a:t>
                      </a:r>
                      <a:r>
                        <a:rPr lang="lt-LT" dirty="0" err="1">
                          <a:effectLst/>
                        </a:rPr>
                        <a:t>or</a:t>
                      </a:r>
                      <a:r>
                        <a:rPr lang="lt-LT" dirty="0">
                          <a:effectLst/>
                        </a:rPr>
                        <a:t> </a:t>
                      </a:r>
                      <a:r>
                        <a:rPr lang="lt-LT" dirty="0" err="1">
                          <a:effectLst/>
                        </a:rPr>
                        <a:t>item</a:t>
                      </a:r>
                      <a:r>
                        <a:rPr lang="lt-LT" dirty="0">
                          <a:effectLst/>
                        </a:rPr>
                        <a:t>,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1274028"/>
                  </a:ext>
                </a:extLst>
              </a:tr>
              <a:tr h="421644">
                <a:tc>
                  <a:txBody>
                    <a:bodyPr/>
                    <a:lstStyle/>
                    <a:p>
                      <a:pPr fontAlgn="ctr"/>
                      <a:r>
                        <a:rPr lang="lt-LT">
                          <a:effectLst/>
                        </a:rPr>
                        <a:t>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lt-LT" dirty="0" err="1">
                          <a:effectLst/>
                        </a:rPr>
                        <a:t>Ordered</a:t>
                      </a:r>
                      <a:endParaRPr lang="lt-LT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lt-LT">
                          <a:effectLst/>
                        </a:rPr>
                        <a:t>Unordered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lt-LT" dirty="0" err="1">
                          <a:effectLst/>
                        </a:rPr>
                        <a:t>Unordered</a:t>
                      </a:r>
                      <a:endParaRPr lang="lt-LT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lt-LT" dirty="0" err="1">
                          <a:effectLst/>
                        </a:rPr>
                        <a:t>Ordered</a:t>
                      </a:r>
                      <a:endParaRPr lang="lt-LT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9632567"/>
                  </a:ext>
                </a:extLst>
              </a:tr>
              <a:tr h="421644">
                <a:tc>
                  <a:txBody>
                    <a:bodyPr/>
                    <a:lstStyle/>
                    <a:p>
                      <a:pPr fontAlgn="ctr"/>
                      <a:r>
                        <a:rPr lang="lt-LT">
                          <a:effectLst/>
                        </a:rPr>
                        <a:t>Indexing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lt-LT" dirty="0" err="1">
                          <a:effectLst/>
                        </a:rPr>
                        <a:t>Yes</a:t>
                      </a:r>
                      <a:r>
                        <a:rPr lang="lt-LT" dirty="0">
                          <a:effectLst/>
                        </a:rPr>
                        <a:t> (</a:t>
                      </a:r>
                      <a:r>
                        <a:rPr lang="lt-LT" dirty="0" err="1">
                          <a:effectLst/>
                        </a:rPr>
                        <a:t>by</a:t>
                      </a:r>
                      <a:r>
                        <a:rPr lang="lt-LT" dirty="0">
                          <a:effectLst/>
                        </a:rPr>
                        <a:t> </a:t>
                      </a:r>
                      <a:r>
                        <a:rPr lang="lt-LT" dirty="0" err="1">
                          <a:effectLst/>
                        </a:rPr>
                        <a:t>index</a:t>
                      </a:r>
                      <a:r>
                        <a:rPr lang="lt-LT" dirty="0">
                          <a:effectLst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lt-LT" dirty="0" err="1">
                          <a:effectLst/>
                        </a:rPr>
                        <a:t>Yes</a:t>
                      </a:r>
                      <a:r>
                        <a:rPr lang="lt-LT" dirty="0">
                          <a:effectLst/>
                        </a:rPr>
                        <a:t> (</a:t>
                      </a:r>
                      <a:r>
                        <a:rPr lang="lt-LT" dirty="0" err="1">
                          <a:effectLst/>
                        </a:rPr>
                        <a:t>by</a:t>
                      </a:r>
                      <a:r>
                        <a:rPr lang="lt-LT" dirty="0">
                          <a:effectLst/>
                        </a:rPr>
                        <a:t> </a:t>
                      </a:r>
                      <a:r>
                        <a:rPr lang="lt-LT" dirty="0" err="1">
                          <a:effectLst/>
                        </a:rPr>
                        <a:t>key</a:t>
                      </a:r>
                      <a:r>
                        <a:rPr lang="lt-LT" dirty="0">
                          <a:effectLst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lt-LT" dirty="0" err="1">
                          <a:effectLst/>
                        </a:rPr>
                        <a:t>No</a:t>
                      </a:r>
                      <a:endParaRPr lang="lt-LT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lt-LT" dirty="0" err="1">
                          <a:effectLst/>
                        </a:rPr>
                        <a:t>Yes</a:t>
                      </a:r>
                      <a:r>
                        <a:rPr lang="lt-LT" dirty="0">
                          <a:effectLst/>
                        </a:rPr>
                        <a:t> (</a:t>
                      </a:r>
                      <a:r>
                        <a:rPr lang="lt-LT" dirty="0" err="1">
                          <a:effectLst/>
                        </a:rPr>
                        <a:t>by</a:t>
                      </a:r>
                      <a:r>
                        <a:rPr lang="lt-LT" dirty="0">
                          <a:effectLst/>
                        </a:rPr>
                        <a:t> </a:t>
                      </a:r>
                      <a:r>
                        <a:rPr lang="lt-LT" dirty="0" err="1">
                          <a:effectLst/>
                        </a:rPr>
                        <a:t>index</a:t>
                      </a:r>
                      <a:r>
                        <a:rPr lang="lt-LT" dirty="0">
                          <a:effectLst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2100388"/>
                  </a:ext>
                </a:extLst>
              </a:tr>
              <a:tr h="1054109">
                <a:tc>
                  <a:txBody>
                    <a:bodyPr/>
                    <a:lstStyle/>
                    <a:p>
                      <a:pPr fontAlgn="ctr"/>
                      <a:r>
                        <a:rPr lang="lt-LT">
                          <a:effectLst/>
                        </a:rPr>
                        <a:t>Duplicate 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lt-LT" dirty="0" err="1">
                          <a:effectLst/>
                        </a:rPr>
                        <a:t>Allowed</a:t>
                      </a:r>
                      <a:endParaRPr lang="lt-LT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dirty="0">
                          <a:effectLst/>
                        </a:rPr>
                        <a:t>Values can be duplicated, keys cannot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lt-LT" dirty="0" err="1">
                          <a:effectLst/>
                        </a:rPr>
                        <a:t>Not</a:t>
                      </a:r>
                      <a:r>
                        <a:rPr lang="lt-LT" dirty="0">
                          <a:effectLst/>
                        </a:rPr>
                        <a:t> </a:t>
                      </a:r>
                      <a:r>
                        <a:rPr lang="lt-LT" dirty="0" err="1">
                          <a:effectLst/>
                        </a:rPr>
                        <a:t>allowed</a:t>
                      </a:r>
                      <a:endParaRPr lang="lt-LT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lt-LT" dirty="0" err="1">
                          <a:effectLst/>
                        </a:rPr>
                        <a:t>Allowed</a:t>
                      </a:r>
                      <a:endParaRPr lang="lt-LT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5974072"/>
                  </a:ext>
                </a:extLst>
              </a:tr>
              <a:tr h="421644">
                <a:tc>
                  <a:txBody>
                    <a:bodyPr/>
                    <a:lstStyle/>
                    <a:p>
                      <a:pPr fontAlgn="ctr"/>
                      <a:r>
                        <a:rPr lang="lt-LT">
                          <a:effectLst/>
                        </a:rPr>
                        <a:t>Mutability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lt-LT">
                          <a:effectLst/>
                        </a:rPr>
                        <a:t>Mutable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lt-LT">
                          <a:effectLst/>
                        </a:rPr>
                        <a:t>Mutable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lt-LT" dirty="0" err="1">
                          <a:effectLst/>
                        </a:rPr>
                        <a:t>Mutable</a:t>
                      </a:r>
                      <a:endParaRPr lang="lt-LT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lt-LT" dirty="0" err="1">
                          <a:effectLst/>
                        </a:rPr>
                        <a:t>Immutable</a:t>
                      </a:r>
                      <a:endParaRPr lang="lt-LT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4281631"/>
                  </a:ext>
                </a:extLst>
              </a:tr>
              <a:tr h="1054109">
                <a:tc>
                  <a:txBody>
                    <a:bodyPr/>
                    <a:lstStyle/>
                    <a:p>
                      <a:pPr fontAlgn="ctr"/>
                      <a:r>
                        <a:rPr lang="lt-LT">
                          <a:effectLst/>
                        </a:rPr>
                        <a:t>Usage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dirty="0">
                          <a:effectLst/>
                        </a:rPr>
                        <a:t>For a collection of ordered items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lt-LT">
                          <a:effectLst/>
                        </a:rPr>
                        <a:t>For key-value pairs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lt-LT" dirty="0" err="1">
                          <a:effectLst/>
                        </a:rPr>
                        <a:t>For</a:t>
                      </a:r>
                      <a:r>
                        <a:rPr lang="lt-LT" dirty="0">
                          <a:effectLst/>
                        </a:rPr>
                        <a:t> </a:t>
                      </a:r>
                      <a:r>
                        <a:rPr lang="lt-LT" dirty="0" err="1">
                          <a:effectLst/>
                        </a:rPr>
                        <a:t>unique</a:t>
                      </a:r>
                      <a:r>
                        <a:rPr lang="lt-LT" dirty="0">
                          <a:effectLst/>
                        </a:rPr>
                        <a:t> </a:t>
                      </a:r>
                      <a:r>
                        <a:rPr lang="lt-LT" dirty="0" err="1">
                          <a:effectLst/>
                        </a:rPr>
                        <a:t>items</a:t>
                      </a:r>
                      <a:endParaRPr lang="lt-LT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lt-LT" dirty="0">
                          <a:effectLst/>
                        </a:rPr>
                        <a:t>For fixed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10138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8149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Kas yra Tuple?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DECF0A9-FBC9-85D0-547E-7C02818652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650044"/>
            <a:ext cx="7990114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t-LT" altLang="lt-L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Tuple</a:t>
            </a:r>
            <a:r>
              <a:rPr kumimoji="0" lang="lt-LT" altLang="lt-L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yra </a:t>
            </a:r>
            <a:r>
              <a:rPr kumimoji="0" lang="lt-LT" altLang="lt-L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nekeičiama (immutable)</a:t>
            </a:r>
            <a:r>
              <a:rPr kumimoji="0" lang="lt-LT" altLang="lt-L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duomenų seka.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t-LT" altLang="lt-L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Apibrėžimas: </a:t>
            </a:r>
            <a:r>
              <a:rPr kumimoji="0" lang="lt-LT" altLang="lt-L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my_tuple = (1, 2, 3)  </a:t>
            </a:r>
            <a:r>
              <a:rPr kumimoji="0" lang="lt-LT" altLang="lt-L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single_t</a:t>
            </a:r>
            <a:r>
              <a:rPr kumimoji="0" lang="en-US" altLang="lt-L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(1,)</a:t>
            </a:r>
            <a:endParaRPr kumimoji="0" lang="lt-LT" altLang="lt-L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t-LT" altLang="lt-L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Indeksuojama</a:t>
            </a:r>
            <a:r>
              <a:rPr kumimoji="0" lang="lt-LT" altLang="lt-L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ir </a:t>
            </a:r>
            <a:r>
              <a:rPr kumimoji="0" lang="lt-LT" altLang="lt-L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iteruojama</a:t>
            </a:r>
            <a:endParaRPr kumimoji="0" lang="lt-LT" altLang="lt-L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t-LT" altLang="lt-L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Gali turėti skirtingų tipų reikšmių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lt-LT" altLang="lt-L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Panaudojimas analitikoje:</a:t>
            </a:r>
            <a:endParaRPr kumimoji="0" lang="lt-LT" altLang="lt-L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t-LT" altLang="lt-L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Fiksuoti stulpelių pavadinimai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t-LT" altLang="lt-L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Neleisti pakeisti konfigūracinių parametrų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t-LT" altLang="lt-L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8014DE-5B97-C0C1-568B-B3EAB22DE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60" y="4406218"/>
            <a:ext cx="4934642" cy="5300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9C23EB-F698-A642-398C-FD244CD0F3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60" y="5506887"/>
            <a:ext cx="5430008" cy="10764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F94B5-033F-4077-C461-0BFE02E75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Tuple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6E22B-4E5A-9A88-F74B-7393B3D5E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Used to store multiple items in a single variable</a:t>
            </a:r>
          </a:p>
          <a:p>
            <a:pPr marL="0" indent="0">
              <a:buNone/>
            </a:pPr>
            <a:r>
              <a:rPr lang="en-US" b="1" dirty="0"/>
              <a:t>It is: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Ordered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Unchangeable</a:t>
            </a:r>
          </a:p>
          <a:p>
            <a:pPr marL="0" indent="0">
              <a:buNone/>
            </a:pPr>
            <a:r>
              <a:rPr lang="en-US" dirty="0"/>
              <a:t>Written with </a:t>
            </a:r>
            <a:r>
              <a:rPr lang="en-US" dirty="0">
                <a:solidFill>
                  <a:srgbClr val="00B0F0"/>
                </a:solidFill>
              </a:rPr>
              <a:t>(</a:t>
            </a:r>
            <a:r>
              <a:rPr lang="en-US" dirty="0"/>
              <a:t> and </a:t>
            </a:r>
            <a:r>
              <a:rPr lang="en-US" dirty="0">
                <a:solidFill>
                  <a:srgbClr val="00B0F0"/>
                </a:solidFill>
              </a:rPr>
              <a:t>)</a:t>
            </a:r>
          </a:p>
          <a:p>
            <a:pPr marL="0" indent="0">
              <a:buNone/>
            </a:pPr>
            <a:r>
              <a:rPr lang="en-US" b="1" dirty="0"/>
              <a:t>Importance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Speed up operations because it's immutable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Immutable sequences, often used for fixed data, like column names or coordinates in Matplotlib plots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1812133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Tuple praktika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7DFD02-3780-8A6F-E28C-FB5D9A251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15" y="1749334"/>
            <a:ext cx="5076681" cy="12691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4E6A9B-9236-729C-A3A6-D77508CF395E}"/>
              </a:ext>
            </a:extLst>
          </p:cNvPr>
          <p:cNvSpPr txBox="1"/>
          <p:nvPr/>
        </p:nvSpPr>
        <p:spPr>
          <a:xfrm>
            <a:off x="766916" y="4827639"/>
            <a:ext cx="6971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t-LT" dirty="0"/>
              <a:t>galime paprastą sąrašą (list) paversti nekintamu (tuple), pasinaudoję funkcija tuple():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F954A1-B076-93D7-0968-B6F5DE892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262" y="5997708"/>
            <a:ext cx="5391902" cy="2857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0E7410-907B-1E61-646C-E6A4662DBF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251" y="4050393"/>
            <a:ext cx="4706007" cy="2857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23B5E-8219-A4F8-A5AF-4FCEF903D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Tuple metodai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10DFB-522D-D896-AF99-035DB4DE7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180" y="16002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lt-LT" dirty="0"/>
              <a:t>.count()</a:t>
            </a:r>
          </a:p>
          <a:p>
            <a:pPr marL="0" indent="0">
              <a:buNone/>
            </a:pPr>
            <a:endParaRPr lang="lt-LT" dirty="0"/>
          </a:p>
          <a:p>
            <a:pPr marL="0" indent="0">
              <a:buNone/>
            </a:pPr>
            <a:endParaRPr lang="lt-LT" dirty="0"/>
          </a:p>
          <a:p>
            <a:pPr marL="0" indent="0">
              <a:buNone/>
            </a:pPr>
            <a:r>
              <a:rPr lang="lt-LT" dirty="0"/>
              <a:t>.index()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E6A5FA-E4EC-5CE2-B503-1F88BA210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7161" y="1600200"/>
            <a:ext cx="4001058" cy="1257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A939B1-16BC-71CE-4FBC-C430CB077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7161" y="3400167"/>
            <a:ext cx="2981741" cy="12003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E8A5AB-2FEF-5C77-2FE3-16F23787D9A0}"/>
              </a:ext>
            </a:extLst>
          </p:cNvPr>
          <p:cNvSpPr txBox="1"/>
          <p:nvPr/>
        </p:nvSpPr>
        <p:spPr>
          <a:xfrm>
            <a:off x="1157592" y="5132551"/>
            <a:ext cx="61387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dirty="0"/>
              <a:t>Nekintami sąrašai turi naudingą metodą .</a:t>
            </a:r>
            <a:r>
              <a:rPr lang="lt-LT" dirty="0" err="1"/>
              <a:t>count</a:t>
            </a:r>
            <a:r>
              <a:rPr lang="lt-LT" dirty="0"/>
              <a:t>(), kuris grąžina kiek kartu˛ pasikartoja nurodytas elementas.</a:t>
            </a:r>
          </a:p>
          <a:p>
            <a:r>
              <a:rPr lang="lt-LT" dirty="0"/>
              <a:t>Indeksu˛ radimas Metodas .</a:t>
            </a:r>
            <a:r>
              <a:rPr lang="lt-LT" dirty="0" err="1"/>
              <a:t>index</a:t>
            </a:r>
            <a:r>
              <a:rPr lang="lt-LT" dirty="0"/>
              <a:t>() grąžina pirmą kartą sutikto nurodyto elemento indeksą.</a:t>
            </a:r>
          </a:p>
        </p:txBody>
      </p:sp>
    </p:spTree>
    <p:extLst>
      <p:ext uri="{BB962C8B-B14F-4D97-AF65-F5344CB8AC3E}">
        <p14:creationId xmlns:p14="http://schemas.microsoft.com/office/powerpoint/2010/main" val="3491498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Kas yra Set?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C4C2B26-4EE8-A1CA-C1B9-75819169F3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185800"/>
            <a:ext cx="8294258" cy="335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t-LT" altLang="lt-LT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</a:t>
            </a:r>
            <a:r>
              <a:rPr kumimoji="0" lang="lt-LT" altLang="lt-LT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yra </a:t>
            </a:r>
            <a:r>
              <a:rPr kumimoji="0" lang="lt-LT" altLang="lt-LT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nesurikiuotas unikalių reikšmių rinkinys</a:t>
            </a:r>
            <a:endParaRPr kumimoji="0" lang="lt-LT" altLang="lt-LT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t-LT" altLang="lt-L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Apibrėžimas: </a:t>
            </a:r>
            <a:r>
              <a:rPr kumimoji="0" lang="lt-LT" altLang="lt-LT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my_set = {1, 2, 3}</a:t>
            </a:r>
            <a:endParaRPr kumimoji="0" lang="lt-LT" altLang="lt-LT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t-LT" altLang="lt-L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Neturi pasikartojančių elementų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t-LT" altLang="lt-L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Gali atlikti matematinę analizę (sankirtos, sąjungos, skirtumai)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t-LT" altLang="lt-LT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t-LT" altLang="lt-LT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Panaudojimas </a:t>
            </a:r>
            <a:r>
              <a:rPr kumimoji="0" lang="lt-LT" altLang="lt-L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analitikoje:</a:t>
            </a:r>
            <a:endParaRPr kumimoji="0" lang="lt-LT" altLang="lt-L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t-LT" altLang="lt-L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Surasti unikalius klientų ID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t-LT" altLang="lt-L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Pašalinti dublikatus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t-LT" altLang="lt-L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Lyginti dvi aibes reikšmių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t-LT" altLang="lt-L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 praktika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t-LT" dirty="0"/>
          </a:p>
          <a:p>
            <a:endParaRPr lang="lt-LT" dirty="0"/>
          </a:p>
          <a:p>
            <a:endParaRPr lang="lt-LT" dirty="0"/>
          </a:p>
          <a:p>
            <a:r>
              <a:rPr lang="nn-NO" b="1" dirty="0"/>
              <a:t>Naudinga:</a:t>
            </a:r>
            <a:r>
              <a:rPr lang="nn-NO" dirty="0"/>
              <a:t> kai reikia greitai išvalyti dublikatus.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5847A0-79ED-7A7C-3382-A2612D268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09056"/>
            <a:ext cx="6319573" cy="12206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 operacijos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A657BA-BD60-9CF1-C50E-2D7C6797ED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7636" y="1417638"/>
            <a:ext cx="6457193" cy="2223356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FA8DD0-8102-FDFD-EC9F-973B508D8123}"/>
              </a:ext>
            </a:extLst>
          </p:cNvPr>
          <p:cNvSpPr txBox="1"/>
          <p:nvPr/>
        </p:nvSpPr>
        <p:spPr>
          <a:xfrm>
            <a:off x="2286000" y="4847549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b="1" dirty="0"/>
              <a:t>Naudojama:</a:t>
            </a:r>
            <a:r>
              <a:rPr lang="lt-LT" dirty="0"/>
              <a:t> palyginti klientų grupes, filtruoti pasikartojimus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8EA35-8129-3342-1BE1-5D7EF225B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b="1" dirty="0"/>
              <a:t>Kada naudoti Tuple vs Set?</a:t>
            </a:r>
            <a:br>
              <a:rPr lang="fi-FI" b="1" dirty="0"/>
            </a:br>
            <a:endParaRPr lang="lt-LT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7AB0C2-6930-4575-4473-86FAED7BC1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1343293"/>
              </p:ext>
            </p:extLst>
          </p:nvPr>
        </p:nvGraphicFramePr>
        <p:xfrm>
          <a:off x="457200" y="2340429"/>
          <a:ext cx="8229600" cy="257431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2942535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71329519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564498989"/>
                    </a:ext>
                  </a:extLst>
                </a:gridCol>
              </a:tblGrid>
              <a:tr h="447706">
                <a:tc>
                  <a:txBody>
                    <a:bodyPr/>
                    <a:lstStyle/>
                    <a:p>
                      <a:endParaRPr lang="lt-LT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lt-LT"/>
                        <a:t>Tuple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lt-LT"/>
                        <a:t>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751078"/>
                  </a:ext>
                </a:extLst>
              </a:tr>
              <a:tr h="447706">
                <a:tc>
                  <a:txBody>
                    <a:bodyPr/>
                    <a:lstStyle/>
                    <a:p>
                      <a:r>
                        <a:rPr lang="lt-LT"/>
                        <a:t>Keičiamumas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lt-LT"/>
                        <a:t>Nekeičiamas (immutable)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lt-LT"/>
                        <a:t>Keičiamas (mutable)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211637"/>
                  </a:ext>
                </a:extLst>
              </a:tr>
              <a:tr h="447706">
                <a:tc>
                  <a:txBody>
                    <a:bodyPr/>
                    <a:lstStyle/>
                    <a:p>
                      <a:r>
                        <a:rPr lang="lt-LT"/>
                        <a:t>Indeksai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lt-LT"/>
                        <a:t>Turi indeksus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lt-LT"/>
                        <a:t>Neturi indeksų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8559436"/>
                  </a:ext>
                </a:extLst>
              </a:tr>
              <a:tr h="447706">
                <a:tc>
                  <a:txBody>
                    <a:bodyPr/>
                    <a:lstStyle/>
                    <a:p>
                      <a:r>
                        <a:rPr lang="lt-LT"/>
                        <a:t>Dublikatai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lt-LT"/>
                        <a:t>Leidžiami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lt-LT"/>
                        <a:t>Neleidžiami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868211"/>
                  </a:ext>
                </a:extLst>
              </a:tr>
              <a:tr h="783486">
                <a:tc>
                  <a:txBody>
                    <a:bodyPr/>
                    <a:lstStyle/>
                    <a:p>
                      <a:r>
                        <a:rPr lang="lt-LT" dirty="0"/>
                        <a:t>Naudojimas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lt-LT"/>
                        <a:t>Struktūruoti duomenys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lt-LT" dirty="0"/>
                        <a:t>Unikalumui, analizės operacijos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3894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5126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Tuple vs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Tuple – nekeičiama, turi indeksus, leidžia dublikatus.</a:t>
            </a:r>
          </a:p>
          <a:p>
            <a:r>
              <a:t>Set – keičiama, neturi indeksų, neleidžia dublikatų.</a:t>
            </a:r>
          </a:p>
          <a:p>
            <a:r>
              <a:t>Pasirinkimas priklauso nuo analizės tikslo.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Duomenų analitikos pavyzdys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55D9E0-726D-97DF-1028-F97A5243C7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0692" y="1752600"/>
            <a:ext cx="7115027" cy="2477377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Santrauka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9DDBD4D-8AA8-F103-FDB2-1363861AB4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440681"/>
            <a:ext cx="781594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lt-LT" altLang="lt-L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t-LT" altLang="lt-L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Naudok </a:t>
            </a:r>
            <a:r>
              <a:rPr kumimoji="0" lang="lt-LT" altLang="lt-LT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tuple</a:t>
            </a:r>
            <a:r>
              <a:rPr kumimoji="0" lang="lt-LT" altLang="lt-L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kai reikšmės neturi keistis.</a:t>
            </a:r>
            <a:endParaRPr kumimoji="0" lang="lt-LT" altLang="lt-L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t-LT" altLang="lt-L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Naudok </a:t>
            </a:r>
            <a:r>
              <a:rPr kumimoji="0" lang="lt-LT" altLang="lt-LT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set</a:t>
            </a:r>
            <a:r>
              <a:rPr kumimoji="0" lang="lt-LT" altLang="lt-L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kai reikia unikalių reikšmių ar atlikti aibės operacijas.</a:t>
            </a:r>
            <a:endParaRPr kumimoji="0" lang="lt-LT" altLang="lt-L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t-LT" altLang="lt-L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Abu objektai </a:t>
            </a:r>
            <a:r>
              <a:rPr kumimoji="0" lang="lt-LT" altLang="lt-LT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naudoja mažiau atminties</a:t>
            </a:r>
            <a:r>
              <a:rPr kumimoji="0" lang="lt-LT" altLang="lt-L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nei </a:t>
            </a:r>
            <a:r>
              <a:rPr kumimoji="0" lang="lt-LT" altLang="lt-L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list</a:t>
            </a:r>
            <a:r>
              <a:rPr kumimoji="0" lang="lt-LT" altLang="lt-L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ir veikia greičiau specifinėse situacijose.</a:t>
            </a:r>
            <a:endParaRPr kumimoji="0" lang="lt-LT" altLang="lt-L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lt-LT" altLang="lt-L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as" ma:contentTypeID="0x010100753C69E30CD2E346B0231A1827D4E953" ma:contentTypeVersion="32" ma:contentTypeDescription="Kurkite naują dokumentą." ma:contentTypeScope="" ma:versionID="809ac949904d02c312bdad0800d9e5ec">
  <xsd:schema xmlns:xsd="http://www.w3.org/2001/XMLSchema" xmlns:xs="http://www.w3.org/2001/XMLSchema" xmlns:p="http://schemas.microsoft.com/office/2006/metadata/properties" xmlns:ns2="662e3587-765d-4918-9d92-5b93275042d2" xmlns:ns3="eb74e56a-683e-4ac4-9917-2810b22b5cab" targetNamespace="http://schemas.microsoft.com/office/2006/metadata/properties" ma:root="true" ma:fieldsID="7810e61893e78777e4b537f36b79e890" ns2:_="" ns3:_="">
    <xsd:import namespace="662e3587-765d-4918-9d92-5b93275042d2"/>
    <xsd:import namespace="eb74e56a-683e-4ac4-9917-2810b22b5c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2e3587-765d-4918-9d92-5b93275042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Vaizdų žymės" ma:readOnly="false" ma:fieldId="{5cf76f15-5ced-4ddc-b409-7134ff3c332f}" ma:taxonomyMulti="true" ma:sspId="170f77d6-0e01-4d43-ba48-7d2f3bc0a5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NotebookType" ma:index="19" nillable="true" ma:displayName="Notebook Type" ma:internalName="NotebookType">
      <xsd:simpleType>
        <xsd:restriction base="dms:Text"/>
      </xsd:simpleType>
    </xsd:element>
    <xsd:element name="FolderType" ma:index="20" nillable="true" ma:displayName="Folder Type" ma:internalName="FolderType">
      <xsd:simpleType>
        <xsd:restriction base="dms:Text"/>
      </xsd:simpleType>
    </xsd:element>
    <xsd:element name="CultureName" ma:index="21" nillable="true" ma:displayName="Culture Name" ma:internalName="CultureName">
      <xsd:simpleType>
        <xsd:restriction base="dms:Text"/>
      </xsd:simpleType>
    </xsd:element>
    <xsd:element name="AppVersion" ma:index="22" nillable="true" ma:displayName="App Version" ma:internalName="AppVersion">
      <xsd:simpleType>
        <xsd:restriction base="dms:Text"/>
      </xsd:simpleType>
    </xsd:element>
    <xsd:element name="TeamsChannelId" ma:index="23" nillable="true" ma:displayName="Teams Channel Id" ma:internalName="TeamsChannelId">
      <xsd:simpleType>
        <xsd:restriction base="dms:Text"/>
      </xsd:simpleType>
    </xsd:element>
    <xsd:element name="Owner" ma:index="24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5" nillable="true" ma:displayName="Math Settings" ma:internalName="Math_Settings">
      <xsd:simpleType>
        <xsd:restriction base="dms:Text"/>
      </xsd:simpleType>
    </xsd:element>
    <xsd:element name="DefaultSectionNames" ma:index="26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7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8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9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0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1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2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3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4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5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6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7" nillable="true" ma:displayName="Is Collaboration Space Locked" ma:internalName="Is_Collaboration_Space_Locked">
      <xsd:simpleType>
        <xsd:restriction base="dms:Boolean"/>
      </xsd:simpleType>
    </xsd:element>
    <xsd:element name="IsNotebookLocked" ma:index="38" nillable="true" ma:displayName="Is Notebook Locked" ma:internalName="IsNotebookLocked">
      <xsd:simpleType>
        <xsd:restriction base="dms:Boolean"/>
      </xsd:simpleType>
    </xsd:element>
    <xsd:element name="Teams_Channel_Section_Location" ma:index="39" nillable="true" ma:displayName="Teams Channel Section Location" ma:internalName="Teams_Channel_Section_Loca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4e56a-683e-4ac4-9917-2810b22b5ca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668e2cc-9ecf-45c3-8926-07f8ce6bf3d7}" ma:internalName="TaxCatchAll" ma:showField="CatchAllData" ma:web="eb74e56a-683e-4ac4-9917-2810b22b5c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urinio tipas"/>
        <xsd:element ref="dc:title" minOccurs="0" maxOccurs="1" ma:index="4" ma:displayName="Antraštė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vited_Teachers xmlns="662e3587-765d-4918-9d92-5b93275042d2" xsi:nil="true"/>
    <DefaultSectionNames xmlns="662e3587-765d-4918-9d92-5b93275042d2" xsi:nil="true"/>
    <Teams_Channel_Section_Location xmlns="662e3587-765d-4918-9d92-5b93275042d2" xsi:nil="true"/>
    <Templates xmlns="662e3587-765d-4918-9d92-5b93275042d2" xsi:nil="true"/>
    <NotebookType xmlns="662e3587-765d-4918-9d92-5b93275042d2" xsi:nil="true"/>
    <Distribution_Groups xmlns="662e3587-765d-4918-9d92-5b93275042d2" xsi:nil="true"/>
    <TeamsChannelId xmlns="662e3587-765d-4918-9d92-5b93275042d2" xsi:nil="true"/>
    <Is_Collaboration_Space_Locked xmlns="662e3587-765d-4918-9d92-5b93275042d2" xsi:nil="true"/>
    <Owner xmlns="662e3587-765d-4918-9d92-5b93275042d2">
      <UserInfo>
        <DisplayName/>
        <AccountId xsi:nil="true"/>
        <AccountType/>
      </UserInfo>
    </Owner>
    <LMS_Mappings xmlns="662e3587-765d-4918-9d92-5b93275042d2" xsi:nil="true"/>
    <Invited_Students xmlns="662e3587-765d-4918-9d92-5b93275042d2" xsi:nil="true"/>
    <FolderType xmlns="662e3587-765d-4918-9d92-5b93275042d2" xsi:nil="true"/>
    <CultureName xmlns="662e3587-765d-4918-9d92-5b93275042d2" xsi:nil="true"/>
    <IsNotebookLocked xmlns="662e3587-765d-4918-9d92-5b93275042d2" xsi:nil="true"/>
    <Math_Settings xmlns="662e3587-765d-4918-9d92-5b93275042d2" xsi:nil="true"/>
    <Teachers xmlns="662e3587-765d-4918-9d92-5b93275042d2">
      <UserInfo>
        <DisplayName/>
        <AccountId xsi:nil="true"/>
        <AccountType/>
      </UserInfo>
    </Teachers>
    <Student_Groups xmlns="662e3587-765d-4918-9d92-5b93275042d2">
      <UserInfo>
        <DisplayName/>
        <AccountId xsi:nil="true"/>
        <AccountType/>
      </UserInfo>
    </Student_Groups>
    <TaxCatchAll xmlns="eb74e56a-683e-4ac4-9917-2810b22b5cab" xsi:nil="true"/>
    <AppVersion xmlns="662e3587-765d-4918-9d92-5b93275042d2" xsi:nil="true"/>
    <Self_Registration_Enabled xmlns="662e3587-765d-4918-9d92-5b93275042d2" xsi:nil="true"/>
    <Has_Teacher_Only_SectionGroup xmlns="662e3587-765d-4918-9d92-5b93275042d2" xsi:nil="true"/>
    <lcf76f155ced4ddcb4097134ff3c332f xmlns="662e3587-765d-4918-9d92-5b93275042d2">
      <Terms xmlns="http://schemas.microsoft.com/office/infopath/2007/PartnerControls"/>
    </lcf76f155ced4ddcb4097134ff3c332f>
    <Students xmlns="662e3587-765d-4918-9d92-5b93275042d2">
      <UserInfo>
        <DisplayName/>
        <AccountId xsi:nil="true"/>
        <AccountType/>
      </UserInfo>
    </Students>
  </documentManagement>
</p:properties>
</file>

<file path=customXml/itemProps1.xml><?xml version="1.0" encoding="utf-8"?>
<ds:datastoreItem xmlns:ds="http://schemas.openxmlformats.org/officeDocument/2006/customXml" ds:itemID="{77EEEA1C-20FC-4DE7-A2B9-2D9C72505E91}"/>
</file>

<file path=customXml/itemProps2.xml><?xml version="1.0" encoding="utf-8"?>
<ds:datastoreItem xmlns:ds="http://schemas.openxmlformats.org/officeDocument/2006/customXml" ds:itemID="{120CAB20-25B3-4E63-956A-7F5E540939DB}"/>
</file>

<file path=customXml/itemProps3.xml><?xml version="1.0" encoding="utf-8"?>
<ds:datastoreItem xmlns:ds="http://schemas.openxmlformats.org/officeDocument/2006/customXml" ds:itemID="{2930805E-3E99-4E88-B74F-2359720A617C}"/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537</Words>
  <Application>Microsoft Office PowerPoint</Application>
  <PresentationFormat>Demonstracija ekrane (4:3)</PresentationFormat>
  <Paragraphs>120</Paragraphs>
  <Slides>16</Slides>
  <Notes>3</Notes>
  <HiddenSlides>0</HiddenSlides>
  <MMClips>0</MMClips>
  <ScaleCrop>false</ScaleCrop>
  <HeadingPairs>
    <vt:vector size="6" baseType="variant">
      <vt:variant>
        <vt:lpstr>Naudojami šriftai</vt:lpstr>
      </vt:variant>
      <vt:variant>
        <vt:i4>5</vt:i4>
      </vt:variant>
      <vt:variant>
        <vt:lpstr>Tema</vt:lpstr>
      </vt:variant>
      <vt:variant>
        <vt:i4>1</vt:i4>
      </vt:variant>
      <vt:variant>
        <vt:lpstr>Skaidrių pavadinimai</vt:lpstr>
      </vt:variant>
      <vt:variant>
        <vt:i4>16</vt:i4>
      </vt:variant>
    </vt:vector>
  </HeadingPairs>
  <TitlesOfParts>
    <vt:vector size="22" baseType="lpstr">
      <vt:lpstr>Aptos</vt:lpstr>
      <vt:lpstr>Arial</vt:lpstr>
      <vt:lpstr>Arial Unicode MS</vt:lpstr>
      <vt:lpstr>Calibri</vt:lpstr>
      <vt:lpstr>Wingdings</vt:lpstr>
      <vt:lpstr>Office Theme</vt:lpstr>
      <vt:lpstr>„PowerPoint“ pateiktis</vt:lpstr>
      <vt:lpstr>Įžanga</vt:lpstr>
      <vt:lpstr>„PowerPoint“ pateiktis</vt:lpstr>
      <vt:lpstr>MUTABILITY</vt:lpstr>
      <vt:lpstr>Python container data types</vt:lpstr>
      <vt:lpstr>Kas yra Tuple?</vt:lpstr>
      <vt:lpstr>Tuple</vt:lpstr>
      <vt:lpstr>Tuple praktika</vt:lpstr>
      <vt:lpstr>Tuple metodai</vt:lpstr>
      <vt:lpstr>Kas yra Set?</vt:lpstr>
      <vt:lpstr>Set praktika</vt:lpstr>
      <vt:lpstr>Set operacijos</vt:lpstr>
      <vt:lpstr>Kada naudoti Tuple vs Set? </vt:lpstr>
      <vt:lpstr>Tuple vs Set</vt:lpstr>
      <vt:lpstr>Duomenų analitikos pavyzdys</vt:lpstr>
      <vt:lpstr>Santrauka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Žydrūnė Kelpšaitė</dc:creator>
  <cp:keywords/>
  <dc:description>generated using python-pptx</dc:description>
  <cp:lastModifiedBy>Žydrūnė Kelpšaitė</cp:lastModifiedBy>
  <cp:revision>3</cp:revision>
  <dcterms:created xsi:type="dcterms:W3CDTF">2013-01-27T09:14:16Z</dcterms:created>
  <dcterms:modified xsi:type="dcterms:W3CDTF">2026-01-22T11:43:15Z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0x010100753C69E30CD2E346B0231A1827D4E953</vt:lpwstr>
  </property>
</Properties>
</file>