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3" r:id="rId4"/>
  </p:sldMasterIdLst>
  <p:notesMasterIdLst>
    <p:notesMasterId r:id="rId31"/>
  </p:notesMasterIdLst>
  <p:sldIdLst>
    <p:sldId id="256" r:id="rId5"/>
    <p:sldId id="257" r:id="rId6"/>
    <p:sldId id="278" r:id="rId7"/>
    <p:sldId id="279" r:id="rId8"/>
    <p:sldId id="280" r:id="rId9"/>
    <p:sldId id="281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7559675" cy="10691813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83268" autoAdjust="0"/>
  </p:normalViewPr>
  <p:slideViewPr>
    <p:cSldViewPr snapToGrid="0">
      <p:cViewPr varScale="1">
        <p:scale>
          <a:sx n="84" d="100"/>
          <a:sy n="84" d="100"/>
        </p:scale>
        <p:origin x="179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modSld">
      <pc:chgData name="Žydrūnė Kelpšaitė" userId="e943768126acec1d" providerId="LiveId" clId="{31712FD7-FA85-48BA-9D35-5382388CFC74}" dt="2026-01-26T13:00:44.787" v="0" actId="1076"/>
      <pc:docMkLst>
        <pc:docMk/>
      </pc:docMkLst>
      <pc:sldChg chg="modSp mod">
        <pc:chgData name="Žydrūnė Kelpšaitė" userId="e943768126acec1d" providerId="LiveId" clId="{31712FD7-FA85-48BA-9D35-5382388CFC74}" dt="2026-01-26T13:00:44.787" v="0" actId="1076"/>
        <pc:sldMkLst>
          <pc:docMk/>
          <pc:sldMk cId="2325473711" sldId="279"/>
        </pc:sldMkLst>
        <pc:spChg chg="mod">
          <ac:chgData name="Žydrūnė Kelpšaitė" userId="e943768126acec1d" providerId="LiveId" clId="{31712FD7-FA85-48BA-9D35-5382388CFC74}" dt="2026-01-26T13:00:44.787" v="0" actId="1076"/>
          <ac:spMkLst>
            <pc:docMk/>
            <pc:sldMk cId="2325473711" sldId="279"/>
            <ac:spMk id="8" creationId="{44C213BC-774D-E388-5B64-FAC27EFA4CD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3:52:08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9472 7117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6C7F5-CF25-4C39-809F-BC9DA398DD62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AC791-4FA0-4644-948E-44C9512CEC1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027877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Built-in Functions</a:t>
            </a:r>
          </a:p>
          <a:p>
            <a:r>
              <a:rPr lang="en-US" dirty="0"/>
              <a:t>print(): Displays output</a:t>
            </a:r>
          </a:p>
          <a:p>
            <a:r>
              <a:rPr lang="en-US" dirty="0"/>
              <a:t>type(): Checks the data type of objects</a:t>
            </a:r>
          </a:p>
          <a:p>
            <a:r>
              <a:rPr lang="en-US" dirty="0"/>
              <a:t>range(): Generates a sequence of numbers, useful in loops</a:t>
            </a:r>
          </a:p>
          <a:p>
            <a:r>
              <a:rPr lang="en-US" dirty="0" err="1"/>
              <a:t>len</a:t>
            </a:r>
            <a:r>
              <a:rPr lang="en-US" dirty="0"/>
              <a:t>(): Counts the number of elements in a data structure</a:t>
            </a:r>
            <a:endParaRPr lang="lt-LT" dirty="0"/>
          </a:p>
          <a:p>
            <a:r>
              <a:rPr lang="en-US" dirty="0"/>
              <a:t>sum(), min(), max(): Basic statistical operations</a:t>
            </a:r>
          </a:p>
          <a:p>
            <a:r>
              <a:rPr lang="en-US" dirty="0"/>
              <a:t>sorted(): Sorts data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3991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Pvz.: f-ja my_experience – kiek metų darbo patirtis su Python </a:t>
            </a:r>
            <a:r>
              <a:rPr lang="lt-LT" dirty="0">
                <a:sym typeface="Wingdings" panose="05000000000000000000" pitchFamily="2" charset="2"/>
              </a:rPr>
              <a:t>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6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92369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8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70558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Default – nurodyta skaicius3</a:t>
            </a:r>
            <a:r>
              <a:rPr lang="en-US" dirty="0"/>
              <a:t>=1 </a:t>
            </a:r>
            <a:r>
              <a:rPr lang="en-US" dirty="0" err="1"/>
              <a:t>ir</a:t>
            </a:r>
            <a:r>
              <a:rPr lang="en-US" dirty="0"/>
              <a:t> bus lygus 1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11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1840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Kartais</a:t>
            </a:r>
            <a:r>
              <a:rPr lang="en-US" dirty="0"/>
              <a:t> </a:t>
            </a:r>
            <a:r>
              <a:rPr lang="en-US" dirty="0" err="1"/>
              <a:t>visiems</a:t>
            </a:r>
            <a:r>
              <a:rPr lang="en-US" dirty="0"/>
              <a:t> </a:t>
            </a:r>
            <a:r>
              <a:rPr lang="en-US" dirty="0" err="1"/>
              <a:t>argumentams</a:t>
            </a:r>
            <a:r>
              <a:rPr lang="en-US" dirty="0"/>
              <a:t> </a:t>
            </a:r>
            <a:r>
              <a:rPr lang="en-US" dirty="0" err="1"/>
              <a:t>priskiriamos</a:t>
            </a:r>
            <a:r>
              <a:rPr lang="en-US" dirty="0"/>
              <a:t> </a:t>
            </a:r>
            <a:r>
              <a:rPr lang="en-US" dirty="0" err="1"/>
              <a:t>reik</a:t>
            </a:r>
            <a:r>
              <a:rPr lang="lt-LT" dirty="0"/>
              <a:t>šmės – pagal poreikį – pvz. Skirtingi skaičiavimai pagal rinkas.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12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712130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Tokia tvarka, kaip parašyta grąžina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13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39597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Notes</a:t>
            </a:r>
          </a:p>
          <a:p>
            <a:r>
              <a:rPr lang="en-US" dirty="0"/>
              <a:t>lambda functions are small, anonymous functions.</a:t>
            </a:r>
          </a:p>
          <a:p>
            <a:r>
              <a:rPr lang="en-US" dirty="0"/>
              <a:t>They can have any number of arguments but only one expression.</a:t>
            </a:r>
          </a:p>
          <a:p>
            <a:r>
              <a:rPr lang="en-US" dirty="0"/>
              <a:t>The expression is evaluated and returned.</a:t>
            </a:r>
          </a:p>
          <a:p>
            <a:r>
              <a:rPr lang="en-US" dirty="0"/>
              <a:t>It has the syntax of: lambda arguments: expression.</a:t>
            </a:r>
          </a:p>
          <a:p>
            <a:r>
              <a:rPr lang="en-US" dirty="0"/>
              <a:t>Why would you use this?</a:t>
            </a:r>
          </a:p>
          <a:p>
            <a:r>
              <a:rPr lang="en-US" dirty="0"/>
              <a:t>Concise, it lets you write functions in a single line of code.</a:t>
            </a:r>
          </a:p>
          <a:p>
            <a:r>
              <a:rPr lang="en-US" dirty="0"/>
              <a:t>Since its anonymous it doesn't require a separate name like regular functions are defined using def keyword (it's good for when you need a function temporarily).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20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52584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7D6C-3416-CE3F-F452-892B7D758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E0253-2708-3EF1-7ED4-8C53CB5FB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5B551-FF3B-19B0-FCDF-54CBA2D2E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9978F-5F00-4CF8-929C-4E968D9F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69C8-D39B-6B9D-D0CE-F1B62DB4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311343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99E5-4F6F-E04E-C652-87C530C1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0CE0E-CE1E-38FC-5E42-2F313B7D4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9332B-6725-2D0F-D257-D21441B27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9EE2F-2E42-E8D9-9824-4D01F6D6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BE440-84A0-0CF9-C1AD-C0D7B534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367702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A57C-C3D3-0757-4566-54779F3B2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7E188-45EF-B770-EAC9-43CE8FB5D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ACE3A-F4AC-3E33-1F21-2CA29039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00A11-9B96-E2C6-0822-700D960B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6BD28-A0CB-265D-E111-B3B6F93D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72859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130A-996E-CB39-4FB9-E3011F3D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5060-77AB-E0D6-EDBD-B5C8E7AE8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93D20-B1AC-FE42-A3C1-B655CF299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2441E-F9F3-85A7-2BA2-BC19EABB8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BD38B-C29A-BCF9-81A2-C29FA604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DFD32-4D87-6189-F63B-A485ADEBE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641596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4600-0AEB-C565-2088-0B9E5EC3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890DC-3E0F-2599-EB0A-5E78A1C17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DACA7-2915-2979-3215-F65ED6468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36FF95-4402-3F52-BF5A-13342B8B1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B2824-A6E9-27E1-DE19-8368BB2EF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45FEE-98AE-DE97-5F6A-284F600F8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80ACF-C88F-C1D0-C62B-EC3F74E4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B2E34-A766-5097-3027-4D5B106D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1248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C52A9-1F29-9889-672A-59F154B4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ABC78-9D45-DBDD-C72B-AC01730E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C9BC1-CE46-C79D-59F6-53620CE7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255AD-029A-101B-65DC-D182FF9C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420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8A97A-D100-98F6-9E73-A04B497C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E381B-59DE-98C5-14D0-EF87E7D7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DCC0C-4556-D46D-BFBF-517D7857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56750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1B473-949D-81D5-7B36-78E397BB4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8F683-DED5-62F2-80CB-FB04FD551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45A33-878B-EE41-7E48-61AA5F7BF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482AD-BB2B-F5C7-16EF-C8633DF8A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7635A-0E78-C8A4-8187-0A0A7A4D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C5169-1D14-8167-C719-33301377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41276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01EC-97E1-FAE8-7F80-AA4E1DDD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17342-1EFD-70AA-4123-7E25E0E2D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35A42-F4BB-3EB0-4686-B95D39ADE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752CB-E620-FA96-C18D-3E874168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386DA-A9DC-9B52-EDA2-26345EF75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5B189-5C69-F790-09A9-839DCA421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01564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7B0B-2A8F-C70B-2EE5-72B230DC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34135-A13C-BAC2-ABE3-7A551A5E4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F347A-CFF5-92CB-C6A0-19ECF7208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FF5D1-261E-FF47-C636-CB5BD49E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5F94-6683-5CF8-EAA6-5C63B797C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1011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2C4A5-1490-4FE2-2E65-B4780F231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A92AC-CA2C-CB32-06F7-725BFDF62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6B5EA-7C08-8D03-3DF1-4231CE998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DA613-9447-6825-250A-888DF622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324D6-3FE4-8102-F34B-F56505F5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59357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80240" y="4373640"/>
            <a:ext cx="2342880" cy="2681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80240" y="460800"/>
            <a:ext cx="5614920" cy="452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742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3C25B-55CB-6CB6-D598-7717EE3AD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9E8D0-6C08-7276-2C7E-AD97AF2B5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D36EE-D5C2-6A08-C321-815E0C7B3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FE62C-7EE7-BB19-BD46-A0C7C3EFD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56A61-6757-A2CE-D9E2-7E76D975E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87567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codingbat.com/pytho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3"/>
          <p:cNvSpPr/>
          <p:nvPr/>
        </p:nvSpPr>
        <p:spPr>
          <a:xfrm>
            <a:off x="495720" y="5930280"/>
            <a:ext cx="2266920" cy="3371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lt-LT" sz="1600" b="1" spc="-1" dirty="0">
                <a:solidFill>
                  <a:srgbClr val="000000"/>
                </a:solidFill>
                <a:latin typeface="Arial"/>
              </a:rPr>
              <a:t>2025</a:t>
            </a:r>
            <a:endParaRPr lang="lt-LT" sz="1600" b="0" strike="noStrike" spc="-1" dirty="0">
              <a:latin typeface="Arial"/>
            </a:endParaRPr>
          </a:p>
        </p:txBody>
      </p:sp>
      <p:sp>
        <p:nvSpPr>
          <p:cNvPr id="2" name="TextShape 1">
            <a:extLst>
              <a:ext uri="{FF2B5EF4-FFF2-40B4-BE49-F238E27FC236}">
                <a16:creationId xmlns:a16="http://schemas.microsoft.com/office/drawing/2014/main" id="{28503BBA-3B95-D843-CED1-3C39FB670419}"/>
              </a:ext>
            </a:extLst>
          </p:cNvPr>
          <p:cNvSpPr txBox="1"/>
          <p:nvPr/>
        </p:nvSpPr>
        <p:spPr>
          <a:xfrm>
            <a:off x="1959429" y="590620"/>
            <a:ext cx="8608718" cy="23871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lt-LT" sz="4400" b="1" spc="-1" dirty="0">
                <a:solidFill>
                  <a:srgbClr val="000000"/>
                </a:solidFill>
                <a:latin typeface="Arial"/>
              </a:rPr>
              <a:t>Python Intro: </a:t>
            </a:r>
            <a:r>
              <a:rPr lang="en-US" sz="4400" b="1" spc="-1" dirty="0" err="1">
                <a:solidFill>
                  <a:srgbClr val="000000"/>
                </a:solidFill>
                <a:latin typeface="Arial"/>
                <a:ea typeface="Arial"/>
              </a:rPr>
              <a:t>Funkcijos</a:t>
            </a:r>
            <a:endParaRPr lang="lt-LT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EADF6AED-2CB7-CEEA-56AC-DCDFEE4EE037}"/>
              </a:ext>
            </a:extLst>
          </p:cNvPr>
          <p:cNvSpPr/>
          <p:nvPr/>
        </p:nvSpPr>
        <p:spPr>
          <a:xfrm>
            <a:off x="495720" y="5930280"/>
            <a:ext cx="2267280" cy="3371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lt-LT" sz="1600" b="1" spc="-1" dirty="0">
                <a:solidFill>
                  <a:srgbClr val="000000"/>
                </a:solidFill>
                <a:latin typeface="Arial"/>
              </a:rPr>
              <a:t>202</a:t>
            </a:r>
            <a:r>
              <a:rPr lang="en-US" sz="1600" b="1" spc="-1" dirty="0">
                <a:solidFill>
                  <a:srgbClr val="000000"/>
                </a:solidFill>
                <a:latin typeface="Arial"/>
              </a:rPr>
              <a:t>5</a:t>
            </a:r>
            <a:endParaRPr lang="lt-LT" sz="1600" b="0" strike="noStrike" spc="-1" dirty="0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E811D-DBE8-2761-FC30-63833819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028" y="5544463"/>
            <a:ext cx="2429214" cy="771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0885FE-5B5E-9FE9-BDB3-BAA01AFB8FEE}"/>
              </a:ext>
            </a:extLst>
          </p:cNvPr>
          <p:cNvSpPr txBox="1"/>
          <p:nvPr/>
        </p:nvSpPr>
        <p:spPr>
          <a:xfrm>
            <a:off x="3080658" y="3567713"/>
            <a:ext cx="662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3200" dirty="0"/>
              <a:t>Žydrūnė Kelpšaitė,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000000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36" name="CustomShape 2"/>
          <p:cNvSpPr/>
          <p:nvPr/>
        </p:nvSpPr>
        <p:spPr>
          <a:xfrm>
            <a:off x="480240" y="1371600"/>
            <a:ext cx="5153040" cy="136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Šiandien išmoksite</a:t>
            </a:r>
            <a:endParaRPr lang="lt-LT" sz="3000" b="0" strike="noStrike" spc="-1">
              <a:latin typeface="Arial"/>
            </a:endParaRPr>
          </a:p>
        </p:txBody>
      </p:sp>
      <p:sp>
        <p:nvSpPr>
          <p:cNvPr id="237" name="CustomShape 3"/>
          <p:cNvSpPr/>
          <p:nvPr/>
        </p:nvSpPr>
        <p:spPr>
          <a:xfrm>
            <a:off x="1398600" y="3329280"/>
            <a:ext cx="4235040" cy="4590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Kas yra funkcijos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238" name="CustomShape 4"/>
          <p:cNvSpPr/>
          <p:nvPr/>
        </p:nvSpPr>
        <p:spPr>
          <a:xfrm>
            <a:off x="1398600" y="4563720"/>
            <a:ext cx="4235040" cy="343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Kas yra lambda funkcijos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239" name="CustomShape 5"/>
          <p:cNvSpPr/>
          <p:nvPr/>
        </p:nvSpPr>
        <p:spPr>
          <a:xfrm>
            <a:off x="1398600" y="5697000"/>
            <a:ext cx="4456080" cy="330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Atlikti veiksmus naudojant funkcijas</a:t>
            </a:r>
            <a:endParaRPr lang="lt-LT" sz="1600" b="0" strike="noStrike" spc="-1">
              <a:latin typeface="Arial"/>
            </a:endParaRPr>
          </a:p>
        </p:txBody>
      </p:sp>
      <p:grpSp>
        <p:nvGrpSpPr>
          <p:cNvPr id="240" name="Group 6"/>
          <p:cNvGrpSpPr/>
          <p:nvPr/>
        </p:nvGrpSpPr>
        <p:grpSpPr>
          <a:xfrm>
            <a:off x="480240" y="3180600"/>
            <a:ext cx="730800" cy="730800"/>
            <a:chOff x="480240" y="3180600"/>
            <a:chExt cx="730800" cy="730800"/>
          </a:xfrm>
        </p:grpSpPr>
        <p:sp>
          <p:nvSpPr>
            <p:cNvPr id="241" name="CustomShape 7"/>
            <p:cNvSpPr/>
            <p:nvPr/>
          </p:nvSpPr>
          <p:spPr>
            <a:xfrm>
              <a:off x="480240" y="3180600"/>
              <a:ext cx="730800" cy="73080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42" name="CustomShape 8"/>
            <p:cNvSpPr/>
            <p:nvPr/>
          </p:nvSpPr>
          <p:spPr>
            <a:xfrm>
              <a:off x="633240" y="3348000"/>
              <a:ext cx="425160" cy="3952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01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243" name="Group 9"/>
          <p:cNvGrpSpPr/>
          <p:nvPr/>
        </p:nvGrpSpPr>
        <p:grpSpPr>
          <a:xfrm>
            <a:off x="480240" y="4369680"/>
            <a:ext cx="730800" cy="730800"/>
            <a:chOff x="480240" y="4369680"/>
            <a:chExt cx="730800" cy="730800"/>
          </a:xfrm>
        </p:grpSpPr>
        <p:sp>
          <p:nvSpPr>
            <p:cNvPr id="244" name="CustomShape 10"/>
            <p:cNvSpPr/>
            <p:nvPr/>
          </p:nvSpPr>
          <p:spPr>
            <a:xfrm>
              <a:off x="480240" y="4369680"/>
              <a:ext cx="730800" cy="73080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45" name="CustomShape 11"/>
            <p:cNvSpPr/>
            <p:nvPr/>
          </p:nvSpPr>
          <p:spPr>
            <a:xfrm>
              <a:off x="633240" y="4537440"/>
              <a:ext cx="425160" cy="3952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02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246" name="Group 12"/>
          <p:cNvGrpSpPr/>
          <p:nvPr/>
        </p:nvGrpSpPr>
        <p:grpSpPr>
          <a:xfrm>
            <a:off x="480240" y="5496840"/>
            <a:ext cx="730800" cy="730800"/>
            <a:chOff x="480240" y="5496840"/>
            <a:chExt cx="730800" cy="730800"/>
          </a:xfrm>
        </p:grpSpPr>
        <p:sp>
          <p:nvSpPr>
            <p:cNvPr id="247" name="CustomShape 13"/>
            <p:cNvSpPr/>
            <p:nvPr/>
          </p:nvSpPr>
          <p:spPr>
            <a:xfrm>
              <a:off x="480240" y="5496840"/>
              <a:ext cx="730800" cy="73080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48" name="CustomShape 14"/>
            <p:cNvSpPr/>
            <p:nvPr/>
          </p:nvSpPr>
          <p:spPr>
            <a:xfrm>
              <a:off x="633240" y="5664600"/>
              <a:ext cx="425160" cy="3952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03</a:t>
              </a:r>
              <a:endParaRPr lang="lt-LT" sz="2000" b="0" strike="noStrike" spc="-1">
                <a:latin typeface="Arial"/>
              </a:endParaRPr>
            </a:p>
          </p:txBody>
        </p:sp>
      </p:grpSp>
      <p:sp>
        <p:nvSpPr>
          <p:cNvPr id="249" name="CustomShape 15"/>
          <p:cNvSpPr/>
          <p:nvPr/>
        </p:nvSpPr>
        <p:spPr>
          <a:xfrm>
            <a:off x="7638480" y="3367800"/>
            <a:ext cx="4456080" cy="330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Iš funkcijos grąžinti norimą reikšmę</a:t>
            </a:r>
            <a:endParaRPr lang="lt-LT" sz="1600" b="0" strike="noStrike" spc="-1">
              <a:latin typeface="Arial"/>
            </a:endParaRPr>
          </a:p>
        </p:txBody>
      </p:sp>
      <p:grpSp>
        <p:nvGrpSpPr>
          <p:cNvPr id="250" name="Group 16"/>
          <p:cNvGrpSpPr/>
          <p:nvPr/>
        </p:nvGrpSpPr>
        <p:grpSpPr>
          <a:xfrm>
            <a:off x="6720120" y="3180600"/>
            <a:ext cx="730800" cy="730800"/>
            <a:chOff x="6720120" y="3180600"/>
            <a:chExt cx="730800" cy="730800"/>
          </a:xfrm>
        </p:grpSpPr>
        <p:sp>
          <p:nvSpPr>
            <p:cNvPr id="251" name="CustomShape 17"/>
            <p:cNvSpPr/>
            <p:nvPr/>
          </p:nvSpPr>
          <p:spPr>
            <a:xfrm>
              <a:off x="6720120" y="3180600"/>
              <a:ext cx="730800" cy="73080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52" name="CustomShape 18"/>
            <p:cNvSpPr/>
            <p:nvPr/>
          </p:nvSpPr>
          <p:spPr>
            <a:xfrm>
              <a:off x="6873120" y="3347280"/>
              <a:ext cx="425160" cy="3970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DejaVu Sans"/>
                </a:rPr>
                <a:t>04</a:t>
              </a:r>
              <a:endParaRPr lang="lt-LT" sz="20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7116-D979-8832-C0A6-276CDF4D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Functions</a:t>
            </a:r>
            <a:br>
              <a:rPr lang="lt-LT" dirty="0"/>
            </a:br>
            <a:endParaRPr lang="lt-L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453D0-D309-8234-890F-CB9D9582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60" y="1679020"/>
            <a:ext cx="7030620" cy="349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93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95932-3BFD-8863-FD9D-12105FF4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User-Defined Functions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57463" y="1690688"/>
            <a:ext cx="10206789" cy="37786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Sintaksė: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>
                <a:solidFill>
                  <a:schemeClr val="accent4">
                    <a:lumMod val="75000"/>
                  </a:schemeClr>
                </a:solidFill>
              </a:rPr>
              <a:t>def</a:t>
            </a:r>
            <a:r>
              <a:rPr lang="lt-LT" dirty="0"/>
              <a:t> funkcijos_pavadinimas(parametrai):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    veiksmai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    </a:t>
            </a:r>
            <a:r>
              <a:rPr lang="lt-LT" dirty="0">
                <a:solidFill>
                  <a:schemeClr val="accent4">
                    <a:lumMod val="75000"/>
                  </a:schemeClr>
                </a:solidFill>
              </a:rPr>
              <a:t>return</a:t>
            </a:r>
            <a:r>
              <a:rPr lang="lt-LT" dirty="0"/>
              <a:t> rezultatas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t-LT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Pavyzdys: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def kvadratas(x):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    return x **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213BC-774D-E388-5B64-FAC27EFA4CDF}"/>
              </a:ext>
            </a:extLst>
          </p:cNvPr>
          <p:cNvSpPr txBox="1"/>
          <p:nvPr/>
        </p:nvSpPr>
        <p:spPr>
          <a:xfrm>
            <a:off x="4963026" y="311835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Įspėjimas1: negalima naudoti Python standartinių pavadinimų.</a:t>
            </a:r>
          </a:p>
          <a:p>
            <a:r>
              <a:rPr lang="lt-LT" dirty="0"/>
              <a:t>Įspėjimas2: indentacija LABAI svarbu.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D0748A-9983-C2D7-CEE4-A820C87FB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189" y="5044019"/>
            <a:ext cx="7459811" cy="134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7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Kas yra funkcija?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Funkcija</a:t>
            </a:r>
            <a:r>
              <a:rPr dirty="0"/>
              <a:t> – tai </a:t>
            </a:r>
            <a:r>
              <a:rPr dirty="0" err="1"/>
              <a:t>kodo</a:t>
            </a:r>
            <a:r>
              <a:rPr dirty="0"/>
              <a:t> </a:t>
            </a:r>
            <a:r>
              <a:rPr dirty="0" err="1"/>
              <a:t>blokas</a:t>
            </a:r>
            <a:r>
              <a:rPr dirty="0"/>
              <a:t>, </a:t>
            </a:r>
            <a:r>
              <a:rPr dirty="0" err="1"/>
              <a:t>atliekantis</a:t>
            </a:r>
            <a:r>
              <a:rPr dirty="0"/>
              <a:t> tam </a:t>
            </a:r>
            <a:r>
              <a:rPr dirty="0" err="1"/>
              <a:t>tikrą</a:t>
            </a:r>
            <a:r>
              <a:rPr dirty="0"/>
              <a:t> </a:t>
            </a:r>
            <a:r>
              <a:rPr dirty="0" err="1"/>
              <a:t>užduotį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Galima </a:t>
            </a:r>
            <a:r>
              <a:rPr dirty="0" err="1"/>
              <a:t>naudoti</a:t>
            </a:r>
            <a:r>
              <a:rPr dirty="0"/>
              <a:t> </a:t>
            </a:r>
            <a:r>
              <a:rPr dirty="0" err="1"/>
              <a:t>daug</a:t>
            </a:r>
            <a:r>
              <a:rPr dirty="0"/>
              <a:t> </a:t>
            </a:r>
            <a:r>
              <a:rPr dirty="0" err="1"/>
              <a:t>kartų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Pagrindiniai</a:t>
            </a:r>
            <a:r>
              <a:rPr dirty="0"/>
              <a:t> </a:t>
            </a:r>
            <a:r>
              <a:rPr dirty="0" err="1"/>
              <a:t>privalumai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- Kodo </a:t>
            </a:r>
            <a:r>
              <a:rPr dirty="0" err="1"/>
              <a:t>pakartotinumas</a:t>
            </a:r>
            <a:endParaRPr dirty="0"/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Geresnis</a:t>
            </a:r>
            <a:r>
              <a:rPr dirty="0"/>
              <a:t> </a:t>
            </a:r>
            <a:r>
              <a:rPr dirty="0" err="1"/>
              <a:t>struktūravimas</a:t>
            </a:r>
            <a:endParaRPr dirty="0"/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Aiškumas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lengvesnis</a:t>
            </a:r>
            <a:r>
              <a:rPr dirty="0"/>
              <a:t> </a:t>
            </a:r>
            <a:r>
              <a:rPr dirty="0" err="1"/>
              <a:t>testavimas</a:t>
            </a:r>
            <a:r>
              <a:rPr lang="lt-LT" dirty="0"/>
              <a:t> tarpiniams skaičiavimams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Calling a Function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33D587-1807-EA2D-8948-2A8C09790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call a function, use the function name followed by parenthesis: </a:t>
            </a:r>
            <a:r>
              <a:rPr lang="en-US" b="1" dirty="0" err="1"/>
              <a:t>function_name</a:t>
            </a:r>
            <a:r>
              <a:rPr lang="en-US" b="1" dirty="0"/>
              <a:t>()</a:t>
            </a:r>
            <a:endParaRPr lang="lt-LT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230B36-3523-0CB2-FD76-572C181E4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879" y="4259147"/>
            <a:ext cx="3801765" cy="1002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5229D7-E90C-6AC3-C63C-23658DE03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125" y="2598853"/>
            <a:ext cx="3859519" cy="11492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54" name="CustomShape 2"/>
          <p:cNvSpPr/>
          <p:nvPr/>
        </p:nvSpPr>
        <p:spPr>
          <a:xfrm>
            <a:off x="6217920" y="3456720"/>
            <a:ext cx="5703480" cy="1029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su argumentais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55" name="Picture 3"/>
          <p:cNvPicPr/>
          <p:nvPr/>
        </p:nvPicPr>
        <p:blipFill>
          <a:blip r:embed="rId2"/>
          <a:stretch/>
        </p:blipFill>
        <p:spPr>
          <a:xfrm>
            <a:off x="1037880" y="1063080"/>
            <a:ext cx="3401640" cy="2819520"/>
          </a:xfrm>
          <a:prstGeom prst="rect">
            <a:avLst/>
          </a:prstGeom>
          <a:ln>
            <a:noFill/>
          </a:ln>
        </p:spPr>
      </p:pic>
      <p:pic>
        <p:nvPicPr>
          <p:cNvPr id="256" name="Picture 4"/>
          <p:cNvPicPr/>
          <p:nvPr/>
        </p:nvPicPr>
        <p:blipFill>
          <a:blip r:embed="rId3"/>
          <a:stretch/>
        </p:blipFill>
        <p:spPr>
          <a:xfrm>
            <a:off x="1042200" y="4338720"/>
            <a:ext cx="3407400" cy="1918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58" name="CustomShape 2"/>
          <p:cNvSpPr/>
          <p:nvPr/>
        </p:nvSpPr>
        <p:spPr>
          <a:xfrm>
            <a:off x="6361560" y="3430080"/>
            <a:ext cx="5832720" cy="698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be return trūkumas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59" name="Picture 3"/>
          <p:cNvPicPr/>
          <p:nvPr/>
        </p:nvPicPr>
        <p:blipFill>
          <a:blip r:embed="rId3"/>
          <a:stretch/>
        </p:blipFill>
        <p:spPr>
          <a:xfrm>
            <a:off x="296280" y="2437920"/>
            <a:ext cx="5172480" cy="2700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61" name="CustomShape 2"/>
          <p:cNvSpPr/>
          <p:nvPr/>
        </p:nvSpPr>
        <p:spPr>
          <a:xfrm>
            <a:off x="6361560" y="3114720"/>
            <a:ext cx="5832720" cy="117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su grąžinama reikšme (return)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62" name="Picture 7"/>
          <p:cNvPicPr/>
          <p:nvPr/>
        </p:nvPicPr>
        <p:blipFill>
          <a:blip r:embed="rId2"/>
          <a:stretch/>
        </p:blipFill>
        <p:spPr>
          <a:xfrm>
            <a:off x="419760" y="2216160"/>
            <a:ext cx="4997160" cy="2971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6217920" y="3427920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su keliais argumentais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65" name="Picture 3"/>
          <p:cNvPicPr/>
          <p:nvPr/>
        </p:nvPicPr>
        <p:blipFill>
          <a:blip r:embed="rId2"/>
          <a:stretch/>
        </p:blipFill>
        <p:spPr>
          <a:xfrm>
            <a:off x="353520" y="2997360"/>
            <a:ext cx="5028840" cy="1970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6217920" y="3427920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su nebūtinais argumentais 1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68" name="Picture 3"/>
          <p:cNvPicPr/>
          <p:nvPr/>
        </p:nvPicPr>
        <p:blipFill>
          <a:blip r:embed="rId3"/>
          <a:stretch/>
        </p:blipFill>
        <p:spPr>
          <a:xfrm>
            <a:off x="396720" y="2712960"/>
            <a:ext cx="5086440" cy="2653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70" name="CustomShape 2"/>
          <p:cNvSpPr/>
          <p:nvPr/>
        </p:nvSpPr>
        <p:spPr>
          <a:xfrm>
            <a:off x="6217920" y="3427920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su nebūtinais argumentais 2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71" name="Picture 3"/>
          <p:cNvPicPr/>
          <p:nvPr/>
        </p:nvPicPr>
        <p:blipFill>
          <a:blip r:embed="rId3"/>
          <a:stretch/>
        </p:blipFill>
        <p:spPr>
          <a:xfrm>
            <a:off x="325080" y="2705760"/>
            <a:ext cx="5201280" cy="2855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6217920" y="3427920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Kaip priskirti konkretų argumentą (-us)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74" name="Picture 3"/>
          <p:cNvPicPr/>
          <p:nvPr/>
        </p:nvPicPr>
        <p:blipFill>
          <a:blip r:embed="rId3"/>
          <a:stretch/>
        </p:blipFill>
        <p:spPr>
          <a:xfrm>
            <a:off x="281880" y="2886480"/>
            <a:ext cx="5244480" cy="2234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76" name="CustomShape 2"/>
          <p:cNvSpPr/>
          <p:nvPr/>
        </p:nvSpPr>
        <p:spPr>
          <a:xfrm>
            <a:off x="907983" y="208195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Funkcijos su neribotais argumentais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pic>
        <p:nvPicPr>
          <p:cNvPr id="277" name="Picture 3"/>
          <p:cNvPicPr/>
          <p:nvPr/>
        </p:nvPicPr>
        <p:blipFill>
          <a:blip r:embed="rId2"/>
          <a:stretch/>
        </p:blipFill>
        <p:spPr>
          <a:xfrm>
            <a:off x="784800" y="2018160"/>
            <a:ext cx="4238640" cy="39571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4880914-8669-6798-D5BF-338EE53FD116}"/>
                  </a:ext>
                </a:extLst>
              </p14:cNvPr>
              <p14:cNvContentPartPr/>
              <p14:nvPr/>
            </p14:nvContentPartPr>
            <p14:xfrm>
              <a:off x="2363056" y="2208944"/>
              <a:ext cx="9524" cy="9524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4880914-8669-6798-D5BF-338EE53FD1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6856" y="1732744"/>
                <a:ext cx="952400" cy="9524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55D1A84-8EB5-A255-CEEB-1DAFED6F557A}"/>
              </a:ext>
            </a:extLst>
          </p:cNvPr>
          <p:cNvSpPr txBox="1"/>
          <p:nvPr/>
        </p:nvSpPr>
        <p:spPr>
          <a:xfrm>
            <a:off x="6513095" y="2018160"/>
            <a:ext cx="5181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Arbitrary Arguments (*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endParaRPr lang="lt-LT" dirty="0"/>
          </a:p>
          <a:p>
            <a:r>
              <a:rPr lang="en-US" dirty="0"/>
              <a:t>If you're not sure how many arguments will be passed into your function, add a * before the parameter name in the function definition.</a:t>
            </a:r>
          </a:p>
          <a:p>
            <a:r>
              <a:rPr lang="en-US" dirty="0"/>
              <a:t>The function will now receive a tuple of arguments.</a:t>
            </a:r>
          </a:p>
          <a:p>
            <a:r>
              <a:rPr lang="en-US" dirty="0"/>
              <a:t>Arbitrary Arguments are often called *</a:t>
            </a:r>
            <a:r>
              <a:rPr lang="en-US" dirty="0" err="1"/>
              <a:t>args</a:t>
            </a:r>
            <a:r>
              <a:rPr lang="en-US" dirty="0"/>
              <a:t>.</a:t>
            </a:r>
            <a:endParaRPr lang="lt-LT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79" name="CustomShape 2"/>
          <p:cNvSpPr/>
          <p:nvPr/>
        </p:nvSpPr>
        <p:spPr>
          <a:xfrm>
            <a:off x="3644900" y="266700"/>
            <a:ext cx="8177140" cy="1092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Funkcijos su neribotais argumentais 2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pic>
        <p:nvPicPr>
          <p:cNvPr id="280" name="Picture 3"/>
          <p:cNvPicPr/>
          <p:nvPr/>
        </p:nvPicPr>
        <p:blipFill>
          <a:blip r:embed="rId2"/>
          <a:stretch/>
        </p:blipFill>
        <p:spPr>
          <a:xfrm>
            <a:off x="631387" y="1714834"/>
            <a:ext cx="6699855" cy="3428332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B4E4BD-4F18-AC26-F99E-DB30FEA04154}"/>
              </a:ext>
            </a:extLst>
          </p:cNvPr>
          <p:cNvSpPr txBox="1"/>
          <p:nvPr/>
        </p:nvSpPr>
        <p:spPr>
          <a:xfrm>
            <a:off x="8303894" y="1577340"/>
            <a:ext cx="31603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Arbitrary Keyword Arguments (**</a:t>
            </a:r>
            <a:r>
              <a:rPr lang="en-US" dirty="0" err="1"/>
              <a:t>Kwargs</a:t>
            </a:r>
            <a:r>
              <a:rPr lang="en-US" dirty="0"/>
              <a:t>)</a:t>
            </a:r>
            <a:endParaRPr lang="lt-LT" dirty="0"/>
          </a:p>
          <a:p>
            <a:endParaRPr lang="en-US" dirty="0"/>
          </a:p>
          <a:p>
            <a:r>
              <a:rPr lang="en-US" dirty="0"/>
              <a:t>If you don't know how many keyword arguments will be passed into the function, add two asterisk ** before the parameter name in the function definition.</a:t>
            </a:r>
          </a:p>
          <a:p>
            <a:r>
              <a:rPr lang="en-US" dirty="0"/>
              <a:t>This will have the function receive a dictionary of arguments</a:t>
            </a:r>
            <a:endParaRPr lang="lt-LT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82" name="CustomShape 2"/>
          <p:cNvSpPr/>
          <p:nvPr/>
        </p:nvSpPr>
        <p:spPr>
          <a:xfrm>
            <a:off x="2141672" y="348840"/>
            <a:ext cx="8970828" cy="10354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Funkcijos su įprastais ir neribotais argumentais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pic>
        <p:nvPicPr>
          <p:cNvPr id="283" name="Picture 3"/>
          <p:cNvPicPr/>
          <p:nvPr/>
        </p:nvPicPr>
        <p:blipFill>
          <a:blip r:embed="rId2"/>
          <a:stretch/>
        </p:blipFill>
        <p:spPr>
          <a:xfrm>
            <a:off x="1949780" y="1384300"/>
            <a:ext cx="9302420" cy="316504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85" name="CustomShape 2"/>
          <p:cNvSpPr/>
          <p:nvPr/>
        </p:nvSpPr>
        <p:spPr>
          <a:xfrm>
            <a:off x="1468120" y="294480"/>
            <a:ext cx="9822180" cy="1026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Funkcijos su įprastais ir neribotais argumentais 2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pic>
        <p:nvPicPr>
          <p:cNvPr id="286" name="Picture 3"/>
          <p:cNvPicPr/>
          <p:nvPr/>
        </p:nvPicPr>
        <p:blipFill>
          <a:blip r:embed="rId2"/>
          <a:stretch/>
        </p:blipFill>
        <p:spPr>
          <a:xfrm>
            <a:off x="1590450" y="1778000"/>
            <a:ext cx="9009420" cy="4113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88" name="CustomShape 2"/>
          <p:cNvSpPr/>
          <p:nvPr/>
        </p:nvSpPr>
        <p:spPr>
          <a:xfrm>
            <a:off x="2725420" y="402660"/>
            <a:ext cx="5832720" cy="569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Globalūs ir lokalūs kintamieji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89" name="Picture 3"/>
          <p:cNvPicPr/>
          <p:nvPr/>
        </p:nvPicPr>
        <p:blipFill>
          <a:blip r:embed="rId2"/>
          <a:stretch/>
        </p:blipFill>
        <p:spPr>
          <a:xfrm>
            <a:off x="1802260" y="1378640"/>
            <a:ext cx="6755880" cy="4100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91" name="CustomShape 2"/>
          <p:cNvSpPr/>
          <p:nvPr/>
        </p:nvSpPr>
        <p:spPr>
          <a:xfrm>
            <a:off x="6217920" y="3427920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komentavimas (Dostring)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92" name="Picture 3"/>
          <p:cNvPicPr/>
          <p:nvPr/>
        </p:nvPicPr>
        <p:blipFill>
          <a:blip r:embed="rId2"/>
          <a:stretch/>
        </p:blipFill>
        <p:spPr>
          <a:xfrm>
            <a:off x="698760" y="1305360"/>
            <a:ext cx="4295520" cy="2320560"/>
          </a:xfrm>
          <a:prstGeom prst="rect">
            <a:avLst/>
          </a:prstGeom>
          <a:ln>
            <a:noFill/>
          </a:ln>
        </p:spPr>
      </p:pic>
      <p:pic>
        <p:nvPicPr>
          <p:cNvPr id="293" name="Picture 4"/>
          <p:cNvPicPr/>
          <p:nvPr/>
        </p:nvPicPr>
        <p:blipFill>
          <a:blip r:embed="rId3"/>
          <a:stretch/>
        </p:blipFill>
        <p:spPr>
          <a:xfrm>
            <a:off x="698760" y="3989520"/>
            <a:ext cx="4381920" cy="2085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95" name="CustomShape 2"/>
          <p:cNvSpPr/>
          <p:nvPr/>
        </p:nvSpPr>
        <p:spPr>
          <a:xfrm>
            <a:off x="5765800" y="2723400"/>
            <a:ext cx="6210300" cy="1594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Anoniminės (Lambda) funkcijos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sp>
        <p:nvSpPr>
          <p:cNvPr id="296" name="CustomShape 3"/>
          <p:cNvSpPr/>
          <p:nvPr/>
        </p:nvSpPr>
        <p:spPr>
          <a:xfrm>
            <a:off x="6099840" y="3425400"/>
            <a:ext cx="5778720" cy="17395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Tai supaprastinta funkcija, paprastai naudojama tik kartą, visas kodas telpa vienoje eilutėje.</a:t>
            </a:r>
            <a:endParaRPr lang="lt-LT" sz="1600" b="0" strike="noStrike" spc="-1">
              <a:latin typeface="Arial"/>
            </a:endParaRPr>
          </a:p>
        </p:txBody>
      </p:sp>
      <p:pic>
        <p:nvPicPr>
          <p:cNvPr id="297" name="Picture 3"/>
          <p:cNvPicPr/>
          <p:nvPr/>
        </p:nvPicPr>
        <p:blipFill>
          <a:blip r:embed="rId3"/>
          <a:stretch/>
        </p:blipFill>
        <p:spPr>
          <a:xfrm>
            <a:off x="1263960" y="279400"/>
            <a:ext cx="2534040" cy="1175170"/>
          </a:xfrm>
          <a:prstGeom prst="rect">
            <a:avLst/>
          </a:prstGeom>
          <a:ln>
            <a:noFill/>
          </a:ln>
        </p:spPr>
      </p:pic>
      <p:pic>
        <p:nvPicPr>
          <p:cNvPr id="298" name="Picture 4"/>
          <p:cNvPicPr/>
          <p:nvPr/>
        </p:nvPicPr>
        <p:blipFill>
          <a:blip r:embed="rId4"/>
          <a:stretch/>
        </p:blipFill>
        <p:spPr>
          <a:xfrm>
            <a:off x="1263960" y="1729800"/>
            <a:ext cx="2534040" cy="666720"/>
          </a:xfrm>
          <a:prstGeom prst="rect">
            <a:avLst/>
          </a:prstGeom>
          <a:ln>
            <a:noFill/>
          </a:ln>
        </p:spPr>
      </p:pic>
      <p:pic>
        <p:nvPicPr>
          <p:cNvPr id="299" name="Picture 5"/>
          <p:cNvPicPr/>
          <p:nvPr/>
        </p:nvPicPr>
        <p:blipFill>
          <a:blip r:embed="rId5"/>
          <a:stretch/>
        </p:blipFill>
        <p:spPr>
          <a:xfrm>
            <a:off x="1263960" y="2606800"/>
            <a:ext cx="3371540" cy="1398390"/>
          </a:xfrm>
          <a:prstGeom prst="rect">
            <a:avLst/>
          </a:prstGeom>
          <a:ln>
            <a:noFill/>
          </a:ln>
        </p:spPr>
      </p:pic>
      <p:pic>
        <p:nvPicPr>
          <p:cNvPr id="300" name="Picture 6"/>
          <p:cNvPicPr/>
          <p:nvPr/>
        </p:nvPicPr>
        <p:blipFill>
          <a:blip r:embed="rId6"/>
          <a:stretch/>
        </p:blipFill>
        <p:spPr>
          <a:xfrm>
            <a:off x="1263960" y="4456800"/>
            <a:ext cx="3762000" cy="1650240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A8590C-0CC2-210D-1C3F-3E828F92A034}"/>
              </a:ext>
            </a:extLst>
          </p:cNvPr>
          <p:cNvSpPr txBox="1"/>
          <p:nvPr/>
        </p:nvSpPr>
        <p:spPr>
          <a:xfrm>
            <a:off x="6288505" y="657726"/>
            <a:ext cx="3978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Lambda sintaksė</a:t>
            </a:r>
          </a:p>
          <a:p>
            <a:r>
              <a:rPr lang="lt-LT" b="1" dirty="0"/>
              <a:t>lambda arguments: expression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302" name="CustomShape 2"/>
          <p:cNvSpPr/>
          <p:nvPr/>
        </p:nvSpPr>
        <p:spPr>
          <a:xfrm>
            <a:off x="2381980" y="460800"/>
            <a:ext cx="7905020" cy="7171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Anoniminės (Lambda) funkcijos 2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pic>
        <p:nvPicPr>
          <p:cNvPr id="303" name="Picture 7"/>
          <p:cNvPicPr/>
          <p:nvPr/>
        </p:nvPicPr>
        <p:blipFill>
          <a:blip r:embed="rId2"/>
          <a:stretch/>
        </p:blipFill>
        <p:spPr>
          <a:xfrm>
            <a:off x="762780" y="1541020"/>
            <a:ext cx="6946120" cy="1664060"/>
          </a:xfrm>
          <a:prstGeom prst="rect">
            <a:avLst/>
          </a:prstGeom>
          <a:ln>
            <a:noFill/>
          </a:ln>
        </p:spPr>
      </p:pic>
      <p:pic>
        <p:nvPicPr>
          <p:cNvPr id="304" name="Picture 8"/>
          <p:cNvPicPr/>
          <p:nvPr/>
        </p:nvPicPr>
        <p:blipFill>
          <a:blip r:embed="rId3"/>
          <a:stretch/>
        </p:blipFill>
        <p:spPr>
          <a:xfrm>
            <a:off x="762780" y="3832420"/>
            <a:ext cx="6946120" cy="134103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grpSp>
        <p:nvGrpSpPr>
          <p:cNvPr id="306" name="Group 2"/>
          <p:cNvGrpSpPr/>
          <p:nvPr/>
        </p:nvGrpSpPr>
        <p:grpSpPr>
          <a:xfrm>
            <a:off x="479880" y="898200"/>
            <a:ext cx="1834560" cy="463680"/>
            <a:chOff x="479880" y="898200"/>
            <a:chExt cx="1834560" cy="463680"/>
          </a:xfrm>
        </p:grpSpPr>
        <p:sp>
          <p:nvSpPr>
            <p:cNvPr id="307" name="CustomShape 3"/>
            <p:cNvSpPr/>
            <p:nvPr/>
          </p:nvSpPr>
          <p:spPr>
            <a:xfrm>
              <a:off x="479880" y="898200"/>
              <a:ext cx="1834560" cy="46368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08" name="CustomShape 4"/>
            <p:cNvSpPr/>
            <p:nvPr/>
          </p:nvSpPr>
          <p:spPr>
            <a:xfrm>
              <a:off x="593640" y="962640"/>
              <a:ext cx="1607040" cy="3340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1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09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280" cy="5227560"/>
          </a:xfrm>
          <a:prstGeom prst="rect">
            <a:avLst/>
          </a:prstGeom>
          <a:ln w="12600">
            <a:noFill/>
          </a:ln>
        </p:spPr>
      </p:pic>
      <p:sp>
        <p:nvSpPr>
          <p:cNvPr id="310" name="CustomShape 5"/>
          <p:cNvSpPr/>
          <p:nvPr/>
        </p:nvSpPr>
        <p:spPr>
          <a:xfrm>
            <a:off x="594000" y="1832400"/>
            <a:ext cx="10718640" cy="4564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Sukurkite ir išsibandykite funkcijas, kurios: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Gražinti trijų paduotų skaičių sumą.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Gražintų paduoto sąrašo iš skaičių, sumą.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 didžiausią iš kelių paduotų skaičių (panaudojant *</a:t>
            </a:r>
            <a:r>
              <a:rPr lang="lt-LT" sz="16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args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).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Gražintų paduotą stringą atbulai.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Atspausdintų, kiek paduotame </a:t>
            </a:r>
            <a:r>
              <a:rPr lang="lt-LT" sz="16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stringe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yra žodžių, didžiųjų ir mažųjų raidžių, skaičių.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Gražintų sąrašą tik su unikaliais paduoto sąrašo elementais.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Gražintų, ar paduotas skaičius yra pirminis.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Išrikiuotų paduoto </a:t>
            </a:r>
            <a:r>
              <a:rPr lang="lt-LT" sz="16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stringo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žodžius nuo paskutinio iki pirmojo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Gražina, ar paduoti metai yra keliamieji, ar ne.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Atspausdina, kiek nuo paduotos sukakties praėjo metų, mėnesių, dienų, valandų, minučių, sekundžių.</a:t>
            </a:r>
            <a:endParaRPr lang="lt-LT" sz="16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grpSp>
        <p:nvGrpSpPr>
          <p:cNvPr id="312" name="Group 2"/>
          <p:cNvGrpSpPr/>
          <p:nvPr/>
        </p:nvGrpSpPr>
        <p:grpSpPr>
          <a:xfrm>
            <a:off x="479880" y="898200"/>
            <a:ext cx="1834560" cy="463680"/>
            <a:chOff x="479880" y="898200"/>
            <a:chExt cx="1834560" cy="463680"/>
          </a:xfrm>
        </p:grpSpPr>
        <p:sp>
          <p:nvSpPr>
            <p:cNvPr id="313" name="CustomShape 3"/>
            <p:cNvSpPr/>
            <p:nvPr/>
          </p:nvSpPr>
          <p:spPr>
            <a:xfrm>
              <a:off x="479880" y="898200"/>
              <a:ext cx="1834560" cy="46368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14" name="CustomShape 4"/>
            <p:cNvSpPr/>
            <p:nvPr/>
          </p:nvSpPr>
          <p:spPr>
            <a:xfrm>
              <a:off x="593640" y="962280"/>
              <a:ext cx="1607040" cy="3351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2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15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280" cy="5227560"/>
          </a:xfrm>
          <a:prstGeom prst="rect">
            <a:avLst/>
          </a:prstGeom>
          <a:ln w="12600">
            <a:noFill/>
          </a:ln>
        </p:spPr>
      </p:pic>
      <p:sp>
        <p:nvSpPr>
          <p:cNvPr id="316" name="CustomShape 5"/>
          <p:cNvSpPr/>
          <p:nvPr/>
        </p:nvSpPr>
        <p:spPr>
          <a:xfrm>
            <a:off x="594000" y="1832400"/>
            <a:ext cx="10718640" cy="4564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Sukurti funkciją, kuri patikrintų, ar paduotas Lietuvos piliečio asmens kodas yra validus.</a:t>
            </a:r>
            <a:endParaRPr lang="lt-LT" sz="16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Padaryti, kad programa sugeneruotų teisingą asmens kodą (panaudojus anksčiau sukurtą funkciją) pagal įvestą lytį, gimimo datą ir eilės numerį).</a:t>
            </a:r>
            <a:endParaRPr lang="lt-LT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grpSp>
        <p:nvGrpSpPr>
          <p:cNvPr id="318" name="Group 2"/>
          <p:cNvGrpSpPr/>
          <p:nvPr/>
        </p:nvGrpSpPr>
        <p:grpSpPr>
          <a:xfrm>
            <a:off x="479880" y="898200"/>
            <a:ext cx="1834560" cy="463680"/>
            <a:chOff x="479880" y="898200"/>
            <a:chExt cx="1834560" cy="463680"/>
          </a:xfrm>
        </p:grpSpPr>
        <p:sp>
          <p:nvSpPr>
            <p:cNvPr id="319" name="CustomShape 3"/>
            <p:cNvSpPr/>
            <p:nvPr/>
          </p:nvSpPr>
          <p:spPr>
            <a:xfrm>
              <a:off x="479880" y="898200"/>
              <a:ext cx="1834560" cy="46368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20" name="CustomShape 4"/>
            <p:cNvSpPr/>
            <p:nvPr/>
          </p:nvSpPr>
          <p:spPr>
            <a:xfrm>
              <a:off x="593640" y="962280"/>
              <a:ext cx="1607040" cy="3351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3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21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280" cy="5227560"/>
          </a:xfrm>
          <a:prstGeom prst="rect">
            <a:avLst/>
          </a:prstGeom>
          <a:ln w="12600">
            <a:noFill/>
          </a:ln>
        </p:spPr>
      </p:pic>
      <p:sp>
        <p:nvSpPr>
          <p:cNvPr id="322" name="CustomShape 5"/>
          <p:cNvSpPr/>
          <p:nvPr/>
        </p:nvSpPr>
        <p:spPr>
          <a:xfrm>
            <a:off x="594000" y="1832400"/>
            <a:ext cx="10718640" cy="4564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Sukurti funkciją, kuri grąžintų True reikšmę, jei įvesto skaičiaus pirma skaitmenų pusė yra lygi antrąjai, priešingu atveju grąžintų False.</a:t>
            </a:r>
            <a:endParaRPr lang="lt-LT" sz="16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Parašyti funkciją, kuri grąžintų, kiekvieno elemento gretimą skaičių. Pvz:</a:t>
            </a:r>
            <a:endParaRPr lang="lt-LT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      Input: 5678</a:t>
            </a:r>
            <a:endParaRPr lang="lt-LT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      Output: 5 – 46, 6 – 57, 7 – 68, 8 - 79</a:t>
            </a:r>
            <a:endParaRPr lang="lt-LT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300" b="0" strike="noStrike" spc="-1">
              <a:latin typeface="Arial"/>
            </a:endParaRPr>
          </a:p>
        </p:txBody>
      </p:sp>
      <p:grpSp>
        <p:nvGrpSpPr>
          <p:cNvPr id="324" name="Group 2"/>
          <p:cNvGrpSpPr/>
          <p:nvPr/>
        </p:nvGrpSpPr>
        <p:grpSpPr>
          <a:xfrm>
            <a:off x="480240" y="914400"/>
            <a:ext cx="1834560" cy="463680"/>
            <a:chOff x="480240" y="914400"/>
            <a:chExt cx="1834560" cy="463680"/>
          </a:xfrm>
        </p:grpSpPr>
        <p:sp>
          <p:nvSpPr>
            <p:cNvPr id="325" name="CustomShape 3"/>
            <p:cNvSpPr/>
            <p:nvPr/>
          </p:nvSpPr>
          <p:spPr>
            <a:xfrm>
              <a:off x="480240" y="914400"/>
              <a:ext cx="1834560" cy="4636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26" name="CustomShape 4"/>
            <p:cNvSpPr/>
            <p:nvPr/>
          </p:nvSpPr>
          <p:spPr>
            <a:xfrm>
              <a:off x="594000" y="978840"/>
              <a:ext cx="1607040" cy="3340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000000"/>
                  </a:solidFill>
                  <a:latin typeface="Arial"/>
                  <a:ea typeface="Arial"/>
                </a:rPr>
                <a:t>Namų darbas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27" name="Picture Placeholder 2"/>
          <p:cNvPicPr/>
          <p:nvPr/>
        </p:nvPicPr>
        <p:blipFill>
          <a:blip r:embed="rId2"/>
          <a:stretch/>
        </p:blipFill>
        <p:spPr>
          <a:xfrm>
            <a:off x="479880" y="1441440"/>
            <a:ext cx="11231280" cy="5227560"/>
          </a:xfrm>
          <a:prstGeom prst="rect">
            <a:avLst/>
          </a:prstGeom>
          <a:ln w="12600">
            <a:noFill/>
          </a:ln>
        </p:spPr>
      </p:pic>
      <p:sp>
        <p:nvSpPr>
          <p:cNvPr id="328" name="CustomShape 5"/>
          <p:cNvSpPr/>
          <p:nvPr/>
        </p:nvSpPr>
        <p:spPr>
          <a:xfrm>
            <a:off x="594000" y="1832400"/>
            <a:ext cx="10718640" cy="4564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Užbaigti klasėje nepadarytas užduotis</a:t>
            </a:r>
            <a:endParaRPr lang="lt-LT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000000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300" b="0" strike="noStrike" spc="-1">
              <a:latin typeface="Arial"/>
            </a:endParaRPr>
          </a:p>
        </p:txBody>
      </p:sp>
      <p:sp>
        <p:nvSpPr>
          <p:cNvPr id="330" name="CustomShape 2"/>
          <p:cNvSpPr/>
          <p:nvPr/>
        </p:nvSpPr>
        <p:spPr>
          <a:xfrm>
            <a:off x="3281760" y="1821960"/>
            <a:ext cx="3750120" cy="329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Python Functions</a:t>
            </a:r>
            <a:endParaRPr lang="lt-LT" sz="1600" b="0" strike="noStrike" spc="-1" dirty="0">
              <a:latin typeface="Arial"/>
            </a:endParaRPr>
          </a:p>
        </p:txBody>
      </p:sp>
      <p:sp>
        <p:nvSpPr>
          <p:cNvPr id="331" name="CustomShape 3"/>
          <p:cNvSpPr/>
          <p:nvPr/>
        </p:nvSpPr>
        <p:spPr>
          <a:xfrm>
            <a:off x="3281760" y="2171520"/>
            <a:ext cx="3750120" cy="5036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Info apie asmens kodo sudarymą 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332" name="CustomShape 4"/>
          <p:cNvSpPr/>
          <p:nvPr/>
        </p:nvSpPr>
        <p:spPr>
          <a:xfrm>
            <a:off x="480240" y="5032080"/>
            <a:ext cx="2342880" cy="136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Naudinga informacija</a:t>
            </a:r>
            <a:endParaRPr lang="lt-LT" sz="3000" b="0" strike="noStrike" spc="-1">
              <a:latin typeface="Arial"/>
            </a:endParaRPr>
          </a:p>
        </p:txBody>
      </p:sp>
      <p:sp>
        <p:nvSpPr>
          <p:cNvPr id="333" name="CustomShape 5"/>
          <p:cNvSpPr/>
          <p:nvPr/>
        </p:nvSpPr>
        <p:spPr>
          <a:xfrm>
            <a:off x="7503480" y="1821960"/>
            <a:ext cx="4207320" cy="790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u="sng" strike="noStrike" spc="-1" dirty="0">
                <a:solidFill>
                  <a:srgbClr val="0000FF"/>
                </a:solidFill>
                <a:uFillTx/>
                <a:latin typeface="Arial"/>
                <a:ea typeface="Arial"/>
              </a:rPr>
              <a:t>https://www.w3schools.com/python/python_functions.asp</a:t>
            </a:r>
            <a:endParaRPr lang="lt-LT" sz="1600" b="0" strike="noStrike" spc="-1" dirty="0">
              <a:latin typeface="Arial"/>
            </a:endParaRPr>
          </a:p>
        </p:txBody>
      </p:sp>
      <p:sp>
        <p:nvSpPr>
          <p:cNvPr id="334" name="CustomShape 6"/>
          <p:cNvSpPr/>
          <p:nvPr/>
        </p:nvSpPr>
        <p:spPr>
          <a:xfrm>
            <a:off x="3276000" y="2736360"/>
            <a:ext cx="3750120" cy="329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Codingbat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335" name="CustomShape 7"/>
          <p:cNvSpPr/>
          <p:nvPr/>
        </p:nvSpPr>
        <p:spPr>
          <a:xfrm>
            <a:off x="3276000" y="3085920"/>
            <a:ext cx="3750120" cy="5036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Užduotys Python praktikai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336" name="CustomShape 8"/>
          <p:cNvSpPr/>
          <p:nvPr/>
        </p:nvSpPr>
        <p:spPr>
          <a:xfrm>
            <a:off x="7497720" y="2736360"/>
            <a:ext cx="4207320" cy="790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u="sng" strike="noStrike" spc="-1" dirty="0">
                <a:solidFill>
                  <a:srgbClr val="0000FF"/>
                </a:solidFill>
                <a:uFillTx/>
                <a:latin typeface="Arial"/>
                <a:ea typeface="Arial"/>
                <a:hlinkClick r:id="rId2"/>
              </a:rPr>
              <a:t>codingbat.com</a:t>
            </a:r>
            <a:endParaRPr lang="lt-LT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b74e56a-683e-4ac4-9917-2810b22b5cab" xsi:nil="true"/>
    <lcf76f155ced4ddcb4097134ff3c332f xmlns="662e3587-765d-4918-9d92-5b93275042d2">
      <Terms xmlns="http://schemas.microsoft.com/office/infopath/2007/PartnerControls"/>
    </lcf76f155ced4ddcb4097134ff3c332f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AppVersion xmlns="662e3587-765d-4918-9d92-5b93275042d2">16.0000</AppVersion>
    <Self_Registration_Enabled xmlns="662e3587-765d-4918-9d92-5b93275042d2" xsi:nil="true"/>
    <Has_Teacher_Only_SectionGroup xmlns="662e3587-765d-4918-9d92-5b93275042d2" xsi:nil="true"/>
    <Students xmlns="662e3587-765d-4918-9d92-5b93275042d2">
      <UserInfo>
        <DisplayName/>
        <AccountId xsi:nil="true"/>
        <AccountType/>
      </UserInfo>
    </Student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1685C1-BA87-40DA-890B-AB4D24362F65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62f0fa9f-d35e-4a7f-aed7-55df17063d92"/>
    <ds:schemaRef ds:uri="e94fbb91-2895-466f-9cdd-164826e0ab54"/>
    <ds:schemaRef ds:uri="a096cfbe-4c61-494e-bff5-64e199b38fcb"/>
    <ds:schemaRef ds:uri="f28779d8-c7c5-41c1-b153-b6dab8716fec"/>
  </ds:schemaRefs>
</ds:datastoreItem>
</file>

<file path=customXml/itemProps2.xml><?xml version="1.0" encoding="utf-8"?>
<ds:datastoreItem xmlns:ds="http://schemas.openxmlformats.org/officeDocument/2006/customXml" ds:itemID="{6935F441-5759-46CB-9F70-39ADF2143C8E}"/>
</file>

<file path=customXml/itemProps3.xml><?xml version="1.0" encoding="utf-8"?>
<ds:datastoreItem xmlns:ds="http://schemas.openxmlformats.org/officeDocument/2006/customXml" ds:itemID="{3C5D392E-81A2-4371-A12D-051CB516E0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10811</TotalTime>
  <Words>853</Words>
  <Application>Microsoft Office PowerPoint</Application>
  <PresentationFormat>Plačiaekranė</PresentationFormat>
  <Paragraphs>169</Paragraphs>
  <Slides>26</Slides>
  <Notes>7</Notes>
  <HiddenSlides>0</HiddenSlides>
  <MMClips>0</MMClips>
  <ScaleCrop>false</ScaleCrop>
  <HeadingPairs>
    <vt:vector size="6" baseType="variant">
      <vt:variant>
        <vt:lpstr>Naudojami šriftai</vt:lpstr>
      </vt:variant>
      <vt:variant>
        <vt:i4>5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StarSymbol</vt:lpstr>
      <vt:lpstr>Wingdings</vt:lpstr>
      <vt:lpstr>Office Theme</vt:lpstr>
      <vt:lpstr>„PowerPoint“ pateiktis</vt:lpstr>
      <vt:lpstr>„PowerPoint“ pateiktis</vt:lpstr>
      <vt:lpstr>Types of Functions </vt:lpstr>
      <vt:lpstr>User-Defined Functions</vt:lpstr>
      <vt:lpstr>Kas yra funkcija?</vt:lpstr>
      <vt:lpstr>Calling a Function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Gediminas Anza</dc:creator>
  <dc:description/>
  <cp:lastModifiedBy>Žydrūnė Kelpšaitė</cp:lastModifiedBy>
  <cp:revision>387</cp:revision>
  <dcterms:modified xsi:type="dcterms:W3CDTF">2026-01-26T13:00:55Z</dcterms:modified>
  <dc:language>lt-LT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22</vt:i4>
  </property>
  <property fmtid="{D5CDD505-2E9C-101B-9397-08002B2CF9AE}" pid="12" name="ContentTypeId">
    <vt:lpwstr>0x010100753C69E30CD2E346B0231A1827D4E953</vt:lpwstr>
  </property>
</Properties>
</file>