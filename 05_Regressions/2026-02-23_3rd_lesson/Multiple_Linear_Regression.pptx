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4"/>
  </p:sldMasterIdLst>
  <p:notesMasterIdLst>
    <p:notesMasterId r:id="rId46"/>
  </p:notesMasterIdLst>
  <p:sldIdLst>
    <p:sldId id="279" r:id="rId5"/>
    <p:sldId id="260" r:id="rId6"/>
    <p:sldId id="275" r:id="rId7"/>
    <p:sldId id="274" r:id="rId8"/>
    <p:sldId id="280" r:id="rId9"/>
    <p:sldId id="281" r:id="rId10"/>
    <p:sldId id="284" r:id="rId11"/>
    <p:sldId id="270" r:id="rId12"/>
    <p:sldId id="286" r:id="rId13"/>
    <p:sldId id="287" r:id="rId14"/>
    <p:sldId id="288" r:id="rId15"/>
    <p:sldId id="289" r:id="rId16"/>
    <p:sldId id="290" r:id="rId17"/>
    <p:sldId id="300" r:id="rId18"/>
    <p:sldId id="272" r:id="rId19"/>
    <p:sldId id="271" r:id="rId20"/>
    <p:sldId id="273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423" r:id="rId30"/>
    <p:sldId id="311" r:id="rId31"/>
    <p:sldId id="313" r:id="rId32"/>
    <p:sldId id="315" r:id="rId33"/>
    <p:sldId id="316" r:id="rId34"/>
    <p:sldId id="319" r:id="rId35"/>
    <p:sldId id="320" r:id="rId36"/>
    <p:sldId id="314" r:id="rId37"/>
    <p:sldId id="424" r:id="rId38"/>
    <p:sldId id="317" r:id="rId39"/>
    <p:sldId id="318" r:id="rId40"/>
    <p:sldId id="425" r:id="rId41"/>
    <p:sldId id="426" r:id="rId42"/>
    <p:sldId id="321" r:id="rId43"/>
    <p:sldId id="322" r:id="rId44"/>
    <p:sldId id="323" r:id="rId45"/>
  </p:sldIdLst>
  <p:sldSz cx="12192000" cy="6858000"/>
  <p:notesSz cx="12192000" cy="6858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BD84D-503F-452D-9AF8-4495D91189B0}" v="1" dt="2026-02-22T12:27:44.8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6005" autoAdjust="0"/>
  </p:normalViewPr>
  <p:slideViewPr>
    <p:cSldViewPr snapToGrid="0">
      <p:cViewPr>
        <p:scale>
          <a:sx n="110" d="100"/>
          <a:sy n="110" d="100"/>
        </p:scale>
        <p:origin x="642" y="1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undo custSel addSld delSld modSld">
      <pc:chgData name="Žydrūnė Kelpšaitė" userId="e943768126acec1d" providerId="LiveId" clId="{31712FD7-FA85-48BA-9D35-5382388CFC74}" dt="2026-02-23T12:40:00.648" v="72" actId="1076"/>
      <pc:docMkLst>
        <pc:docMk/>
      </pc:docMkLst>
      <pc:sldChg chg="addSp delSp modSp mod">
        <pc:chgData name="Žydrūnė Kelpšaitė" userId="e943768126acec1d" providerId="LiveId" clId="{31712FD7-FA85-48BA-9D35-5382388CFC74}" dt="2026-02-22T12:27:44.892" v="38"/>
        <pc:sldMkLst>
          <pc:docMk/>
          <pc:sldMk cId="598965176" sldId="260"/>
        </pc:sldMkLst>
        <pc:picChg chg="add mod">
          <ac:chgData name="Žydrūnė Kelpšaitė" userId="e943768126acec1d" providerId="LiveId" clId="{31712FD7-FA85-48BA-9D35-5382388CFC74}" dt="2026-02-22T12:27:44.892" v="38"/>
          <ac:picMkLst>
            <pc:docMk/>
            <pc:sldMk cId="598965176" sldId="260"/>
            <ac:picMk id="3" creationId="{FF407415-E6B1-5698-42C8-3BAF8C204E9B}"/>
          </ac:picMkLst>
        </pc:picChg>
        <pc:picChg chg="del">
          <ac:chgData name="Žydrūnė Kelpšaitė" userId="e943768126acec1d" providerId="LiveId" clId="{31712FD7-FA85-48BA-9D35-5382388CFC74}" dt="2026-02-22T12:27:43.995" v="37" actId="478"/>
          <ac:picMkLst>
            <pc:docMk/>
            <pc:sldMk cId="598965176" sldId="260"/>
            <ac:picMk id="4" creationId="{03E85426-6E41-4D70-6C81-8F03AFAE48F1}"/>
          </ac:picMkLst>
        </pc:picChg>
      </pc:sldChg>
      <pc:sldChg chg="modSp mod">
        <pc:chgData name="Žydrūnė Kelpšaitė" userId="e943768126acec1d" providerId="LiveId" clId="{31712FD7-FA85-48BA-9D35-5382388CFC74}" dt="2026-01-28T17:53:20.157" v="12" actId="27636"/>
        <pc:sldMkLst>
          <pc:docMk/>
          <pc:sldMk cId="469815673" sldId="279"/>
        </pc:sldMkLst>
        <pc:spChg chg="mod">
          <ac:chgData name="Žydrūnė Kelpšaitė" userId="e943768126acec1d" providerId="LiveId" clId="{31712FD7-FA85-48BA-9D35-5382388CFC74}" dt="2026-01-28T17:53:20.157" v="12" actId="27636"/>
          <ac:spMkLst>
            <pc:docMk/>
            <pc:sldMk cId="469815673" sldId="279"/>
            <ac:spMk id="2" creationId="{3D9C2BDC-5084-498D-BB0E-694C51A92E96}"/>
          </ac:spMkLst>
        </pc:spChg>
      </pc:sldChg>
      <pc:sldChg chg="add del">
        <pc:chgData name="Žydrūnė Kelpšaitė" userId="e943768126acec1d" providerId="LiveId" clId="{31712FD7-FA85-48BA-9D35-5382388CFC74}" dt="2026-01-28T17:53:43.363" v="16" actId="47"/>
        <pc:sldMkLst>
          <pc:docMk/>
          <pc:sldMk cId="3024609385" sldId="280"/>
        </pc:sldMkLst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1425917710" sldId="311"/>
        </pc:sldMkLst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108412608" sldId="313"/>
        </pc:sldMkLst>
      </pc:sldChg>
      <pc:sldChg chg="add del">
        <pc:chgData name="Žydrūnė Kelpšaitė" userId="e943768126acec1d" providerId="LiveId" clId="{31712FD7-FA85-48BA-9D35-5382388CFC74}" dt="2026-02-22T12:28:39.504" v="40" actId="47"/>
        <pc:sldMkLst>
          <pc:docMk/>
          <pc:sldMk cId="1120889038" sldId="314"/>
        </pc:sldMkLst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1775402594" sldId="315"/>
        </pc:sldMkLst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991019227" sldId="316"/>
        </pc:sldMkLst>
      </pc:sldChg>
      <pc:sldChg chg="modSp add mod">
        <pc:chgData name="Žydrūnė Kelpšaitė" userId="e943768126acec1d" providerId="LiveId" clId="{31712FD7-FA85-48BA-9D35-5382388CFC74}" dt="2026-01-29T08:25:10.077" v="28" actId="13926"/>
        <pc:sldMkLst>
          <pc:docMk/>
          <pc:sldMk cId="2145415747" sldId="317"/>
        </pc:sldMkLst>
        <pc:spChg chg="mod">
          <ac:chgData name="Žydrūnė Kelpšaitė" userId="e943768126acec1d" providerId="LiveId" clId="{31712FD7-FA85-48BA-9D35-5382388CFC74}" dt="2026-01-29T08:25:10.077" v="28" actId="13926"/>
          <ac:spMkLst>
            <pc:docMk/>
            <pc:sldMk cId="2145415747" sldId="317"/>
            <ac:spMk id="6" creationId="{48689809-9FFB-1929-E3C4-7CDB07C7605D}"/>
          </ac:spMkLst>
        </pc:spChg>
      </pc:sldChg>
      <pc:sldChg chg="modSp add mod">
        <pc:chgData name="Žydrūnė Kelpšaitė" userId="e943768126acec1d" providerId="LiveId" clId="{31712FD7-FA85-48BA-9D35-5382388CFC74}" dt="2026-02-23T12:40:00.648" v="72" actId="1076"/>
        <pc:sldMkLst>
          <pc:docMk/>
          <pc:sldMk cId="228665159" sldId="318"/>
        </pc:sldMkLst>
        <pc:picChg chg="mod">
          <ac:chgData name="Žydrūnė Kelpšaitė" userId="e943768126acec1d" providerId="LiveId" clId="{31712FD7-FA85-48BA-9D35-5382388CFC74}" dt="2026-02-23T12:40:00.648" v="72" actId="1076"/>
          <ac:picMkLst>
            <pc:docMk/>
            <pc:sldMk cId="228665159" sldId="318"/>
            <ac:picMk id="6" creationId="{C525139F-D573-3E46-57B1-3B70EDB3907B}"/>
          </ac:picMkLst>
        </pc:picChg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2162416688" sldId="319"/>
        </pc:sldMkLst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3780600604" sldId="320"/>
        </pc:sldMkLst>
      </pc:sldChg>
      <pc:sldChg chg="modSp add mod">
        <pc:chgData name="Žydrūnė Kelpšaitė" userId="e943768126acec1d" providerId="LiveId" clId="{31712FD7-FA85-48BA-9D35-5382388CFC74}" dt="2026-02-22T13:58:05.762" v="42" actId="1076"/>
        <pc:sldMkLst>
          <pc:docMk/>
          <pc:sldMk cId="2109940369" sldId="321"/>
        </pc:sldMkLst>
        <pc:picChg chg="mod">
          <ac:chgData name="Žydrūnė Kelpšaitė" userId="e943768126acec1d" providerId="LiveId" clId="{31712FD7-FA85-48BA-9D35-5382388CFC74}" dt="2026-02-22T13:58:05.762" v="42" actId="1076"/>
          <ac:picMkLst>
            <pc:docMk/>
            <pc:sldMk cId="2109940369" sldId="321"/>
            <ac:picMk id="4" creationId="{34AB4DA3-CC51-F223-0BD7-E3643BAD66B1}"/>
          </ac:picMkLst>
        </pc:picChg>
      </pc:sldChg>
      <pc:sldChg chg="add modNotesTx">
        <pc:chgData name="Žydrūnė Kelpšaitė" userId="e943768126acec1d" providerId="LiveId" clId="{31712FD7-FA85-48BA-9D35-5382388CFC74}" dt="2026-02-22T13:59:40.475" v="71" actId="20577"/>
        <pc:sldMkLst>
          <pc:docMk/>
          <pc:sldMk cId="2627117727" sldId="322"/>
        </pc:sldMkLst>
      </pc:sldChg>
      <pc:sldChg chg="modSp add mod">
        <pc:chgData name="Žydrūnė Kelpšaitė" userId="e943768126acec1d" providerId="LiveId" clId="{31712FD7-FA85-48BA-9D35-5382388CFC74}" dt="2026-01-29T09:32:44.671" v="33" actId="1076"/>
        <pc:sldMkLst>
          <pc:docMk/>
          <pc:sldMk cId="2858049351" sldId="323"/>
        </pc:sldMkLst>
        <pc:picChg chg="mod">
          <ac:chgData name="Žydrūnė Kelpšaitė" userId="e943768126acec1d" providerId="LiveId" clId="{31712FD7-FA85-48BA-9D35-5382388CFC74}" dt="2026-01-29T09:32:44.671" v="33" actId="1076"/>
          <ac:picMkLst>
            <pc:docMk/>
            <pc:sldMk cId="2858049351" sldId="323"/>
            <ac:picMk id="4" creationId="{407D79F5-7940-760D-3887-35BCDA389502}"/>
          </ac:picMkLst>
        </pc:picChg>
      </pc:sldChg>
      <pc:sldChg chg="add del">
        <pc:chgData name="Žydrūnė Kelpšaitė" userId="e943768126acec1d" providerId="LiveId" clId="{31712FD7-FA85-48BA-9D35-5382388CFC74}" dt="2026-02-22T12:28:44.239" v="41" actId="47"/>
        <pc:sldMkLst>
          <pc:docMk/>
          <pc:sldMk cId="451589416" sldId="422"/>
        </pc:sldMkLst>
      </pc:sldChg>
      <pc:sldChg chg="add del">
        <pc:chgData name="Žydrūnė Kelpšaitė" userId="e943768126acec1d" providerId="LiveId" clId="{31712FD7-FA85-48BA-9D35-5382388CFC74}" dt="2026-01-28T17:54:45.275" v="21" actId="47"/>
        <pc:sldMkLst>
          <pc:docMk/>
          <pc:sldMk cId="460096887" sldId="423"/>
        </pc:sldMkLst>
      </pc:sldChg>
      <pc:sldChg chg="add">
        <pc:chgData name="Žydrūnė Kelpšaitė" userId="e943768126acec1d" providerId="LiveId" clId="{31712FD7-FA85-48BA-9D35-5382388CFC74}" dt="2026-01-28T17:57:29.739" v="27"/>
        <pc:sldMkLst>
          <pc:docMk/>
          <pc:sldMk cId="363520044" sldId="424"/>
        </pc:sldMkLst>
      </pc:sldChg>
      <pc:sldChg chg="add">
        <pc:chgData name="Žydrūnė Kelpšaitė" userId="e943768126acec1d" providerId="LiveId" clId="{31712FD7-FA85-48BA-9D35-5382388CFC74}" dt="2026-01-28T17:57:29.739" v="27"/>
        <pc:sldMkLst>
          <pc:docMk/>
          <pc:sldMk cId="1320278971" sldId="425"/>
        </pc:sldMkLst>
      </pc:sldChg>
      <pc:sldChg chg="modSp add mod">
        <pc:chgData name="Žydrūnė Kelpšaitė" userId="e943768126acec1d" providerId="LiveId" clId="{31712FD7-FA85-48BA-9D35-5382388CFC74}" dt="2026-01-29T08:29:26.010" v="30" actId="1076"/>
        <pc:sldMkLst>
          <pc:docMk/>
          <pc:sldMk cId="1825389851" sldId="426"/>
        </pc:sldMkLst>
        <pc:picChg chg="mod">
          <ac:chgData name="Žydrūnė Kelpšaitė" userId="e943768126acec1d" providerId="LiveId" clId="{31712FD7-FA85-48BA-9D35-5382388CFC74}" dt="2026-01-29T08:29:26.010" v="30" actId="1076"/>
          <ac:picMkLst>
            <pc:docMk/>
            <pc:sldMk cId="1825389851" sldId="426"/>
            <ac:picMk id="4" creationId="{B88E9749-C3FA-4036-F36D-00CA61434741}"/>
          </ac:picMkLst>
        </pc:picChg>
      </pc:sldChg>
      <pc:sldMasterChg chg="addSldLayout delSldLayout">
        <pc:chgData name="Žydrūnė Kelpšaitė" userId="e943768126acec1d" providerId="LiveId" clId="{31712FD7-FA85-48BA-9D35-5382388CFC74}" dt="2026-02-19T14:10:44.321" v="35" actId="47"/>
        <pc:sldMasterMkLst>
          <pc:docMk/>
          <pc:sldMasterMk cId="295463880" sldId="2147483685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7C5B7-B086-4EBD-B654-37A2AB64BA55}" type="datetimeFigureOut">
              <a:rPr lang="en-US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78A03-8004-41D9-8E9D-8B196F8AD45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31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8119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554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2146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3822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237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lt-LT" dirty="0"/>
              <a:t>Horizontalioje ašyje yra darbo patirtis metais, vertikalioje – atlyginimas. Raudoni taškai rodo realius darbuotojų duomenis, o juoda linija – regresijos linija, kuri aprašo bendrą tendenciją.</a:t>
            </a:r>
          </a:p>
          <a:p>
            <a:r>
              <a:rPr lang="lt-LT" dirty="0"/>
              <a:t>Kai patirtis lygi nuliui, regresijos linija rodo apie </a:t>
            </a:r>
            <a:r>
              <a:rPr lang="lt-LT" b="1" dirty="0"/>
              <a:t>30 tūkst.</a:t>
            </a:r>
            <a:r>
              <a:rPr lang="lt-LT" dirty="0"/>
              <a:t> – tai </a:t>
            </a:r>
            <a:r>
              <a:rPr lang="lt-LT" b="1" dirty="0"/>
              <a:t>konstanta (b0)</a:t>
            </a:r>
            <a:r>
              <a:rPr lang="lt-LT" dirty="0"/>
              <a:t>, bazinis atlyginimas be patirties. Žalia rodyklė rodo, kad </a:t>
            </a:r>
            <a:r>
              <a:rPr lang="lt-LT" b="1" dirty="0"/>
              <a:t>padidėjus patirčiai vieneriais metais</a:t>
            </a:r>
            <a:r>
              <a:rPr lang="lt-LT" dirty="0"/>
              <a:t>, prognozuojamas atlyginimas </a:t>
            </a:r>
            <a:r>
              <a:rPr lang="lt-LT" b="1" dirty="0"/>
              <a:t>padidėja apie 10 tūkst.</a:t>
            </a:r>
            <a:r>
              <a:rPr lang="lt-LT" dirty="0"/>
              <a:t> – tai </a:t>
            </a:r>
            <a:r>
              <a:rPr lang="lt-LT" b="1" dirty="0"/>
              <a:t>koeficientas (b1)</a:t>
            </a:r>
            <a:r>
              <a:rPr lang="lt-LT" dirty="0"/>
              <a:t>.</a:t>
            </a:r>
          </a:p>
          <a:p>
            <a:r>
              <a:rPr lang="lt-LT" dirty="0"/>
              <a:t>Trumpai: regresijos linija parodo, kiek vidutiniškai keičiasi atlyginimas, kai patirtis padidėja vienu vienetu, o taškų išsibarstymas aplink liniją rodo, kad realūs duomenys ne visada tiksliai sutampa su prognoze.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1303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2033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4523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9443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4833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0293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8576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466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7787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0334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2632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1755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Paklaidų įvertinimo metrikos</a:t>
            </a:r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78A03-8004-41D9-8E9D-8B196F8AD45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6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8538937-E128-CE08-DD44-16250DEE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6F7DE40A-DC33-FE5D-65F6-AF8C7B33F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C1ABD01-4F57-F8F8-1DD4-0C1D3590B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BA2E0E9-85B1-C122-508C-30C9396A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D01F107-A02C-6DA0-B372-1849D4FB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153766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7CDB4E9-53C7-77DA-F3BA-20F83DF1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B08CD23-B9F3-5E42-867B-9F78E5379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D4281D6-CDB4-3A29-8BF3-F612C471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4C951F97-3FD5-E897-05B0-B814F63B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B4E2EC1-4D10-F3EB-60F7-A1A50CA6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588170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641D623-B6BE-5EC0-0BC4-E07BE1BA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B157F0AD-0EB7-978E-04D1-36BE1AA4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1D2C77A-5872-18EF-36E5-D84B1507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6070E69-E611-95C2-45ED-63C817C3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C3866F6-0FE1-DD24-81B7-6E27C0C7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71644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2B72488-CA52-B174-E1B6-1EEB0C3C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4F109C21-C677-5E2D-9F6F-3871B4F1E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9FF3313C-7F13-A720-20A9-84993C22B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067772B-1870-4092-91CA-48FA1F52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B720C078-6429-7B60-72DE-8E532638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442493EF-8594-845E-68D0-8FA77B6F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95733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FFEBAA5-4EE0-466A-53C3-D73B735C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51D48623-20AA-DDF4-4C8C-95DCCF3EC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95BB5DCF-C000-3658-B4F6-8240107BB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8A05BFC2-26EC-073D-3BEC-3BC57114E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3B43A4FA-4D57-A31B-8628-66ED006E6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145AECE4-983B-F6AE-99F0-B1A0C2CC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6A50DAF-4AD9-A165-4100-45FC07E3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9EA40A66-6CAC-1FA4-3C16-740E3339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255383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6F73A84-EE9A-1A89-1AE1-7AC48A2B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36D25F2D-8487-AB1E-9E9B-5A2A3B32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B776D121-FE99-93D4-F20E-A8040726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198983E1-76A0-CD4F-490E-BDE55C35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6657307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511EC42B-42E2-BBE3-AF5E-B9828A80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8C1BE742-365A-E5CE-0BED-72AC94D6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8D936DBC-C737-2B9B-8657-8E0F37FD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6868035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199B64-F3D6-2A66-EC28-4A5B6449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9635722F-D5B5-B152-2D2F-3296A150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07D761F8-37F6-D9B5-0509-990437D3E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736C1442-DDA7-D7BB-CFF6-A2344FE1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6D89B161-C9BC-1517-1152-6EEE4582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46A1FB4D-67B1-93C5-C1AB-8B975D50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160264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9970786-145B-69C0-5A9D-8BF1F863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F44190E8-4BBC-8167-365A-79BDE5B12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FD53584E-1751-0A6E-9929-D73ACB8FB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6C32182A-0D8F-F678-5D3F-6F710BDF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F1011E7E-9B5B-4C8A-2C02-A0644E21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4324B460-8510-1CEE-5F21-CB62326A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664652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33328BB-93B1-3654-C55F-8D197161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D816AD0-DD10-30F3-3713-0E5006850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23A5C3A-828F-CA2F-250A-D0173FC2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9051C657-4C65-B107-554E-BBA457A8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F75575B9-14AC-59F6-D37C-D14E7317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038928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5AA25E62-CB71-DD40-8C9A-330905F52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047C1542-A42B-C83F-D4E3-9EDB0B49B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A71A4C-3FD3-112C-526F-B810EFC1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ECCB72F-CA06-4063-4F93-F0FC7AA2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5D356D7-0B6A-88F6-AAF7-D8FFB20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062528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480391" y="1371706"/>
            <a:ext cx="5615609" cy="410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480391" y="460650"/>
            <a:ext cx="5615609" cy="453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561502" y="1371706"/>
            <a:ext cx="5149485" cy="506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3"/>
          </p:nvPr>
        </p:nvSpPr>
        <p:spPr>
          <a:xfrm>
            <a:off x="481013" y="5916613"/>
            <a:ext cx="5614987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762127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278278232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07E593F2-A3BF-8503-2030-2A4E4DBE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5364149D-321E-11B5-2BAE-77EB0C80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482BBF0C-48B3-739A-81AD-7CA173E21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43860-C5E7-462F-AC4C-7195CD04BAED}" type="datetimeFigureOut">
              <a:rPr lang="lt-LT" smtClean="0"/>
              <a:t>2026-02-23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593116A2-428F-34CD-6527-28585DE1E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3EF0EF33-EF55-BC80-748B-AE871B4E9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546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230" y="897619"/>
            <a:ext cx="8291303" cy="3217181"/>
          </a:xfrm>
        </p:spPr>
        <p:txBody>
          <a:bodyPr lIns="45719" tIns="45720" rIns="45719" bIns="45720" anchor="t">
            <a:normAutofit/>
          </a:bodyPr>
          <a:lstStyle/>
          <a:p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</a:t>
            </a:r>
            <a:r>
              <a:rPr lang="lt-LT" sz="5500" dirty="0" err="1"/>
              <a:t>Multiple</a:t>
            </a:r>
            <a:r>
              <a:rPr lang="lt-LT" sz="5500" dirty="0"/>
              <a:t>  </a:t>
            </a:r>
            <a:r>
              <a:rPr lang="en-US" sz="5500" dirty="0"/>
              <a:t>Regression</a:t>
            </a: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3" name="Paveikslėlis 2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FF407415-E6B1-5698-42C8-3BAF8C204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87" y="1690688"/>
            <a:ext cx="748769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734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2514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ea typeface="Verdana"/>
              </a:rPr>
              <a:t>Norint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naudoti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šiuos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algoritmus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duomenys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turi</a:t>
            </a:r>
            <a:r>
              <a:rPr lang="en-US" sz="1400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turėti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nepriklaus</a:t>
            </a:r>
            <a:r>
              <a:rPr lang="lt-LT" sz="1400" b="1" dirty="0">
                <a:ea typeface="Verdana"/>
              </a:rPr>
              <a:t>o</a:t>
            </a:r>
            <a:r>
              <a:rPr lang="en-US" sz="1400" b="1" dirty="0" err="1">
                <a:ea typeface="Verdana"/>
              </a:rPr>
              <a:t>mų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kintamųjų</a:t>
            </a:r>
            <a:r>
              <a:rPr lang="en-US" sz="1400" b="1" dirty="0">
                <a:ea typeface="Verdana"/>
              </a:rPr>
              <a:t> </a:t>
            </a:r>
            <a:r>
              <a:rPr lang="en-US" sz="1400" dirty="0">
                <a:ea typeface="Verdana"/>
              </a:rPr>
              <a:t>(x) </a:t>
            </a:r>
            <a:r>
              <a:rPr lang="en-US" sz="1400" dirty="0" err="1">
                <a:ea typeface="Verdana"/>
              </a:rPr>
              <a:t>ir</a:t>
            </a:r>
            <a:r>
              <a:rPr lang="en-US" sz="1400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priklausomą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kintamąjį</a:t>
            </a:r>
            <a:r>
              <a:rPr lang="en-US" sz="1400" b="1" dirty="0">
                <a:ea typeface="Verdana"/>
              </a:rPr>
              <a:t> </a:t>
            </a:r>
            <a:r>
              <a:rPr lang="en-US" sz="1400" dirty="0">
                <a:ea typeface="Verdana"/>
              </a:rPr>
              <a:t>(y).</a:t>
            </a:r>
            <a:endParaRPr lang="en-US" dirty="0"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ea typeface="Verdana"/>
              </a:rPr>
              <a:t>Tokių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algoritmų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prit</a:t>
            </a:r>
            <a:r>
              <a:rPr lang="lt-LT" sz="1400" dirty="0">
                <a:ea typeface="Verdana"/>
              </a:rPr>
              <a:t>ai</a:t>
            </a:r>
            <a:r>
              <a:rPr lang="en-US" sz="1400" dirty="0" err="1">
                <a:ea typeface="Verdana"/>
              </a:rPr>
              <a:t>kymas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leidžia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nustatyti</a:t>
            </a:r>
            <a:r>
              <a:rPr lang="en-US" sz="1400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priklausomybės</a:t>
            </a:r>
            <a:r>
              <a:rPr lang="en-US" sz="1400" b="1" dirty="0">
                <a:ea typeface="Verdana"/>
              </a:rPr>
              <a:t> / </a:t>
            </a:r>
            <a:r>
              <a:rPr lang="en-US" sz="1400" b="1" dirty="0" err="1">
                <a:ea typeface="Verdana"/>
              </a:rPr>
              <a:t>sąryšio</a:t>
            </a:r>
            <a:r>
              <a:rPr lang="en-US" sz="1400" b="1" dirty="0">
                <a:ea typeface="Verdana"/>
              </a:rPr>
              <a:t> </a:t>
            </a:r>
            <a:r>
              <a:rPr lang="en-US" sz="1400" b="1" dirty="0" err="1">
                <a:ea typeface="Verdana"/>
              </a:rPr>
              <a:t>funkciją</a:t>
            </a:r>
            <a:r>
              <a:rPr lang="en-US" sz="1400" b="1" dirty="0">
                <a:ea typeface="Verdana"/>
              </a:rPr>
              <a:t> </a:t>
            </a:r>
            <a:r>
              <a:rPr lang="en-US" sz="1400" dirty="0">
                <a:ea typeface="Verdana"/>
              </a:rPr>
              <a:t>tarp X </a:t>
            </a:r>
            <a:r>
              <a:rPr lang="en-US" sz="1400" dirty="0" err="1">
                <a:ea typeface="Verdana"/>
              </a:rPr>
              <a:t>ir</a:t>
            </a:r>
            <a:r>
              <a:rPr lang="en-US" sz="1400" dirty="0">
                <a:ea typeface="Verdana"/>
              </a:rPr>
              <a:t> Y </a:t>
            </a:r>
            <a:r>
              <a:rPr lang="en-US" sz="1400" dirty="0" err="1">
                <a:ea typeface="Verdana"/>
              </a:rPr>
              <a:t>kintamųjų</a:t>
            </a:r>
            <a:r>
              <a:rPr lang="en-US" sz="1400" dirty="0"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ea typeface="Verdana"/>
              </a:rPr>
              <a:t>Turint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kintamųjų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priklausomybės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funkciją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tikslas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yra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algoritmui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pateikti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naujus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duomenis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su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kuriais</a:t>
            </a:r>
            <a:r>
              <a:rPr lang="en-US" sz="1400" dirty="0">
                <a:ea typeface="Verdana"/>
              </a:rPr>
              <a:t> </a:t>
            </a:r>
            <a:r>
              <a:rPr lang="en-US" sz="1400" dirty="0" err="1">
                <a:ea typeface="Verdana"/>
              </a:rPr>
              <a:t>jis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nebuvo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apmokytas</a:t>
            </a:r>
            <a:r>
              <a:rPr lang="en-US" sz="1400" dirty="0">
                <a:ea typeface="Verdana"/>
              </a:rPr>
              <a:t>, </a:t>
            </a:r>
            <a:r>
              <a:rPr lang="en-US" sz="1400" dirty="0" err="1">
                <a:ea typeface="Verdana"/>
              </a:rPr>
              <a:t>norint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gauti</a:t>
            </a:r>
            <a:r>
              <a:rPr lang="en-US" sz="1400" dirty="0">
                <a:ea typeface="Verdana"/>
              </a:rPr>
              <a:t> </a:t>
            </a:r>
            <a:r>
              <a:rPr lang="en-US" sz="1400" dirty="0" err="1">
                <a:ea typeface="Verdana"/>
              </a:rPr>
              <a:t>prognozuojamas</a:t>
            </a:r>
            <a:r>
              <a:rPr lang="en-US" sz="1400" dirty="0">
                <a:ea typeface="Verdana"/>
              </a:rPr>
              <a:t> Y </a:t>
            </a:r>
            <a:r>
              <a:rPr lang="en-US" sz="1400" dirty="0" err="1">
                <a:ea typeface="Verdana"/>
              </a:rPr>
              <a:t>reikšmes</a:t>
            </a:r>
            <a:r>
              <a:rPr lang="en-US" sz="1400" dirty="0">
                <a:ea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6093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siekiama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prognozuoti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realią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vertę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pvz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atlyginimą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svorį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t. t.),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diskretusis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arba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tolydusis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b="1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Klasifikavimas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siekiama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prognozuoti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kategorinį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kintamąjį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pvz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asmuo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serga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ne,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kurios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kategorijos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produktus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klientas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pirks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t. t.).</a:t>
            </a:r>
          </a:p>
        </p:txBody>
      </p:sp>
    </p:spTree>
    <p:extLst>
      <p:ext uri="{BB962C8B-B14F-4D97-AF65-F5344CB8AC3E}">
        <p14:creationId xmlns:p14="http://schemas.microsoft.com/office/powerpoint/2010/main" val="54099481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Tiesinė regresija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skirta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rasti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tiesinę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tarp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gali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būti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paprastoji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sudėtinė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: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Paprastoji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tiria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dviejų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ryšį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);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Sudėtinė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regresija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tiria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daugiau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vieno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ryšį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kintamuoju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Regresijos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tikslas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rasti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statistinį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ryšį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tarp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01608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/>
              <a:t>Regresijos lygtis</a:t>
            </a:r>
            <a:endParaRPr lang="en-US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Verdana"/>
              </a:rPr>
              <a:t>𝒚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…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𝜺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y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b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0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konstanta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b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.. , b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n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.. ,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x</a:t>
            </a:r>
            <a:r>
              <a:rPr lang="en-US" sz="1400" baseline="-25000" dirty="0" err="1">
                <a:solidFill>
                  <a:schemeClr val="tx1"/>
                </a:solidFill>
                <a:ea typeface="Verdana"/>
              </a:rPr>
              <a:t>n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kintamieji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;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𝜀 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liekamoji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t. y.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viskas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ko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gali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priklausyti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008802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lygtis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Verdana"/>
              </a:rPr>
              <a:t>𝒚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…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𝒙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𝒏</a:t>
            </a:r>
            <a:endParaRPr lang="en-US" sz="20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  <a:buFont typeface="Arial" panose="020B0604020202020204" pitchFamily="34" charset="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Įverčiai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0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…  ,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𝑛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gaunami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panaudojus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imties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duomenis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Jei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&gt; 0, tai x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Jei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&lt; 0, tai x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y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mažėja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CE19A-39FB-31F0-0AB9-770DB8BCC2BD}"/>
              </a:ext>
            </a:extLst>
          </p:cNvPr>
          <p:cNvSpPr txBox="1"/>
          <p:nvPr/>
        </p:nvSpPr>
        <p:spPr>
          <a:xfrm>
            <a:off x="3288195" y="51440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Trumpai: </a:t>
            </a:r>
            <a:r>
              <a:rPr lang="lt-LT" b="1" dirty="0"/>
              <a:t>ženklas parodo kryptį, o dydis – įtakos stiprumą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46488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/>
              <a:t>Regresijos lygtis</a:t>
            </a:r>
            <a:endParaRPr lang="en-US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spcBef>
                <a:spcPts val="819"/>
              </a:spcBef>
            </a:pPr>
            <a:r>
              <a:rPr lang="en-US" sz="2000" dirty="0">
                <a:solidFill>
                  <a:schemeClr val="tx1"/>
                </a:solidFill>
                <a:ea typeface="Verdana"/>
              </a:rPr>
              <a:t>𝒂𝒕𝒍𝒚𝒈𝒊𝒏𝒊𝒎𝒂𝒔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∙ 𝒑𝒂𝒕𝒊𝒓𝒕𝒊𝒔</a:t>
            </a:r>
          </a:p>
          <a:p>
            <a:endParaRPr lang="en-US" sz="20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0 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nurodo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koks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atlyginimas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kai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darbuotojas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patirties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patirtis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= 0).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–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nuolygis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angl.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slope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parodo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kiek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pasikeis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Y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vienetu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padidinus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X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fiksavus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visų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kitų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regresorių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76E65BF0-C2F6-4621-9DB2-A18C7692C32B}"/>
              </a:ext>
            </a:extLst>
          </p:cNvPr>
          <p:cNvSpPr/>
          <p:nvPr/>
        </p:nvSpPr>
        <p:spPr>
          <a:xfrm>
            <a:off x="6963509" y="2021800"/>
            <a:ext cx="4856810" cy="2546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4152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 dirty="0"/>
              <a:t>Regresija – konstanta ir koeficientai</a:t>
            </a:r>
            <a:endParaRPr lang="en-US" dirty="0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273923" y="1904959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0">
              <a:spcBef>
                <a:spcPts val="819"/>
              </a:spcBef>
            </a:pPr>
            <a:r>
              <a:rPr lang="en-US" sz="2000" dirty="0">
                <a:solidFill>
                  <a:schemeClr val="tx1"/>
                </a:solidFill>
                <a:ea typeface="Verdana"/>
              </a:rPr>
              <a:t>𝒂𝒕𝒍𝒚𝒈𝒊𝒏𝒊𝒎𝒂𝒔 =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𝟎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+ 𝒃</a:t>
            </a:r>
            <a:r>
              <a:rPr lang="en-US" sz="2000" baseline="-25000" dirty="0">
                <a:solidFill>
                  <a:schemeClr val="tx1"/>
                </a:solidFill>
                <a:ea typeface="Verdana"/>
              </a:rPr>
              <a:t>𝟏</a:t>
            </a:r>
            <a:r>
              <a:rPr lang="en-US" sz="2000" dirty="0">
                <a:solidFill>
                  <a:schemeClr val="tx1"/>
                </a:solidFill>
                <a:ea typeface="Verdana"/>
              </a:rPr>
              <a:t> ∙ 𝒑𝒂𝒕𝒊𝒓𝒕𝒊𝒔</a:t>
            </a:r>
          </a:p>
          <a:p>
            <a:endParaRPr lang="en-US" sz="20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1100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 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&gt; 0, tai tarp x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teigiama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t. y.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x,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 𝑏</a:t>
            </a:r>
            <a:r>
              <a:rPr lang="en-US" sz="1400" baseline="-25000" dirty="0">
                <a:solidFill>
                  <a:schemeClr val="tx1"/>
                </a:solidFill>
                <a:ea typeface="Verdana"/>
              </a:rPr>
              <a:t>1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&lt; 0, tai tarp x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neigiama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t. y.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didėjant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x,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mažėja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y.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rgbClr val="24516C"/>
              </a:solidFill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A6F2A-C0C2-BA7D-7B66-9FAEECDFDAC7}"/>
              </a:ext>
            </a:extLst>
          </p:cNvPr>
          <p:cNvSpPr txBox="1"/>
          <p:nvPr/>
        </p:nvSpPr>
        <p:spPr>
          <a:xfrm>
            <a:off x="6203067" y="320515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b0 parodo </a:t>
            </a:r>
            <a:r>
              <a:rPr lang="lt-LT" b="1" dirty="0"/>
              <a:t>pradinį atlyginimo lygį</a:t>
            </a:r>
            <a:r>
              <a:rPr lang="lt-LT" dirty="0"/>
              <a:t>, kai patirties nėra.</a:t>
            </a:r>
            <a:br>
              <a:rPr lang="lt-LT" dirty="0"/>
            </a:br>
            <a:r>
              <a:rPr lang="lt-LT" dirty="0"/>
              <a:t>b1 parodo, </a:t>
            </a:r>
            <a:r>
              <a:rPr lang="lt-LT" b="1" dirty="0"/>
              <a:t>kiek vidutiniškai pasikeičia atlyginimas</a:t>
            </a:r>
            <a:r>
              <a:rPr lang="lt-LT" dirty="0"/>
              <a:t>, kai patirtis padidėja vieneriais metais.</a:t>
            </a:r>
          </a:p>
          <a:p>
            <a:pPr>
              <a:buNone/>
            </a:pPr>
            <a:r>
              <a:rPr lang="lt-LT" dirty="0"/>
              <a:t>Jei b1 &gt; 0, atlyginimas didėja kartu su patirtimi – ryšys yra teigiamas.</a:t>
            </a:r>
            <a:br>
              <a:rPr lang="lt-LT" dirty="0"/>
            </a:br>
            <a:r>
              <a:rPr lang="lt-LT" dirty="0"/>
              <a:t>Jei b1 &lt; 0, didėjant patirčiai atlyginimas mažėja – ryšys yra neigiamas.</a:t>
            </a:r>
          </a:p>
          <a:p>
            <a:pPr>
              <a:buNone/>
            </a:pPr>
            <a:r>
              <a:rPr lang="lt-LT" dirty="0"/>
              <a:t>Trumpai: </a:t>
            </a:r>
            <a:r>
              <a:rPr lang="lt-LT" b="1" dirty="0"/>
              <a:t>b1 nusako ryšio kryptį ir stiprumą tarp patirties ir atlyginimo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231490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Tiesinė regresija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Nustatant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𝑏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modelis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parenka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jas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taip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kad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modelio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paklaidos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būtų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kuo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mažesnės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Modelį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vertinant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pagal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kvadratą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paklaidoms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formulė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en-US" sz="1400" dirty="0">
              <a:ea typeface="Verdana"/>
            </a:endParaRPr>
          </a:p>
          <a:p>
            <a:pPr marL="1828800" lvl="4" indent="0">
              <a:lnSpc>
                <a:spcPct val="150000"/>
              </a:lnSpc>
              <a:spcBef>
                <a:spcPts val="0"/>
              </a:spcBef>
            </a:pPr>
            <a:r>
              <a:rPr lang="lt-LT" sz="1400" dirty="0">
                <a:solidFill>
                  <a:schemeClr val="tx1"/>
                </a:solidFill>
                <a:latin typeface="Verdana"/>
                <a:ea typeface="Verdana"/>
              </a:rPr>
              <a:t>Tikslas – minimizuoti S</a:t>
            </a:r>
            <a:endParaRPr lang="en-US" sz="1400" dirty="0">
              <a:solidFill>
                <a:schemeClr val="tx1"/>
              </a:solidFill>
              <a:latin typeface="Verdana"/>
              <a:ea typeface="Verdana"/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216B8933-F143-4EEE-BFB4-636CC491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00" y="3528832"/>
            <a:ext cx="2162175" cy="495300"/>
          </a:xfrm>
          <a:prstGeom prst="rect">
            <a:avLst/>
          </a:prstGeom>
        </p:spPr>
      </p:pic>
      <p:pic>
        <p:nvPicPr>
          <p:cNvPr id="6" name="Picture 5" descr="A picture containing text, watch&#10;&#10;Description automatically generated">
            <a:extLst>
              <a:ext uri="{FF2B5EF4-FFF2-40B4-BE49-F238E27FC236}">
                <a16:creationId xmlns:a16="http://schemas.microsoft.com/office/drawing/2014/main" id="{25AD497C-84A4-460B-9A12-2BDF95D1B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00" y="4207236"/>
            <a:ext cx="13620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946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991E4C-5A0E-4CE7-89EA-97FA7A802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73" y="1295536"/>
            <a:ext cx="5511496" cy="541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11BCA8-8161-6E38-320F-A5B2C5CA2589}"/>
              </a:ext>
            </a:extLst>
          </p:cNvPr>
          <p:cNvSpPr txBox="1"/>
          <p:nvPr/>
        </p:nvSpPr>
        <p:spPr>
          <a:xfrm>
            <a:off x="5909187" y="154886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lt-LT" dirty="0"/>
              <a:t>Raudoni taškai – </a:t>
            </a:r>
            <a:r>
              <a:rPr lang="lt-LT" b="1" dirty="0"/>
              <a:t>tikrosios duomenų reikšmės</a:t>
            </a:r>
            <a:r>
              <a:rPr lang="lt-LT" dirty="0"/>
              <a:t>.</a:t>
            </a:r>
            <a:br>
              <a:rPr lang="lt-LT" dirty="0"/>
            </a:br>
            <a:r>
              <a:rPr lang="lt-LT" dirty="0"/>
              <a:t>Mėlyna linija – </a:t>
            </a:r>
            <a:r>
              <a:rPr lang="lt-LT" b="1" dirty="0"/>
              <a:t>regresijos modelio prognozė</a:t>
            </a:r>
            <a:r>
              <a:rPr lang="lt-LT" dirty="0"/>
              <a:t> (</a:t>
            </a:r>
            <a:r>
              <a:rPr lang="lt-LT" dirty="0" err="1"/>
              <a:t>curve</a:t>
            </a:r>
            <a:r>
              <a:rPr lang="lt-LT" dirty="0"/>
              <a:t> </a:t>
            </a:r>
            <a:r>
              <a:rPr lang="lt-LT" dirty="0" err="1"/>
              <a:t>fit</a:t>
            </a:r>
            <a:r>
              <a:rPr lang="lt-LT" dirty="0"/>
              <a:t>).</a:t>
            </a:r>
            <a:br>
              <a:rPr lang="lt-LT" dirty="0"/>
            </a:br>
            <a:r>
              <a:rPr lang="lt-LT" dirty="0"/>
              <a:t>Žalios vertikalios atkarpos – </a:t>
            </a:r>
            <a:r>
              <a:rPr lang="lt-LT" b="1" dirty="0"/>
              <a:t>likučiai</a:t>
            </a:r>
            <a:r>
              <a:rPr lang="lt-LT" dirty="0"/>
              <a:t>.</a:t>
            </a:r>
          </a:p>
          <a:p>
            <a:pPr>
              <a:buNone/>
            </a:pPr>
            <a:r>
              <a:rPr lang="lt-LT" dirty="0"/>
              <a:t>Kiekviena žalia linija rodo </a:t>
            </a:r>
            <a:r>
              <a:rPr lang="lt-LT" b="1" dirty="0"/>
              <a:t>skirtumą tarp realios y reikšmės ir modelio prognozuotos y reikšmės tame pačiame x</a:t>
            </a:r>
            <a:r>
              <a:rPr lang="lt-LT" dirty="0"/>
              <a:t>.</a:t>
            </a:r>
            <a:br>
              <a:rPr lang="lt-LT" dirty="0"/>
            </a:br>
            <a:r>
              <a:rPr lang="lt-LT" dirty="0"/>
              <a:t>Jei taškas yra virš linijos – likutis teigiamas.</a:t>
            </a:r>
            <a:br>
              <a:rPr lang="lt-LT" dirty="0"/>
            </a:br>
            <a:r>
              <a:rPr lang="lt-LT" dirty="0"/>
              <a:t>Jei taškas yra žemiau linijos – likutis neigiamas.</a:t>
            </a:r>
          </a:p>
          <a:p>
            <a:pPr>
              <a:buNone/>
            </a:pPr>
            <a:r>
              <a:rPr lang="lt-LT" dirty="0"/>
              <a:t>Trumpai: </a:t>
            </a:r>
            <a:r>
              <a:rPr lang="lt-LT" b="1" dirty="0"/>
              <a:t>likučiai parodo, kiek ir kur modelis klysta</a:t>
            </a:r>
            <a:r>
              <a:rPr lang="lt-LT" dirty="0"/>
              <a:t>, o visa mėlyna linija – bendrą prognozavimo tendenciją.</a:t>
            </a:r>
          </a:p>
        </p:txBody>
      </p:sp>
    </p:spTree>
    <p:extLst>
      <p:ext uri="{BB962C8B-B14F-4D97-AF65-F5344CB8AC3E}">
        <p14:creationId xmlns:p14="http://schemas.microsoft.com/office/powerpoint/2010/main" val="22590304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EA8A3-808A-87DE-FD8B-AB6B03C1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8647060-45D7-2471-824B-60F3835E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EB7BF-1100-6D45-A58B-AA61DDE2B97C}"/>
              </a:ext>
            </a:extLst>
          </p:cNvPr>
          <p:cNvSpPr txBox="1"/>
          <p:nvPr/>
        </p:nvSpPr>
        <p:spPr>
          <a:xfrm>
            <a:off x="838200" y="1328423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8" name="Paveikslėlis 7" descr="Paveikslėlis, kuriame yra tekstas, ekrano kopija, Šriftas, algebra&#10;&#10;Dirbtinio intelekto sugeneruotas turinys gali būti neteisingas.">
            <a:extLst>
              <a:ext uri="{FF2B5EF4-FFF2-40B4-BE49-F238E27FC236}">
                <a16:creationId xmlns:a16="http://schemas.microsoft.com/office/drawing/2014/main" id="{A3CB2D45-BD8D-0565-A10C-26DC04D3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72" y="2053131"/>
            <a:ext cx="1137443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59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044A15D-24A5-74E1-82A9-033D051A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B3A0E-3263-2448-D165-43479FD47DD6}"/>
              </a:ext>
            </a:extLst>
          </p:cNvPr>
          <p:cNvSpPr txBox="1"/>
          <p:nvPr/>
        </p:nvSpPr>
        <p:spPr>
          <a:xfrm>
            <a:off x="1042219" y="2026745"/>
            <a:ext cx="9114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</a:t>
            </a:r>
            <a:r>
              <a:rPr lang="lt-LT" dirty="0"/>
              <a:t>---</a:t>
            </a:r>
            <a:r>
              <a:rPr lang="lt-LT" dirty="0">
                <a:sym typeface="Wingdings" panose="05000000000000000000" pitchFamily="2" charset="2"/>
              </a:rPr>
              <a:t> </a:t>
            </a:r>
            <a:r>
              <a:rPr lang="en-US" dirty="0"/>
              <a:t>Predicting the price of diamonds based on diamond characteristics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F2478EE-DE74-ED0C-5F2B-B68546DD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47" y="2642395"/>
            <a:ext cx="10317015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6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3366-60C3-5C77-B630-9829E74E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DA5077-B3C2-FB46-0EE3-8F355815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787C1-2144-ED91-55ED-EB77E38CBBDC}"/>
              </a:ext>
            </a:extLst>
          </p:cNvPr>
          <p:cNvSpPr txBox="1"/>
          <p:nvPr/>
        </p:nvSpPr>
        <p:spPr>
          <a:xfrm>
            <a:off x="1042219" y="2026745"/>
            <a:ext cx="9114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</a:t>
            </a:r>
            <a:r>
              <a:rPr lang="lt-LT" dirty="0"/>
              <a:t>---</a:t>
            </a:r>
            <a:r>
              <a:rPr lang="lt-LT" dirty="0">
                <a:sym typeface="Wingdings" panose="05000000000000000000" pitchFamily="2" charset="2"/>
              </a:rPr>
              <a:t> </a:t>
            </a:r>
            <a:r>
              <a:rPr lang="en-US" dirty="0"/>
              <a:t>Predicting the price of diamonds based on diamond characteristics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B025E2D-A4C8-AFBE-48AF-4CE275A7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2587080"/>
            <a:ext cx="1171738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73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Reikalavimai duomenims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Visi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duomenys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skaitiniai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nominaliųjų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koduojamos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skaičiais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Liekamosios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paklaidos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normaliai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pasiskirsčiusios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kintamieji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būti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stipriai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tačiau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nepriklausomais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kintamaisiais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Duomenyse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neturi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būti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išskirčių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063884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Koreguotas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deteminacijos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ANOVA 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T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Stjudento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kriterijai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atskiriems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regresoriams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793186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R </a:t>
            </a:r>
            <a:r>
              <a:rPr lang="en-US" sz="1400" b="1" i="1" dirty="0" err="1">
                <a:solidFill>
                  <a:schemeClr val="tx1"/>
                </a:solidFill>
                <a:ea typeface="Verdana"/>
              </a:rPr>
              <a:t>kvadratas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, R</a:t>
            </a:r>
            <a:r>
              <a:rPr lang="en-US" sz="1400" b="1" i="1" baseline="30000" dirty="0">
                <a:solidFill>
                  <a:schemeClr val="tx1"/>
                </a:solidFill>
                <a:ea typeface="Verdana"/>
              </a:rPr>
              <a:t>2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)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Modeliuojamų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stebimų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kintamojo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skirtumų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kiek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procentų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y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elgesio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paaiškina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elgesys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Įgyja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intervalo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[0, 1].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Kuo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didesnė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geriau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tinka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duomenims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rekomenduotina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kad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R</a:t>
            </a:r>
            <a:r>
              <a:rPr lang="en-US" sz="1400" i="1" baseline="30000" dirty="0">
                <a:solidFill>
                  <a:schemeClr val="tx1"/>
                </a:solidFill>
                <a:ea typeface="Verdana"/>
              </a:rPr>
              <a:t>2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≥ 0.20.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261915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ea typeface="Verdana"/>
              </a:rPr>
              <a:t>2.     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Koreguotinas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b="1" i="1" dirty="0" err="1">
                <a:solidFill>
                  <a:schemeClr val="tx1"/>
                </a:solidFill>
                <a:ea typeface="Verdana"/>
              </a:rPr>
              <a:t>koreguotas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 R </a:t>
            </a:r>
            <a:r>
              <a:rPr lang="en-US" sz="1400" b="1" i="1" dirty="0" err="1">
                <a:solidFill>
                  <a:schemeClr val="tx1"/>
                </a:solidFill>
                <a:ea typeface="Verdana"/>
              </a:rPr>
              <a:t>kvadratas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, R</a:t>
            </a:r>
            <a:r>
              <a:rPr lang="en-US" sz="1400" b="1" i="1" baseline="30000" dirty="0">
                <a:solidFill>
                  <a:schemeClr val="tx1"/>
                </a:solidFill>
                <a:ea typeface="Verdana"/>
              </a:rPr>
              <a:t>2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alternatyva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kai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modelyje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daug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mažai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 err="1">
                <a:solidFill>
                  <a:schemeClr val="tx1"/>
                </a:solidFill>
                <a:ea typeface="Verdana"/>
              </a:rPr>
              <a:t>stebinių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stebinių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bent 7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kartus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daugiau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pilnai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pakanka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determinacijos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8377774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ea typeface="Verdana"/>
              </a:rPr>
              <a:t>3.     ANOVA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dispersijos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analizė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angl.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Analysis of Variance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Parodo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modelyje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kintamuoju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susijusių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Jei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didesnė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už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0.05, tai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regresijos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modelio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tinkamumas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abejotinas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t. y.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gauname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kad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i="1" dirty="0">
                <a:solidFill>
                  <a:schemeClr val="tx1"/>
                </a:solidFill>
                <a:ea typeface="Verdana"/>
              </a:rPr>
              <a:t>y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329076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Regresijos vertinimas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  <a:ea typeface="Verdana"/>
              </a:rPr>
              <a:t>4.     T (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Stjudento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)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kriterijai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atskiriems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regresoriams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Padeda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nuspręsti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kintamieji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šalinami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modelio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Jei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mažesnė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už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0.05,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tariama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kad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nepriklausomas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kintamasis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yra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statistiškai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reikšmingas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jis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paliekamas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modelyje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</a:p>
          <a:p>
            <a:pPr marL="742950" lvl="1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6272877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Reikšmingumo lygmuo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anksto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pasirenkamas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leistinų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neteisingų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sprendimų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procentas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Praktiniuose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skaičiavimuose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p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angl.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 </a:t>
            </a:r>
            <a:r>
              <a:rPr lang="en-US" sz="1400" i="1" dirty="0">
                <a:solidFill>
                  <a:schemeClr val="tx1"/>
                </a:solidFill>
                <a:ea typeface="Verdana"/>
              </a:rPr>
              <a:t>p-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value).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Reikšmingumo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lygmuo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teorinis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anksto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nustatytas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dydis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(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dažniausiai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5%), o 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p </a:t>
            </a:r>
            <a:r>
              <a:rPr lang="en-US" sz="1400" b="1" dirty="0" err="1">
                <a:solidFill>
                  <a:schemeClr val="tx1"/>
                </a:solidFill>
                <a:ea typeface="Verdana"/>
              </a:rPr>
              <a:t>reikšmė</a:t>
            </a:r>
            <a:r>
              <a:rPr lang="en-US" sz="1400" b="1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– tai,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ką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gauname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konkrečiu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atveju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0957054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480400" y="1371700"/>
            <a:ext cx="108009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lt-LT" sz="3200"/>
              <a:t>Koreliacijos koeficientas</a:t>
            </a:r>
            <a:endParaRPr lang="en-US"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lt-LT" sz="1400"/>
              <a:t>Prognozavimo metodai</a:t>
            </a:r>
            <a:endParaRPr lang="en-US"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480400" y="2671875"/>
            <a:ext cx="10859100" cy="393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–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tiesinės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priklausomybės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matas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,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naudojamas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išmatuoti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dviejų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intervalinių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kintamųjų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tiesinę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priklausomybę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.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Koreliacijos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koeficientas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įgyja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reikšmes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nuo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–1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iki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1.</a:t>
            </a:r>
            <a:endParaRPr lang="en-US" dirty="0">
              <a:solidFill>
                <a:schemeClr val="tx1"/>
              </a:solidFill>
              <a:ea typeface="Verdan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,Sans-Serif"/>
              <a:buChar char="−"/>
            </a:pP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0.3                         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labai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silpna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0.3 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0.5                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silpna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0.5 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0.7                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vidutinė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0.7 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 &lt; 0.9                 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stipri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943100" lvl="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tx1"/>
                </a:solidFill>
                <a:ea typeface="Verdana"/>
              </a:rPr>
              <a:t>0.9 ≤ |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cor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| ≤ 1                   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labai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stipri</a:t>
            </a:r>
            <a:r>
              <a:rPr lang="en-US" sz="1400" dirty="0">
                <a:solidFill>
                  <a:schemeClr val="tx1"/>
                </a:solidFill>
                <a:ea typeface="Verdana"/>
              </a:rPr>
              <a:t> </a:t>
            </a:r>
            <a:r>
              <a:rPr lang="en-US" sz="1400" dirty="0" err="1">
                <a:solidFill>
                  <a:schemeClr val="tx1"/>
                </a:solidFill>
                <a:ea typeface="Verdana"/>
              </a:rPr>
              <a:t>koreliacija</a:t>
            </a:r>
            <a:endParaRPr lang="en-US" sz="1400" dirty="0">
              <a:solidFill>
                <a:schemeClr val="tx1"/>
              </a:solidFill>
              <a:ea typeface="Verdana"/>
            </a:endParaRPr>
          </a:p>
          <a:p>
            <a:pPr marL="1384300" lvl="3">
              <a:spcBef>
                <a:spcPts val="1300"/>
              </a:spcBef>
            </a:pPr>
            <a:endParaRPr lang="en-US" sz="1400" dirty="0">
              <a:solidFill>
                <a:schemeClr val="tx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9259157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E6ABE18-E11E-7C3B-311B-16C18DE8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PRE-MODELING DATA PREP &amp; EDA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BB146-942B-BEA5-F96D-DCD3C260A4B9}"/>
              </a:ext>
            </a:extLst>
          </p:cNvPr>
          <p:cNvSpPr txBox="1"/>
          <p:nvPr/>
        </p:nvSpPr>
        <p:spPr>
          <a:xfrm>
            <a:off x="1258528" y="1502244"/>
            <a:ext cx="90456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Exploratory data analysis </a:t>
            </a:r>
            <a:r>
              <a:rPr lang="en-US" dirty="0"/>
              <a:t>(EDA) is the process of exploring and visualizing data to find useful patterns &amp; insights that help inform the modeling process </a:t>
            </a:r>
            <a:endParaRPr lang="lt-LT" dirty="0"/>
          </a:p>
          <a:p>
            <a:pPr lvl="2"/>
            <a:r>
              <a:rPr lang="en-US" dirty="0"/>
              <a:t>• In regression, EDA lets you identify &amp; understand the most promising features for your model </a:t>
            </a:r>
            <a:endParaRPr lang="lt-LT" dirty="0"/>
          </a:p>
          <a:p>
            <a:pPr lvl="2"/>
            <a:r>
              <a:rPr lang="en-US" dirty="0"/>
              <a:t>• It also helps uncover potential issues with the features or target that need to be addressed</a:t>
            </a:r>
            <a:endParaRPr lang="lt-LT" dirty="0"/>
          </a:p>
        </p:txBody>
      </p:sp>
      <p:pic>
        <p:nvPicPr>
          <p:cNvPr id="6" name="Paveikslėlis 5" descr="Paveikslėlis, kuriame yra tekstas, kvi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AAF5B61B-4E4A-E5FA-FF1B-79FC7F646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8" y="3601431"/>
            <a:ext cx="8468907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96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D68DC7F-2320-1907-4400-FE942A8D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PREPARING FOR MODELING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23CC084-0A1C-2723-7C21-529FD0A43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9660"/>
            <a:ext cx="9048758" cy="445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17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19C68E-FA83-A526-63D8-595AFDDB120F}"/>
              </a:ext>
            </a:extLst>
          </p:cNvPr>
          <p:cNvSpPr txBox="1"/>
          <p:nvPr/>
        </p:nvSpPr>
        <p:spPr>
          <a:xfrm>
            <a:off x="1740309" y="1828800"/>
            <a:ext cx="9261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800" dirty="0"/>
              <a:t>SIMPLE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08412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7CC8F1-075E-93A4-0F50-CD62EF25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LINEAR REGRESSION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9326A-B23E-1242-2CDC-639E66179D3B}"/>
              </a:ext>
            </a:extLst>
          </p:cNvPr>
          <p:cNvSpPr txBox="1"/>
          <p:nvPr/>
        </p:nvSpPr>
        <p:spPr>
          <a:xfrm>
            <a:off x="838199" y="1367522"/>
            <a:ext cx="955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linear regression model is an equation that best describes a linear relationship</a:t>
            </a:r>
            <a:endParaRPr lang="lt-LT" dirty="0"/>
          </a:p>
        </p:txBody>
      </p:sp>
      <p:pic>
        <p:nvPicPr>
          <p:cNvPr id="6" name="Paveikslėlis 5" descr="Paveikslėlis, kuriame yra tekstas, diagrama, lin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5283C770-691C-EAAC-531C-B89FDC80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1736854"/>
            <a:ext cx="1093622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02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CF057C4-383B-CDED-3FBC-076C206F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LEAST SQUARED ERROR</a:t>
            </a:r>
          </a:p>
        </p:txBody>
      </p:sp>
      <p:pic>
        <p:nvPicPr>
          <p:cNvPr id="6" name="Paveikslėlis 5" descr="Paveikslėlis, kuriame yra tekstas, ekrano kopija, Šriftas, algebra&#10;&#10;Dirbtinio intelekto sugeneruotas turinys gali būti neteisingas.">
            <a:extLst>
              <a:ext uri="{FF2B5EF4-FFF2-40B4-BE49-F238E27FC236}">
                <a16:creationId xmlns:a16="http://schemas.microsoft.com/office/drawing/2014/main" id="{11DD7076-BFE8-5295-4498-F4CD4F4D2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1499918"/>
            <a:ext cx="11431595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19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3597C9-7E47-6AB1-B858-77D76A8D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IN PYTHON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15859964-A399-7DBD-5CF0-FBF037A22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84" y="2139342"/>
            <a:ext cx="11326806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16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3DFFFF6-9DA0-7BAE-C11E-01BA8732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IN STATSMODELS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127B8-0B3E-66AE-3703-F4DD64C401C4}"/>
              </a:ext>
            </a:extLst>
          </p:cNvPr>
          <p:cNvSpPr txBox="1"/>
          <p:nvPr/>
        </p:nvSpPr>
        <p:spPr>
          <a:xfrm>
            <a:off x="838200" y="1456473"/>
            <a:ext cx="7165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fit a regression in </a:t>
            </a:r>
            <a:r>
              <a:rPr lang="en-US" dirty="0" err="1"/>
              <a:t>statsmodels</a:t>
            </a:r>
            <a:r>
              <a:rPr lang="en-US" dirty="0"/>
              <a:t> with just a few lines of code: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1552221-AAAA-D3D2-C877-06162CF5D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7493"/>
            <a:ext cx="8878551" cy="392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00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E51973-003D-AA24-0145-BE939F2E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20889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2B78-D4DE-EAA3-B133-AC829EC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8E2F69-BE21-AC87-2978-90EEB6D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  <p:pic>
        <p:nvPicPr>
          <p:cNvPr id="4" name="Paveikslėlis 3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BD3715B8-FB42-53B7-D0B2-204DD2E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142"/>
            <a:ext cx="10092113" cy="47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0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0F40C-C6F9-3BE3-2A70-4D88E9D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REGRESSION MO</a:t>
            </a:r>
            <a:r>
              <a:rPr lang="en-US" dirty="0"/>
              <a:t>DEL</a:t>
            </a:r>
            <a:endParaRPr lang="lt-LT" dirty="0"/>
          </a:p>
        </p:txBody>
      </p:sp>
      <p:pic>
        <p:nvPicPr>
          <p:cNvPr id="4" name="Paveikslėlis 3" descr="Paveikslėlis, kuriame yra diagrama, tekstas, ekrano kopija, origamis&#10;&#10;Dirbtinio intelekto sugeneruotas turinys gali būti neteisingas.">
            <a:extLst>
              <a:ext uri="{FF2B5EF4-FFF2-40B4-BE49-F238E27FC236}">
                <a16:creationId xmlns:a16="http://schemas.microsoft.com/office/drawing/2014/main" id="{28DA9A4C-D0A4-B838-1CC1-C5451D5A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39" y="1350397"/>
            <a:ext cx="9395161" cy="4798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89809-9FFB-1929-E3C4-7CDB07C7605D}"/>
              </a:ext>
            </a:extLst>
          </p:cNvPr>
          <p:cNvSpPr txBox="1"/>
          <p:nvPr/>
        </p:nvSpPr>
        <p:spPr>
          <a:xfrm>
            <a:off x="275304" y="2282384"/>
            <a:ext cx="1769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regression can scale well beyond 2 variables, but this is where visual analysis breaks down – and one reason why we need </a:t>
            </a:r>
            <a:r>
              <a:rPr lang="en-US" dirty="0">
                <a:highlight>
                  <a:srgbClr val="FFFF00"/>
                </a:highlight>
              </a:rPr>
              <a:t>machine learning</a:t>
            </a:r>
            <a:r>
              <a:rPr lang="en-US" dirty="0"/>
              <a:t>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145415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CE231BD-25E5-FDD9-4AB7-F019BAB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MULTIPLE REGRESSION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525139F-D573-3E46-57B1-3B70EDB3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7" y="1027906"/>
            <a:ext cx="9262184" cy="50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1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AD912AF-CBE0-7B2D-34DE-6D1963D1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INTERPRETING MULTIPLE REGRESSION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BDC68152-AB4F-7B40-38F8-FB7D8B548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1" y="1493730"/>
            <a:ext cx="9158180" cy="470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78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F8312AA-376B-18AB-D51D-EB0567CE0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VARIABLE SELECTION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B88E9749-C3FA-4036-F36D-00CA6143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3385"/>
            <a:ext cx="8919410" cy="515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89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45F5C5E-9224-0DC9-FCAB-A3AB4945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ADJUSTED R-SQUARED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34AB4DA3-CC51-F223-0BD7-E3643BAD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08875"/>
            <a:ext cx="9493832" cy="525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03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02B9131-C122-5EE5-9E79-F896535A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MEAN ERROR METRICS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B95ADA2B-3D12-9146-4689-64A600A59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37859"/>
            <a:ext cx="9764678" cy="4646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E3DEDD-D4DE-EE3D-92C4-7AC59683BA4F}"/>
              </a:ext>
            </a:extLst>
          </p:cNvPr>
          <p:cNvSpPr txBox="1"/>
          <p:nvPr/>
        </p:nvSpPr>
        <p:spPr>
          <a:xfrm>
            <a:off x="10382864" y="3630553"/>
            <a:ext cx="17108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RMSE is more sensitive to large outliers,  so it is preferred over MAE in situations where they are particularly undesirable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627117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90F3877-C78F-3E5A-0E72-AAD0604A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MEAN ERROR METRICS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07D79F5-7940-760D-3887-35BCDA389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9541"/>
            <a:ext cx="8498590" cy="508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49351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51D6B2-D429-493E-9751-AF831DD9001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2C813C3-2079-42AB-AA0B-08FC21EB6523}"/>
</file>

<file path=customXml/itemProps3.xml><?xml version="1.0" encoding="utf-8"?>
<ds:datastoreItem xmlns:ds="http://schemas.openxmlformats.org/officeDocument/2006/customXml" ds:itemID="{9B417A9A-CF30-45B9-8EB3-06524F96B7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2172</TotalTime>
  <Words>1516</Words>
  <Application>Microsoft Office PowerPoint</Application>
  <PresentationFormat>Plačiaekranė</PresentationFormat>
  <Paragraphs>159</Paragraphs>
  <Slides>41</Slides>
  <Notes>18</Notes>
  <HiddenSlides>0</HiddenSlides>
  <MMClips>0</MMClips>
  <ScaleCrop>false</ScaleCrop>
  <HeadingPairs>
    <vt:vector size="6" baseType="variant">
      <vt:variant>
        <vt:lpstr>Naudojami šriftai</vt:lpstr>
      </vt:variant>
      <vt:variant>
        <vt:i4>7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41</vt:i4>
      </vt:variant>
    </vt:vector>
  </HeadingPairs>
  <TitlesOfParts>
    <vt:vector size="49" baseType="lpstr">
      <vt:lpstr>Aptos</vt:lpstr>
      <vt:lpstr>Aptos Display</vt:lpstr>
      <vt:lpstr>Arial</vt:lpstr>
      <vt:lpstr>Arial,Sans-Serif</vt:lpstr>
      <vt:lpstr>Calibri</vt:lpstr>
      <vt:lpstr>Verdana</vt:lpstr>
      <vt:lpstr>Wingdings</vt:lpstr>
      <vt:lpstr>„Office“ tema</vt:lpstr>
      <vt:lpstr>  Python: Multiple  Regression</vt:lpstr>
      <vt:lpstr>COMMON ALGORITHMS</vt:lpstr>
      <vt:lpstr>TYPES OF REGRESSION</vt:lpstr>
      <vt:lpstr>GOALS OF REGRESSION</vt:lpstr>
      <vt:lpstr>„PowerPoint“ pateiktis</vt:lpstr>
      <vt:lpstr>„PowerPoint“ pateiktis</vt:lpstr>
      <vt:lpstr>Tiesinė regresija</vt:lpstr>
      <vt:lpstr>REGRESSION 101</vt:lpstr>
      <vt:lpstr>Regresijos lygtis</vt:lpstr>
      <vt:lpstr>Regresijos lygtis</vt:lpstr>
      <vt:lpstr>Regresijos lygtis</vt:lpstr>
      <vt:lpstr>Regresija – konstanta ir koeficientai</vt:lpstr>
      <vt:lpstr>Tiesinė regresija</vt:lpstr>
      <vt:lpstr>„PowerPoint“ pateiktis</vt:lpstr>
      <vt:lpstr>REGRESSION 101</vt:lpstr>
      <vt:lpstr>REGRESSION 101</vt:lpstr>
      <vt:lpstr>REGRESSION 101</vt:lpstr>
      <vt:lpstr>Reikalavimai duomenims</vt:lpstr>
      <vt:lpstr>Regresijos vertinimas</vt:lpstr>
      <vt:lpstr>Regresijos vertinimas</vt:lpstr>
      <vt:lpstr>Regresijos vertinimas</vt:lpstr>
      <vt:lpstr>Regresijos vertinimas</vt:lpstr>
      <vt:lpstr>Regresijos vertinimas</vt:lpstr>
      <vt:lpstr>Reikšmingumo lygmuo</vt:lpstr>
      <vt:lpstr>Koreliacijos koeficientas</vt:lpstr>
      <vt:lpstr>PRE-MODELING DATA PREP &amp; EDA</vt:lpstr>
      <vt:lpstr>PREPARING FOR MODELING</vt:lpstr>
      <vt:lpstr>„PowerPoint“ pateiktis</vt:lpstr>
      <vt:lpstr>LINEAR REGRESSION MODEL</vt:lpstr>
      <vt:lpstr>LEAST SQUARED ERROR</vt:lpstr>
      <vt:lpstr>REGRESSION IN PYTHON</vt:lpstr>
      <vt:lpstr>REGRESSION IN STATSMODELS</vt:lpstr>
      <vt:lpstr>MULTIPLE LINEAR REGRESSION</vt:lpstr>
      <vt:lpstr>MULTIPLE LINEAR REGRESSION</vt:lpstr>
      <vt:lpstr>MULTIPLE LINEAR REGRESSION MODEL</vt:lpstr>
      <vt:lpstr>FITTING A MULTIPLE REGRESSION</vt:lpstr>
      <vt:lpstr>INTERPRETING MULTIPLE REGRESSION</vt:lpstr>
      <vt:lpstr>VARIABLE SELECTION</vt:lpstr>
      <vt:lpstr>ADJUSTED R-SQUARED</vt:lpstr>
      <vt:lpstr>MEAN ERROR METRICS</vt:lpstr>
      <vt:lpstr>MEAN ERROR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Duomenų analizės algoritmai</dc:title>
  <dc:creator>Karolina Januskaite</dc:creator>
  <cp:lastModifiedBy>Žydrūnė Kelpšaitė</cp:lastModifiedBy>
  <cp:revision>12</cp:revision>
  <dcterms:created xsi:type="dcterms:W3CDTF">2021-01-31T18:33:53Z</dcterms:created>
  <dcterms:modified xsi:type="dcterms:W3CDTF">2026-02-23T12:40:09Z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2021-01-31T00:00:00Z</vt:filetime>
  </property>
  <property fmtid="{D5CDD505-2E9C-101B-9397-08002B2CF9AE}" pid="5" name="ContentTypeId">
    <vt:lpwstr>0x010100753C69E30CD2E346B0231A1827D4E953</vt:lpwstr>
  </property>
</Properties>
</file>