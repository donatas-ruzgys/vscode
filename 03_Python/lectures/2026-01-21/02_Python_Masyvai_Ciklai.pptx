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3" r:id="rId4"/>
  </p:sldMasterIdLst>
  <p:notesMasterIdLst>
    <p:notesMasterId r:id="rId35"/>
  </p:notesMasterIdLst>
  <p:sldIdLst>
    <p:sldId id="256" r:id="rId5"/>
    <p:sldId id="257" r:id="rId6"/>
    <p:sldId id="258" r:id="rId7"/>
    <p:sldId id="297" r:id="rId8"/>
    <p:sldId id="259" r:id="rId9"/>
    <p:sldId id="260" r:id="rId10"/>
    <p:sldId id="261" r:id="rId11"/>
    <p:sldId id="286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5" r:id="rId34"/>
  </p:sldIdLst>
  <p:sldSz cx="12192000" cy="6858000"/>
  <p:notesSz cx="7559675" cy="10691813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7" autoAdjust="0"/>
    <p:restoredTop sz="86797" autoAdjust="0"/>
  </p:normalViewPr>
  <p:slideViewPr>
    <p:cSldViewPr snapToGrid="0">
      <p:cViewPr varScale="1">
        <p:scale>
          <a:sx n="88" d="100"/>
          <a:sy n="88" d="100"/>
        </p:scale>
        <p:origin x="147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modSld">
      <pc:chgData name="Žydrūnė Kelpšaitė" userId="e943768126acec1d" providerId="LiveId" clId="{31712FD7-FA85-48BA-9D35-5382388CFC74}" dt="2026-01-21T13:12:07.242" v="9" actId="20577"/>
      <pc:docMkLst>
        <pc:docMk/>
      </pc:docMkLst>
      <pc:sldChg chg="modSp mod">
        <pc:chgData name="Žydrūnė Kelpšaitė" userId="e943768126acec1d" providerId="LiveId" clId="{31712FD7-FA85-48BA-9D35-5382388CFC74}" dt="2026-01-21T11:05:15.670" v="2" actId="20577"/>
        <pc:sldMkLst>
          <pc:docMk/>
          <pc:sldMk cId="0" sldId="256"/>
        </pc:sldMkLst>
        <pc:spChg chg="mod">
          <ac:chgData name="Žydrūnė Kelpšaitė" userId="e943768126acec1d" providerId="LiveId" clId="{31712FD7-FA85-48BA-9D35-5382388CFC74}" dt="2026-01-21T11:05:15.670" v="2" actId="20577"/>
          <ac:spMkLst>
            <pc:docMk/>
            <pc:sldMk cId="0" sldId="256"/>
            <ac:spMk id="262" creationId="{00000000-0000-0000-0000-000000000000}"/>
          </ac:spMkLst>
        </pc:spChg>
      </pc:sldChg>
      <pc:sldChg chg="addSp modSp mod">
        <pc:chgData name="Žydrūnė Kelpšaitė" userId="e943768126acec1d" providerId="LiveId" clId="{31712FD7-FA85-48BA-9D35-5382388CFC74}" dt="2026-01-21T11:46:09.925" v="6" actId="1076"/>
        <pc:sldMkLst>
          <pc:docMk/>
          <pc:sldMk cId="0" sldId="259"/>
        </pc:sldMkLst>
        <pc:cxnChg chg="add mod">
          <ac:chgData name="Žydrūnė Kelpšaitė" userId="e943768126acec1d" providerId="LiveId" clId="{31712FD7-FA85-48BA-9D35-5382388CFC74}" dt="2026-01-21T11:46:09.925" v="6" actId="1076"/>
          <ac:cxnSpMkLst>
            <pc:docMk/>
            <pc:sldMk cId="0" sldId="259"/>
            <ac:cxnSpMk id="4" creationId="{FD6F19B9-16F6-E4D2-7A83-94FDF8FE7AE7}"/>
          </ac:cxnSpMkLst>
        </pc:cxnChg>
      </pc:sldChg>
      <pc:sldChg chg="modSp mod">
        <pc:chgData name="Žydrūnė Kelpšaitė" userId="e943768126acec1d" providerId="LiveId" clId="{31712FD7-FA85-48BA-9D35-5382388CFC74}" dt="2025-12-31T08:12:35.824" v="0" actId="1076"/>
        <pc:sldMkLst>
          <pc:docMk/>
          <pc:sldMk cId="0" sldId="269"/>
        </pc:sldMkLst>
        <pc:picChg chg="mod">
          <ac:chgData name="Žydrūnė Kelpšaitė" userId="e943768126acec1d" providerId="LiveId" clId="{31712FD7-FA85-48BA-9D35-5382388CFC74}" dt="2025-12-31T08:12:35.824" v="0" actId="1076"/>
          <ac:picMkLst>
            <pc:docMk/>
            <pc:sldMk cId="0" sldId="269"/>
            <ac:picMk id="321" creationId="{00000000-0000-0000-0000-000000000000}"/>
          </ac:picMkLst>
        </pc:picChg>
      </pc:sldChg>
      <pc:sldChg chg="modNotesTx">
        <pc:chgData name="Žydrūnė Kelpšaitė" userId="e943768126acec1d" providerId="LiveId" clId="{31712FD7-FA85-48BA-9D35-5382388CFC74}" dt="2026-01-21T13:12:07.242" v="9" actId="20577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83455-7511-489A-A7D1-49409388D232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4FC12-FCD7-41D8-B6BA-D52AAB06EA8C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48438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Pvz</a:t>
            </a:r>
            <a:r>
              <a:rPr lang="en-US" dirty="0"/>
              <a:t>.: website </a:t>
            </a:r>
            <a:r>
              <a:rPr lang="en-US" dirty="0" err="1"/>
              <a:t>user’iai</a:t>
            </a:r>
            <a:r>
              <a:rPr lang="en-US" dirty="0"/>
              <a:t> – </a:t>
            </a:r>
            <a:r>
              <a:rPr lang="en-US" dirty="0" err="1"/>
              <a:t>saugomi</a:t>
            </a:r>
            <a:r>
              <a:rPr lang="en-US" dirty="0"/>
              <a:t> s</a:t>
            </a:r>
            <a:r>
              <a:rPr lang="lt-LT" dirty="0"/>
              <a:t>ąraše.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148872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9E47F-2D8D-402D-B67D-BBBBC50DDCAC}" type="slidenum">
              <a:rPr lang="lt-LT" smtClean="0"/>
              <a:t>4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01895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indeksai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982317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Pvz.: sarasas yra vartotojai – su f-ja len() sužinome, kiek turime vartotojų.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8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716084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key:value principas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983051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Raktas atskleidžia reikšmę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10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22355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Pridedant naują raktą ir priskiriant vertę – key:value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11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676862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Pakeičiant rakto vertę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955459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Ištrinat raktą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899409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Ciklas – Loop</a:t>
            </a:r>
          </a:p>
          <a:p>
            <a:r>
              <a:rPr lang="lt-LT" dirty="0"/>
              <a:t>Iterations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14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120264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Jei turime sąrašą su int ar float. </a:t>
            </a:r>
          </a:p>
          <a:p>
            <a:r>
              <a:rPr lang="lt-LT" dirty="0"/>
              <a:t>Kodėl skaiciu_suma </a:t>
            </a:r>
            <a:r>
              <a:rPr lang="en-US" dirty="0"/>
              <a:t>= 0?</a:t>
            </a:r>
          </a:p>
          <a:p>
            <a:r>
              <a:rPr lang="en-US" dirty="0"/>
              <a:t>Tai, </a:t>
            </a:r>
            <a:r>
              <a:rPr lang="en-US" dirty="0" err="1"/>
              <a:t>kaip</a:t>
            </a:r>
            <a:r>
              <a:rPr lang="en-US" dirty="0"/>
              <a:t> </a:t>
            </a:r>
            <a:r>
              <a:rPr lang="en-US" dirty="0" err="1"/>
              <a:t>atspirties</a:t>
            </a:r>
            <a:r>
              <a:rPr lang="en-US" dirty="0"/>
              <a:t> ta</a:t>
            </a:r>
            <a:r>
              <a:rPr lang="lt-LT" dirty="0"/>
              <a:t>škas pradėti operaciją.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15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397565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Key:value</a:t>
            </a:r>
          </a:p>
          <a:p>
            <a:endParaRPr lang="lt-LT" dirty="0"/>
          </a:p>
          <a:p>
            <a:r>
              <a:rPr lang="lt-LT" dirty="0"/>
              <a:t>values() – išveda reikšmes ???</a:t>
            </a:r>
          </a:p>
          <a:p>
            <a:r>
              <a:rPr lang="lt-LT" dirty="0"/>
              <a:t>Items() – išveda raktus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16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764617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Funkcija range()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17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4898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Pvz., kol nesuvedi teisingo slaptažodžio, ciklas tikrins.</a:t>
            </a:r>
          </a:p>
          <a:p>
            <a:r>
              <a:rPr lang="en-US" dirty="0" err="1"/>
              <a:t>sl</a:t>
            </a:r>
            <a:r>
              <a:rPr lang="lt-LT" dirty="0"/>
              <a:t>aptazodis </a:t>
            </a:r>
            <a:r>
              <a:rPr lang="en-US" dirty="0"/>
              <a:t>= gerasgyvenimas1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18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251323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</a:t>
            </a:r>
            <a:r>
              <a:rPr lang="lt-LT" dirty="0"/>
              <a:t>žino kada sustot </a:t>
            </a:r>
            <a:r>
              <a:rPr lang="lt-LT" dirty="0">
                <a:sym typeface="Wingdings" panose="05000000000000000000" pitchFamily="2" charset="2"/>
              </a:rPr>
              <a:t>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19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665638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20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81212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Praleidžia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21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95772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C12-FCD7-41D8-B6BA-D52AAB06EA8C}" type="slidenum">
              <a:rPr lang="lt-LT" smtClean="0"/>
              <a:t>26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53551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1FA17-125A-A262-590A-56603986B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15ABE-8B55-9589-48FF-D0B49B27A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46F3B-EEDC-1F4C-620C-F94D85D64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7E0B0-2401-C9BE-A703-805E0B3FE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9C814-D3E3-6075-E71C-519752EA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986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B338-DC02-EAE5-2A90-B2C517AC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24ECD-EC0B-5717-14A0-BB156A5AC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414C0-61EB-7A6B-BD01-6431CE57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89513-F4A0-7BB6-633D-2E7E6E4DE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43098-26E9-921B-FB45-E3F4AF46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228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C04E-0B81-67C3-AF53-5C3856A70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555BD-5F1A-1AEA-3FAF-841BE8A9A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F3CF5-8C83-D120-4B87-2DBEC410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10D8E-074F-F934-0399-D9C84E93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A4031-8D57-7E5F-B81E-4AA943B0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013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AC31B-AC2F-4EFC-EE1B-82A06BAE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EA608-1669-1E36-4033-D6F0F2579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09C93-D244-D397-63BD-43D0FE928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4A8BF-E5C6-5AEF-0189-E5E50D132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89E8C-E5D2-7EE1-C324-F5B1AFE7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0AE84-608D-54CE-948F-30931278F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955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1627-AED9-42B2-E6AF-0B215938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27644-3B6A-9368-AF86-77CC40D17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7970A-3A15-C173-ACD6-39030B497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0F624-D772-B3F0-9417-F0ECA3065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501B93-1210-31F7-A393-E2CDD2EFB7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3F7AD-6AD3-E8FD-43AD-B4FD08E5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41072-C4BC-3BE0-3999-3D067503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5AD87-F041-A8B1-F280-065A66FC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833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0B14-E40D-A7E4-E49E-BF4A41E5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A3EA7-9E4B-7A89-D8C7-94FAA942C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3B19-4CAC-0EA1-9E73-4CFE9DC4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FA75D9-1C6B-F4AA-0A88-CD831016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97CA5-1D93-406A-8361-B8D738ABF05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44508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DE458-E7C9-3B33-9EEF-4C677E576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15594-636A-E3E6-60BF-C4BF0B9A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AA6FC-547F-D001-6C64-CF99B7DA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6959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7C1E-86E3-C6EE-EC71-05D20DDF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0CD8-7AE3-503B-E11A-E239BB3AD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8DFB9-D14B-FB43-1664-FC9B4AC9C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1E741-7962-1179-4CFD-85E34D51F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779C4-8E65-D7DB-4E50-CE720DFA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87E87-8E3F-6D5B-8B86-1A1A7EC3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518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EB3D-F409-4963-6F1F-DC5399611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30A947-4C15-E13B-E377-DF6AE29A5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8298E-AA1B-E429-6159-3479E2C33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9A054-7D71-69EB-2D25-2E5BD636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FA49D-6778-6D83-3CB3-10DF852D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94663-33FC-DBFF-D3B5-445430D3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296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6FF5-6DD9-1E16-EDFB-30E0F963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B3CFD5-93C6-9649-5B6D-BFEB643B4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E1F12-1D9B-394A-A6BD-6A7155A5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D7B0A-283D-3538-22E5-F58C6C5E6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F2C17-99D4-4C9C-803C-D022F0BF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233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572D4-C093-E835-E6B1-558A50935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BA0BA-2F34-05B2-A373-FAB2A477F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DFBB-6E43-280C-5365-F350AE60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5AF3C-E79C-8670-1CBC-1897DE8D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D8470-21F1-DE49-DE4F-74A3A049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4238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80240" y="5032080"/>
            <a:ext cx="2343240" cy="13647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lt-L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80240" y="459360"/>
            <a:ext cx="5615280" cy="4561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lt-LT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520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80240" y="5032080"/>
            <a:ext cx="2343240" cy="13647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lt-L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80240" y="460800"/>
            <a:ext cx="5615280" cy="45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4535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9C3FA-D3B7-BB78-2357-E2FD518A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EE5EF-67E2-4D40-455B-A26C11725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29F2F-1194-7935-1546-E788F6F1E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25CC8-8E42-4399-AB74-9DCD0519999E}" type="datetimeFigureOut">
              <a:rPr lang="lt-LT" smtClean="0"/>
              <a:t>2026-01-21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06168-E4B4-C64B-FF60-7F5A78F70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554EF-C7BF-5BF2-34AE-28CCCB2F7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38D8C8B9-6727-4723-B008-7EF32A8A055F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0773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f_list.asp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w3schools.com/python/python_ref_dictionary.asp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f_dictionary.asp" TargetMode="External"/><Relationship Id="rId2" Type="http://schemas.openxmlformats.org/officeDocument/2006/relationships/hyperlink" Target="https://www.w3schools.com/python/python_ref_list.asp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Shape 1"/>
          <p:cNvSpPr txBox="1"/>
          <p:nvPr/>
        </p:nvSpPr>
        <p:spPr>
          <a:xfrm>
            <a:off x="1959429" y="590620"/>
            <a:ext cx="8608718" cy="23871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lt-LT" sz="4400" b="1" spc="-1" dirty="0">
                <a:solidFill>
                  <a:srgbClr val="000000"/>
                </a:solidFill>
                <a:latin typeface="Arial"/>
              </a:rPr>
              <a:t>Python Intro: m</a:t>
            </a:r>
            <a:r>
              <a:rPr lang="lt-LT" sz="4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asyvai, ciklai</a:t>
            </a:r>
            <a:endParaRPr lang="lt-LT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495720" y="5930280"/>
            <a:ext cx="2267280" cy="3371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lt-LT" sz="1600" b="1" spc="-1" dirty="0">
                <a:solidFill>
                  <a:srgbClr val="000000"/>
                </a:solidFill>
                <a:latin typeface="Arial"/>
              </a:rPr>
              <a:t>202</a:t>
            </a:r>
            <a:r>
              <a:rPr lang="en-US" sz="1600" b="1" spc="-1" dirty="0">
                <a:solidFill>
                  <a:srgbClr val="000000"/>
                </a:solidFill>
                <a:latin typeface="Arial"/>
              </a:rPr>
              <a:t>6</a:t>
            </a:r>
            <a:endParaRPr lang="lt-LT" sz="1600" b="0" strike="noStrike" spc="-1" dirty="0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B26A47-51CC-CF1B-509D-83E41E67F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285" y="5327197"/>
            <a:ext cx="2429214" cy="7716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27917E-3A2A-1790-9474-79B106E9DFA1}"/>
              </a:ext>
            </a:extLst>
          </p:cNvPr>
          <p:cNvSpPr txBox="1"/>
          <p:nvPr/>
        </p:nvSpPr>
        <p:spPr>
          <a:xfrm>
            <a:off x="3080658" y="3567713"/>
            <a:ext cx="662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3200" dirty="0"/>
              <a:t>Žydrūnė Kelpšaitė,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000000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Shape 2"/>
          <p:cNvSpPr txBox="1"/>
          <p:nvPr/>
        </p:nvSpPr>
        <p:spPr>
          <a:xfrm>
            <a:off x="480240" y="1371600"/>
            <a:ext cx="5153400" cy="13647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Šiandien išmoksite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Shape 3"/>
          <p:cNvSpPr txBox="1"/>
          <p:nvPr/>
        </p:nvSpPr>
        <p:spPr>
          <a:xfrm>
            <a:off x="1398600" y="3329280"/>
            <a:ext cx="4235400" cy="4593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Kas yra masyvas ir ciklas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Shape 4"/>
          <p:cNvSpPr txBox="1"/>
          <p:nvPr/>
        </p:nvSpPr>
        <p:spPr>
          <a:xfrm>
            <a:off x="1398600" y="4563720"/>
            <a:ext cx="4235400" cy="343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Apie duomenų tipą – sąrašas (list)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Shape 5"/>
          <p:cNvSpPr txBox="1"/>
          <p:nvPr/>
        </p:nvSpPr>
        <p:spPr>
          <a:xfrm>
            <a:off x="1398600" y="5697000"/>
            <a:ext cx="4235400" cy="3308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Apie duomenų tipą – žodynas (dict)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Shape 6"/>
          <p:cNvSpPr txBox="1"/>
          <p:nvPr/>
        </p:nvSpPr>
        <p:spPr>
          <a:xfrm>
            <a:off x="7476480" y="3376440"/>
            <a:ext cx="4235400" cy="3654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Formuoti veiksmus cikluose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4" name="Group 7"/>
          <p:cNvGrpSpPr/>
          <p:nvPr/>
        </p:nvGrpSpPr>
        <p:grpSpPr>
          <a:xfrm>
            <a:off x="480240" y="3193560"/>
            <a:ext cx="731160" cy="731160"/>
            <a:chOff x="480240" y="3193560"/>
            <a:chExt cx="731160" cy="731160"/>
          </a:xfrm>
        </p:grpSpPr>
        <p:sp>
          <p:nvSpPr>
            <p:cNvPr id="275" name="CustomShape 8"/>
            <p:cNvSpPr/>
            <p:nvPr/>
          </p:nvSpPr>
          <p:spPr>
            <a:xfrm>
              <a:off x="480240" y="319356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76" name="CustomShape 9"/>
            <p:cNvSpPr/>
            <p:nvPr/>
          </p:nvSpPr>
          <p:spPr>
            <a:xfrm>
              <a:off x="633240" y="336096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01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277" name="Group 10"/>
          <p:cNvGrpSpPr/>
          <p:nvPr/>
        </p:nvGrpSpPr>
        <p:grpSpPr>
          <a:xfrm>
            <a:off x="480240" y="4369680"/>
            <a:ext cx="731160" cy="731160"/>
            <a:chOff x="480240" y="4369680"/>
            <a:chExt cx="731160" cy="731160"/>
          </a:xfrm>
        </p:grpSpPr>
        <p:sp>
          <p:nvSpPr>
            <p:cNvPr id="278" name="CustomShape 11"/>
            <p:cNvSpPr/>
            <p:nvPr/>
          </p:nvSpPr>
          <p:spPr>
            <a:xfrm>
              <a:off x="480240" y="436968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79" name="CustomShape 12"/>
            <p:cNvSpPr/>
            <p:nvPr/>
          </p:nvSpPr>
          <p:spPr>
            <a:xfrm>
              <a:off x="633240" y="453744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02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280" name="Group 13"/>
          <p:cNvGrpSpPr/>
          <p:nvPr/>
        </p:nvGrpSpPr>
        <p:grpSpPr>
          <a:xfrm>
            <a:off x="480240" y="5496840"/>
            <a:ext cx="731160" cy="731160"/>
            <a:chOff x="480240" y="5496840"/>
            <a:chExt cx="731160" cy="731160"/>
          </a:xfrm>
        </p:grpSpPr>
        <p:sp>
          <p:nvSpPr>
            <p:cNvPr id="281" name="CustomShape 14"/>
            <p:cNvSpPr/>
            <p:nvPr/>
          </p:nvSpPr>
          <p:spPr>
            <a:xfrm>
              <a:off x="480240" y="549684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82" name="CustomShape 15"/>
            <p:cNvSpPr/>
            <p:nvPr/>
          </p:nvSpPr>
          <p:spPr>
            <a:xfrm>
              <a:off x="633240" y="566460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03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283" name="Group 16"/>
          <p:cNvGrpSpPr/>
          <p:nvPr/>
        </p:nvGrpSpPr>
        <p:grpSpPr>
          <a:xfrm>
            <a:off x="6557760" y="3193560"/>
            <a:ext cx="731160" cy="731160"/>
            <a:chOff x="6557760" y="3193560"/>
            <a:chExt cx="731160" cy="731160"/>
          </a:xfrm>
        </p:grpSpPr>
        <p:sp>
          <p:nvSpPr>
            <p:cNvPr id="284" name="CustomShape 17"/>
            <p:cNvSpPr/>
            <p:nvPr/>
          </p:nvSpPr>
          <p:spPr>
            <a:xfrm>
              <a:off x="6557760" y="319356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85" name="CustomShape 18"/>
            <p:cNvSpPr/>
            <p:nvPr/>
          </p:nvSpPr>
          <p:spPr>
            <a:xfrm>
              <a:off x="6710400" y="336096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04</a:t>
              </a:r>
              <a:endParaRPr lang="lt-LT" sz="20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287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latin typeface="Arial"/>
                <a:ea typeface="Arial"/>
              </a:rPr>
              <a:t>Sąrašai (List)</a:t>
            </a:r>
          </a:p>
          <a:p>
            <a:pPr>
              <a:lnSpc>
                <a:spcPct val="90000"/>
              </a:lnSpc>
            </a:pPr>
            <a:endParaRPr lang="lt-LT" sz="3000" b="0" strike="noStrike" spc="-1" dirty="0">
              <a:latin typeface="Arial"/>
            </a:endParaRPr>
          </a:p>
        </p:txBody>
      </p:sp>
      <p:pic>
        <p:nvPicPr>
          <p:cNvPr id="288" name="Picture 2"/>
          <p:cNvPicPr/>
          <p:nvPr/>
        </p:nvPicPr>
        <p:blipFill>
          <a:blip r:embed="rId3"/>
          <a:stretch/>
        </p:blipFill>
        <p:spPr>
          <a:xfrm>
            <a:off x="157680" y="2800800"/>
            <a:ext cx="5266800" cy="1961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AD58-63C8-8899-EE6F-00BF1136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b="1" dirty="0"/>
              <a:t>Indeksai ir simbolių pasiekimas</a:t>
            </a:r>
            <a:br>
              <a:rPr lang="lt-LT" b="1" dirty="0"/>
            </a:br>
            <a:endParaRPr lang="lt-L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31BD3-CD78-0A05-ADAF-7A12E8570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Indeksai leidžia pasiekti konkrečius simbolius tekstuose ar elementus sąrašuose</a:t>
            </a:r>
          </a:p>
          <a:p>
            <a:r>
              <a:rPr lang="lt-LT" b="1" dirty="0">
                <a:solidFill>
                  <a:srgbClr val="FF0000"/>
                </a:solidFill>
              </a:rPr>
              <a:t>Indeksavimas prasideda nuo 0</a:t>
            </a:r>
          </a:p>
          <a:p>
            <a:pPr marL="0" indent="0">
              <a:buNone/>
            </a:pPr>
            <a:endParaRPr lang="lt-L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FE547-9C5A-59FF-A843-3BC5992D4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32" y="3644056"/>
            <a:ext cx="8623433" cy="2093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2A7DBB-0BEA-14DA-FA57-463775434601}"/>
              </a:ext>
            </a:extLst>
          </p:cNvPr>
          <p:cNvSpPr txBox="1"/>
          <p:nvPr/>
        </p:nvSpPr>
        <p:spPr>
          <a:xfrm>
            <a:off x="7472030" y="2747044"/>
            <a:ext cx="2549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[start:stop:step]</a:t>
            </a:r>
            <a:endParaRPr kumimoji="0" lang="lt-LT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73405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Shape 2"/>
          <p:cNvSpPr txBox="1"/>
          <p:nvPr/>
        </p:nvSpPr>
        <p:spPr>
          <a:xfrm>
            <a:off x="6327092" y="29122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Kaip pasiekti atskirus sąrašo įrašus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1" name="Picture 2"/>
          <p:cNvPicPr/>
          <p:nvPr/>
        </p:nvPicPr>
        <p:blipFill>
          <a:blip r:embed="rId3"/>
          <a:stretch/>
        </p:blipFill>
        <p:spPr>
          <a:xfrm>
            <a:off x="480240" y="1214166"/>
            <a:ext cx="5628508" cy="5183034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0145F9-25CB-6882-EFD1-6E109DD65747}"/>
              </a:ext>
            </a:extLst>
          </p:cNvPr>
          <p:cNvSpPr txBox="1"/>
          <p:nvPr/>
        </p:nvSpPr>
        <p:spPr>
          <a:xfrm>
            <a:off x="6694141" y="4539268"/>
            <a:ext cx="2549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[start:stop:step]</a:t>
            </a:r>
            <a:endParaRPr kumimoji="0" lang="lt-LT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  <p:cxnSp>
        <p:nvCxnSpPr>
          <p:cNvPr id="4" name="Tiesioji rodyklės jungtis 3">
            <a:extLst>
              <a:ext uri="{FF2B5EF4-FFF2-40B4-BE49-F238E27FC236}">
                <a16:creationId xmlns:a16="http://schemas.microsoft.com/office/drawing/2014/main" id="{FD6F19B9-16F6-E4D2-7A83-94FDF8FE7AE7}"/>
              </a:ext>
            </a:extLst>
          </p:cNvPr>
          <p:cNvCxnSpPr>
            <a:cxnSpLocks/>
          </p:cNvCxnSpPr>
          <p:nvPr/>
        </p:nvCxnSpPr>
        <p:spPr>
          <a:xfrm flipH="1">
            <a:off x="4507331" y="3140938"/>
            <a:ext cx="1894114" cy="1104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Kaip į sąrašą pridėti duomenų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Picture 2"/>
          <p:cNvPicPr/>
          <p:nvPr/>
        </p:nvPicPr>
        <p:blipFill>
          <a:blip r:embed="rId2"/>
          <a:stretch/>
        </p:blipFill>
        <p:spPr>
          <a:xfrm>
            <a:off x="703440" y="2124000"/>
            <a:ext cx="4240800" cy="3458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Kaip pakeisti ar ištrinti sąrašo įrašą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Picture 2"/>
          <p:cNvPicPr/>
          <p:nvPr/>
        </p:nvPicPr>
        <p:blipFill>
          <a:blip r:embed="rId2"/>
          <a:stretch/>
        </p:blipFill>
        <p:spPr>
          <a:xfrm>
            <a:off x="849240" y="1904400"/>
            <a:ext cx="3722400" cy="4399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2">
            <a:extLst>
              <a:ext uri="{FF2B5EF4-FFF2-40B4-BE49-F238E27FC236}">
                <a16:creationId xmlns:a16="http://schemas.microsoft.com/office/drawing/2014/main" id="{EED78742-AB64-CB3B-1FD4-9F4D311AA7BF}"/>
              </a:ext>
            </a:extLst>
          </p:cNvPr>
          <p:cNvSpPr txBox="1"/>
          <p:nvPr/>
        </p:nvSpPr>
        <p:spPr>
          <a:xfrm>
            <a:off x="5925312" y="571632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Kaip sužinoti sąrašo dydį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BEB19B-D20C-D6AC-8AE2-6A753EB9E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68" y="2259140"/>
            <a:ext cx="8179904" cy="381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13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Žodynai (Dictionary)</a:t>
            </a:r>
          </a:p>
          <a:p>
            <a:pPr>
              <a:lnSpc>
                <a:spcPct val="90000"/>
              </a:lnSpc>
            </a:pPr>
            <a:r>
              <a:rPr lang="lt-LT" sz="3000" b="1" spc="-1" dirty="0">
                <a:solidFill>
                  <a:srgbClr val="000000"/>
                </a:solidFill>
                <a:latin typeface="Arial"/>
              </a:rPr>
              <a:t>{}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3" name="Picture 2"/>
          <p:cNvPicPr/>
          <p:nvPr/>
        </p:nvPicPr>
        <p:blipFill>
          <a:blip r:embed="rId3"/>
          <a:stretch/>
        </p:blipFill>
        <p:spPr>
          <a:xfrm>
            <a:off x="261936" y="1343688"/>
            <a:ext cx="6138864" cy="1875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305" name="TextShape 2"/>
          <p:cNvSpPr txBox="1"/>
          <p:nvPr/>
        </p:nvSpPr>
        <p:spPr>
          <a:xfrm>
            <a:off x="5878680" y="714852"/>
            <a:ext cx="5833080" cy="18954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latin typeface="Arial"/>
                <a:ea typeface="Arial"/>
              </a:rPr>
              <a:t>Kaip pasiekti konkretų žodyno įrašą</a:t>
            </a:r>
          </a:p>
        </p:txBody>
      </p:sp>
      <p:pic>
        <p:nvPicPr>
          <p:cNvPr id="306" name="Picture 2"/>
          <p:cNvPicPr/>
          <p:nvPr/>
        </p:nvPicPr>
        <p:blipFill>
          <a:blip r:embed="rId3"/>
          <a:stretch/>
        </p:blipFill>
        <p:spPr>
          <a:xfrm>
            <a:off x="250920" y="2960280"/>
            <a:ext cx="6978936" cy="318286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Shape 2"/>
          <p:cNvSpPr txBox="1"/>
          <p:nvPr/>
        </p:nvSpPr>
        <p:spPr>
          <a:xfrm>
            <a:off x="6358920" y="617316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Kaip pridėti į žodyno įrašą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Picture 2"/>
          <p:cNvPicPr/>
          <p:nvPr/>
        </p:nvPicPr>
        <p:blipFill>
          <a:blip r:embed="rId3"/>
          <a:stretch/>
        </p:blipFill>
        <p:spPr>
          <a:xfrm>
            <a:off x="811560" y="2284674"/>
            <a:ext cx="7917912" cy="316514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Shape 2"/>
          <p:cNvSpPr txBox="1"/>
          <p:nvPr/>
        </p:nvSpPr>
        <p:spPr>
          <a:xfrm>
            <a:off x="6095520" y="536364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Kaip pakeisti žodyno įrašą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Picture 2"/>
          <p:cNvPicPr/>
          <p:nvPr/>
        </p:nvPicPr>
        <p:blipFill>
          <a:blip r:embed="rId3"/>
          <a:stretch/>
        </p:blipFill>
        <p:spPr>
          <a:xfrm>
            <a:off x="474452" y="1339950"/>
            <a:ext cx="8693932" cy="29028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Shape 2"/>
          <p:cNvSpPr txBox="1"/>
          <p:nvPr/>
        </p:nvSpPr>
        <p:spPr>
          <a:xfrm>
            <a:off x="6754368" y="5265552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Kaip ištrinti žodyno įrašą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Picture 2"/>
          <p:cNvPicPr/>
          <p:nvPr/>
        </p:nvPicPr>
        <p:blipFill>
          <a:blip r:embed="rId3"/>
          <a:stretch/>
        </p:blipFill>
        <p:spPr>
          <a:xfrm>
            <a:off x="731070" y="914040"/>
            <a:ext cx="7571681" cy="300099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Shape 2"/>
          <p:cNvSpPr txBox="1"/>
          <p:nvPr/>
        </p:nvSpPr>
        <p:spPr>
          <a:xfrm>
            <a:off x="7790688" y="1633728"/>
            <a:ext cx="4674840" cy="910248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For ciklai 1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Picture 2"/>
          <p:cNvPicPr/>
          <p:nvPr/>
        </p:nvPicPr>
        <p:blipFill>
          <a:blip r:embed="rId3"/>
          <a:stretch/>
        </p:blipFill>
        <p:spPr>
          <a:xfrm>
            <a:off x="858864" y="917540"/>
            <a:ext cx="6261263" cy="48127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Shape 2"/>
          <p:cNvSpPr txBox="1"/>
          <p:nvPr/>
        </p:nvSpPr>
        <p:spPr>
          <a:xfrm>
            <a:off x="7680960" y="3485520"/>
            <a:ext cx="4370040" cy="8426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For ciklai 2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1" name="Picture 2"/>
          <p:cNvPicPr/>
          <p:nvPr/>
        </p:nvPicPr>
        <p:blipFill>
          <a:blip r:embed="rId3"/>
          <a:stretch/>
        </p:blipFill>
        <p:spPr>
          <a:xfrm>
            <a:off x="287168" y="914040"/>
            <a:ext cx="6857343" cy="390891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323" name="TextShape 2"/>
          <p:cNvSpPr txBox="1"/>
          <p:nvPr/>
        </p:nvSpPr>
        <p:spPr>
          <a:xfrm>
            <a:off x="7571232" y="719328"/>
            <a:ext cx="4479768" cy="3799752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latin typeface="Arial"/>
                <a:ea typeface="Arial"/>
              </a:rPr>
              <a:t>Kaip iteruoti per žodyno įrašus</a:t>
            </a:r>
            <a:endParaRPr lang="lt-LT" sz="3000" b="0" strike="noStrike" spc="-1">
              <a:latin typeface="Arial"/>
            </a:endParaRPr>
          </a:p>
        </p:txBody>
      </p:sp>
      <p:pic>
        <p:nvPicPr>
          <p:cNvPr id="324" name="Picture 2"/>
          <p:cNvPicPr/>
          <p:nvPr/>
        </p:nvPicPr>
        <p:blipFill>
          <a:blip r:embed="rId3"/>
          <a:stretch/>
        </p:blipFill>
        <p:spPr>
          <a:xfrm>
            <a:off x="480240" y="719328"/>
            <a:ext cx="6627696" cy="568219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326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latin typeface="Arial"/>
                <a:ea typeface="Arial"/>
              </a:rPr>
              <a:t>Kaip sukti for ciklą tam tikrą kiekį kartų (funkcija range)</a:t>
            </a:r>
            <a:endParaRPr lang="lt-LT" sz="3000" b="0" strike="noStrike" spc="-1">
              <a:latin typeface="Arial"/>
            </a:endParaRPr>
          </a:p>
        </p:txBody>
      </p:sp>
      <p:pic>
        <p:nvPicPr>
          <p:cNvPr id="327" name="Picture 2"/>
          <p:cNvPicPr/>
          <p:nvPr/>
        </p:nvPicPr>
        <p:blipFill>
          <a:blip r:embed="rId3"/>
          <a:stretch/>
        </p:blipFill>
        <p:spPr>
          <a:xfrm>
            <a:off x="820080" y="1271520"/>
            <a:ext cx="3960000" cy="5329440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E7835E-B713-DD8A-1872-1FA60ABBE4FF}"/>
              </a:ext>
            </a:extLst>
          </p:cNvPr>
          <p:cNvSpPr txBox="1"/>
          <p:nvPr/>
        </p:nvSpPr>
        <p:spPr>
          <a:xfrm>
            <a:off x="5304253" y="5782852"/>
            <a:ext cx="2549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t-LT" altLang="lt-L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[start:stop:step]</a:t>
            </a:r>
            <a:endParaRPr kumimoji="0" lang="lt-LT" altLang="lt-L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Shape 1"/>
          <p:cNvSpPr txBox="1"/>
          <p:nvPr/>
        </p:nvSpPr>
        <p:spPr>
          <a:xfrm>
            <a:off x="6576720" y="268227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 dirty="0">
                <a:latin typeface="Arial"/>
                <a:ea typeface="Arial"/>
              </a:rPr>
              <a:t>2 paskaita. Masyvai, ciklai</a:t>
            </a:r>
            <a:endParaRPr lang="lt-LT" sz="1300" b="0" strike="noStrike" spc="-1" dirty="0">
              <a:latin typeface="Arial"/>
            </a:endParaRPr>
          </a:p>
        </p:txBody>
      </p:sp>
      <p:sp>
        <p:nvSpPr>
          <p:cNvPr id="329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latin typeface="Arial"/>
                <a:ea typeface="Arial"/>
              </a:rPr>
              <a:t>While ciklai – kol sąlyga yra tenkinama, daryk</a:t>
            </a:r>
            <a:endParaRPr lang="lt-LT" sz="3000" b="0" strike="noStrike" spc="-1" dirty="0">
              <a:latin typeface="Arial"/>
            </a:endParaRPr>
          </a:p>
        </p:txBody>
      </p:sp>
      <p:pic>
        <p:nvPicPr>
          <p:cNvPr id="330" name="Picture 2"/>
          <p:cNvPicPr/>
          <p:nvPr/>
        </p:nvPicPr>
        <p:blipFill>
          <a:blip r:embed="rId3"/>
          <a:stretch/>
        </p:blipFill>
        <p:spPr>
          <a:xfrm>
            <a:off x="890016" y="268227"/>
            <a:ext cx="2391508" cy="6327637"/>
          </a:xfrm>
          <a:prstGeom prst="rect">
            <a:avLst/>
          </a:prstGeom>
          <a:ln>
            <a:noFill/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109B67-4705-23F3-5370-134875C5E3B3}"/>
              </a:ext>
            </a:extLst>
          </p:cNvPr>
          <p:cNvCxnSpPr/>
          <p:nvPr/>
        </p:nvCxnSpPr>
        <p:spPr>
          <a:xfrm flipH="1">
            <a:off x="3704492" y="4849837"/>
            <a:ext cx="23915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Begalinis ciklas (Infinite loop)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3" name="Picture 2"/>
          <p:cNvPicPr/>
          <p:nvPr/>
        </p:nvPicPr>
        <p:blipFill>
          <a:blip r:embed="rId3"/>
          <a:stretch/>
        </p:blipFill>
        <p:spPr>
          <a:xfrm>
            <a:off x="1049400" y="768096"/>
            <a:ext cx="4680840" cy="545054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Shape 2"/>
          <p:cNvSpPr txBox="1"/>
          <p:nvPr/>
        </p:nvSpPr>
        <p:spPr>
          <a:xfrm>
            <a:off x="7388352" y="3145536"/>
            <a:ext cx="4662648" cy="1373544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Ciklo nutraukimas (break)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Picture 2"/>
          <p:cNvPicPr/>
          <p:nvPr/>
        </p:nvPicPr>
        <p:blipFill>
          <a:blip r:embed="rId3"/>
          <a:stretch/>
        </p:blipFill>
        <p:spPr>
          <a:xfrm>
            <a:off x="324554" y="1341120"/>
            <a:ext cx="6478582" cy="4458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338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latin typeface="Arial"/>
                <a:ea typeface="Arial"/>
              </a:rPr>
              <a:t>Pakartojimo praleidimas (continue)</a:t>
            </a:r>
            <a:endParaRPr lang="lt-LT" sz="3000" b="0" strike="noStrike" spc="-1" dirty="0">
              <a:latin typeface="Arial"/>
            </a:endParaRPr>
          </a:p>
        </p:txBody>
      </p:sp>
      <p:pic>
        <p:nvPicPr>
          <p:cNvPr id="339" name="Picture 2"/>
          <p:cNvPicPr/>
          <p:nvPr/>
        </p:nvPicPr>
        <p:blipFill>
          <a:blip r:embed="rId3"/>
          <a:stretch/>
        </p:blipFill>
        <p:spPr>
          <a:xfrm>
            <a:off x="729720" y="1048512"/>
            <a:ext cx="5122440" cy="520756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Shape 2"/>
          <p:cNvSpPr txBox="1"/>
          <p:nvPr/>
        </p:nvSpPr>
        <p:spPr>
          <a:xfrm>
            <a:off x="6851904" y="1729871"/>
            <a:ext cx="4882177" cy="1056871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Sąlyga [else] for ir while cikluose 1</a:t>
            </a: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Picture 2"/>
          <p:cNvPicPr/>
          <p:nvPr/>
        </p:nvPicPr>
        <p:blipFill>
          <a:blip r:embed="rId2"/>
          <a:stretch/>
        </p:blipFill>
        <p:spPr>
          <a:xfrm>
            <a:off x="457919" y="816864"/>
            <a:ext cx="5516161" cy="542301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Shape 1"/>
          <p:cNvSpPr txBox="1"/>
          <p:nvPr/>
        </p:nvSpPr>
        <p:spPr>
          <a:xfrm>
            <a:off x="752420" y="52176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344" name="TextShape 2"/>
          <p:cNvSpPr txBox="1"/>
          <p:nvPr/>
        </p:nvSpPr>
        <p:spPr>
          <a:xfrm>
            <a:off x="7538612" y="352038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latin typeface="Arial"/>
                <a:ea typeface="Arial"/>
              </a:rPr>
              <a:t>Sąlyga [else] for ir while cikluose 2</a:t>
            </a:r>
            <a:endParaRPr lang="lt-LT" sz="3000" b="0" strike="noStrike" spc="-1">
              <a:latin typeface="Arial"/>
            </a:endParaRPr>
          </a:p>
        </p:txBody>
      </p:sp>
      <p:pic>
        <p:nvPicPr>
          <p:cNvPr id="345" name="Picture 2"/>
          <p:cNvPicPr/>
          <p:nvPr/>
        </p:nvPicPr>
        <p:blipFill>
          <a:blip r:embed="rId2"/>
          <a:stretch/>
        </p:blipFill>
        <p:spPr>
          <a:xfrm>
            <a:off x="674040" y="1499616"/>
            <a:ext cx="6763080" cy="418454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7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48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49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1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50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51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Sukurti norimą sąrašą ir žodyną ir juose: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Atspausdinti vieną norimą įrašą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Pridėti įrašą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Ištrinti įrašą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pakeisti įrašą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Išbandyti kitas sąrašų ir žodynų funkcijas: clear(), index(), insert(), remove...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u="sng" strike="noStrike" spc="-1">
                <a:solidFill>
                  <a:srgbClr val="0000FF"/>
                </a:solidFill>
                <a:uFillTx/>
                <a:latin typeface="Arial"/>
                <a:ea typeface="Arial"/>
                <a:hlinkClick r:id="rId3"/>
              </a:rPr>
              <a:t>https://www.w3schools.com/python/python_ref_list.asp</a:t>
            </a: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u="sng" strike="noStrike" spc="-1">
                <a:solidFill>
                  <a:srgbClr val="0000FF"/>
                </a:solidFill>
                <a:uFillTx/>
                <a:latin typeface="Arial"/>
                <a:ea typeface="Arial"/>
                <a:hlinkClick r:id="rId4"/>
              </a:rPr>
              <a:t>https://www.w3schools.com/python/python_ref_dictionary.asp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3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54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55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2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56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57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Parašyti </a:t>
            </a:r>
            <a:r>
              <a:rPr lang="en-US" sz="1400" spc="-1" dirty="0" err="1">
                <a:solidFill>
                  <a:srgbClr val="000000"/>
                </a:solidFill>
                <a:latin typeface="Arial"/>
                <a:ea typeface="Arial"/>
              </a:rPr>
              <a:t>kod</a:t>
            </a:r>
            <a:r>
              <a:rPr lang="lt-LT" sz="1400" spc="-1" dirty="0">
                <a:solidFill>
                  <a:srgbClr val="000000"/>
                </a:solidFill>
                <a:latin typeface="Arial"/>
                <a:ea typeface="Arial"/>
              </a:rPr>
              <a:t>ą, kuris: </a:t>
            </a:r>
          </a:p>
          <a:p>
            <a:pPr marL="285750" indent="-28575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Leistų vartotojui įvesti skaičių.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Jei įvestas skaičius yra teigiamas, paprašyti įvesti dar vieną skaičių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Jei įvestas skaičius neigiamas, nutraukti programą ir atspausdinti visų įvestų teigiamų skaičių sumą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Patarimas: Naudoti ciklą while, sąlygą if, break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9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60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61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3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62" name="Picture Placeholder 2"/>
          <p:cNvPicPr/>
          <p:nvPr/>
        </p:nvPicPr>
        <p:blipFill>
          <a:blip r:embed="rId3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63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Sukurti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kod</a:t>
            </a: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ą, kuris: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Leistų vartotojui įvesti 5 žodžius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Pridėtų įvestus žodžius į sąrašą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kiekvieną žodį, jo ilgį ir eilės numerį sąraše (nuo 1)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Sudėtingiau: kad programa leistų įvesti norimą žodžių kiekį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Patarimas: Naudoti sąrašą (list), ciklą for, funkcijas len ir index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5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66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67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4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68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69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Sukurti kodą, kuris: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Sugeneruotų tris atsitiktinius skaičius nuo 1 iki 6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Jei vienas iš šių skaičių yra 5, atspausdinti „Pralaimėjai...“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Kitu atveju atspausdinti „Laimėjai!“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Patarimas: Naudoti while ciklą, funkciją random.randint (import random), else, break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1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72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73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5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74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75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Sukurti </a:t>
            </a:r>
            <a:r>
              <a:rPr lang="en-US" sz="1400" spc="-1" dirty="0" err="1">
                <a:solidFill>
                  <a:srgbClr val="000000"/>
                </a:solidFill>
                <a:latin typeface="Arial"/>
                <a:ea typeface="Arial"/>
              </a:rPr>
              <a:t>kod</a:t>
            </a:r>
            <a:r>
              <a:rPr lang="lt-LT" sz="1400" spc="-1" dirty="0">
                <a:solidFill>
                  <a:srgbClr val="000000"/>
                </a:solidFill>
                <a:latin typeface="Arial"/>
                <a:ea typeface="Arial"/>
              </a:rPr>
              <a:t>ą, kuris: </a:t>
            </a:r>
          </a:p>
          <a:p>
            <a:pPr marL="285750" indent="-28575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Leistų vartotojui įvesti metus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„Keliamieji metai“, jei taip yra</a:t>
            </a:r>
            <a:endParaRPr lang="lt-LT" sz="1400" b="0" strike="noStrike" spc="-1" dirty="0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Atspausdintų „Nekeliamieji metai“, jei taip yra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Keliamieji metai yra kas 4 metus, išskyrus paskutinius amžiaus metus, kurie keliamieji yra tik kas 400 metų</a:t>
            </a:r>
            <a:endParaRPr lang="lt-LT" sz="14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2 paskaita. Masyvai, ciklai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7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78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79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6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80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81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Perdaryti 5 užduoti taip, kad programa atspausdintų visus keliamuosius metus, nuo 1900 iki 2100 metų.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000000"/>
                </a:solidFill>
                <a:latin typeface="Arial"/>
                <a:ea typeface="Arial"/>
              </a:rPr>
              <a:t>2 paskaita. Kintamieji, if sąlyga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Shape 2"/>
          <p:cNvSpPr txBox="1"/>
          <p:nvPr/>
        </p:nvSpPr>
        <p:spPr>
          <a:xfrm>
            <a:off x="3281760" y="1821960"/>
            <a:ext cx="3750480" cy="3294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strike="noStrike" spc="-1">
                <a:solidFill>
                  <a:srgbClr val="000000"/>
                </a:solidFill>
                <a:latin typeface="Arial"/>
                <a:ea typeface="Arial"/>
              </a:rPr>
              <a:t>List functions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Shape 3"/>
          <p:cNvSpPr txBox="1"/>
          <p:nvPr/>
        </p:nvSpPr>
        <p:spPr>
          <a:xfrm>
            <a:off x="3281760" y="2171520"/>
            <a:ext cx="3750480" cy="504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Sąrašo funkcijos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Shape 4"/>
          <p:cNvSpPr txBox="1"/>
          <p:nvPr/>
        </p:nvSpPr>
        <p:spPr>
          <a:xfrm>
            <a:off x="480240" y="5032080"/>
            <a:ext cx="2343240" cy="13647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Naudinga informacija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Shape 5"/>
          <p:cNvSpPr txBox="1"/>
          <p:nvPr/>
        </p:nvSpPr>
        <p:spPr>
          <a:xfrm>
            <a:off x="7503480" y="1821960"/>
            <a:ext cx="4207680" cy="790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u="sng" strike="noStrike" spc="-1">
                <a:solidFill>
                  <a:srgbClr val="0000FF"/>
                </a:solidFill>
                <a:uFillTx/>
                <a:latin typeface="Arial"/>
                <a:ea typeface="Arial"/>
                <a:hlinkClick r:id="rId2"/>
              </a:rPr>
              <a:t>https://www.w3schools.com/python/python_ref_list.asp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Shape 6"/>
          <p:cNvSpPr txBox="1"/>
          <p:nvPr/>
        </p:nvSpPr>
        <p:spPr>
          <a:xfrm>
            <a:off x="3281760" y="2818440"/>
            <a:ext cx="3750480" cy="3294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strike="noStrike" spc="-1">
                <a:solidFill>
                  <a:srgbClr val="000000"/>
                </a:solidFill>
                <a:latin typeface="Arial"/>
                <a:ea typeface="Arial"/>
              </a:rPr>
              <a:t>Dictionary functions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Shape 7"/>
          <p:cNvSpPr txBox="1"/>
          <p:nvPr/>
        </p:nvSpPr>
        <p:spPr>
          <a:xfrm>
            <a:off x="3281760" y="3168000"/>
            <a:ext cx="3750480" cy="504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Žodyno funkcijos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Shape 8"/>
          <p:cNvSpPr txBox="1"/>
          <p:nvPr/>
        </p:nvSpPr>
        <p:spPr>
          <a:xfrm>
            <a:off x="7503480" y="2818440"/>
            <a:ext cx="4207680" cy="790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u="sng" strike="noStrike" spc="-1">
                <a:solidFill>
                  <a:srgbClr val="0000FF"/>
                </a:solidFill>
                <a:uFillTx/>
                <a:latin typeface="Arial"/>
                <a:ea typeface="Arial"/>
                <a:hlinkClick r:id="rId3"/>
              </a:rPr>
              <a:t>https://www.w3schools.com/python/python_ref_dictionary.asp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2e3587-765d-4918-9d92-5b93275042d2">
      <Terms xmlns="http://schemas.microsoft.com/office/infopath/2007/PartnerControls"/>
    </lcf76f155ced4ddcb4097134ff3c332f>
    <TaxCatchAll xmlns="eb74e56a-683e-4ac4-9917-2810b22b5cab" xsi:nil="true"/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AppVersion xmlns="662e3587-765d-4918-9d92-5b93275042d2">14.0000</AppVersion>
    <Self_Registration_Enabled xmlns="662e3587-765d-4918-9d92-5b93275042d2" xsi:nil="true"/>
    <Has_Teacher_Only_SectionGroup xmlns="662e3587-765d-4918-9d92-5b93275042d2" xsi:nil="true"/>
    <Students xmlns="662e3587-765d-4918-9d92-5b93275042d2">
      <UserInfo>
        <DisplayName/>
        <AccountId xsi:nil="true"/>
        <AccountType/>
      </UserInfo>
    </Student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84A4B1-EE8B-43EA-9C40-1C930349ADDB}">
  <ds:schemaRefs>
    <ds:schemaRef ds:uri="e94fbb91-2895-466f-9cdd-164826e0ab54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62f0fa9f-d35e-4a7f-aed7-55df17063d92"/>
    <ds:schemaRef ds:uri="http://purl.org/dc/dcmitype/"/>
    <ds:schemaRef ds:uri="2c031f6a-1ceb-40a9-a6f7-98255c09e471"/>
    <ds:schemaRef ds:uri="c7f19ac9-9829-4b61-9f34-52c1422b3962"/>
  </ds:schemaRefs>
</ds:datastoreItem>
</file>

<file path=customXml/itemProps2.xml><?xml version="1.0" encoding="utf-8"?>
<ds:datastoreItem xmlns:ds="http://schemas.openxmlformats.org/officeDocument/2006/customXml" ds:itemID="{2FDD5055-9CB5-41F3-AF15-84F37E5BB0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3C368-6FB0-421C-8CC6-6402A48B5B1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10102</TotalTime>
  <Words>835</Words>
  <Application>Microsoft Office PowerPoint</Application>
  <PresentationFormat>Plačiaekranė</PresentationFormat>
  <Paragraphs>150</Paragraphs>
  <Slides>30</Slides>
  <Notes>18</Notes>
  <HiddenSlides>0</HiddenSlides>
  <MMClips>0</MMClips>
  <ScaleCrop>false</ScaleCrop>
  <HeadingPairs>
    <vt:vector size="6" baseType="variant">
      <vt:variant>
        <vt:lpstr>Naudojami šriftai</vt:lpstr>
      </vt:variant>
      <vt:variant>
        <vt:i4>6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Arial Unicode MS</vt:lpstr>
      <vt:lpstr>Times New Roman</vt:lpstr>
      <vt:lpstr>Wingdings</vt:lpstr>
      <vt:lpstr>Office Theme</vt:lpstr>
      <vt:lpstr>„PowerPoint“ pateiktis</vt:lpstr>
      <vt:lpstr>„PowerPoint“ pateiktis</vt:lpstr>
      <vt:lpstr>„PowerPoint“ pateiktis</vt:lpstr>
      <vt:lpstr>Indeksai ir simbolių pasiekimas 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Žydrūnė Kelpšaitė</dc:creator>
  <dc:description/>
  <cp:lastModifiedBy>Žydrūnė Kelpšaitė</cp:lastModifiedBy>
  <cp:revision>59</cp:revision>
  <dcterms:modified xsi:type="dcterms:W3CDTF">2026-01-21T13:12:17Z</dcterms:modified>
  <dc:language>lt-LT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32</vt:i4>
  </property>
  <property fmtid="{D5CDD505-2E9C-101B-9397-08002B2CF9AE}" pid="12" name="ContentTypeId">
    <vt:lpwstr>0x010100753C69E30CD2E346B0231A1827D4E953</vt:lpwstr>
  </property>
  <property fmtid="{D5CDD505-2E9C-101B-9397-08002B2CF9AE}" pid="13" name="MediaServiceImageTags">
    <vt:lpwstr/>
  </property>
</Properties>
</file>